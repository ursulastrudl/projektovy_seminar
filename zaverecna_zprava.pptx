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4"/>
    <p:sldMasterId id="2147483676" r:id="rId5"/>
    <p:sldMasterId id="2147483662" r:id="rId6"/>
  </p:sldMasterIdLst>
  <p:sldIdLst>
    <p:sldId id="263" r:id="rId7"/>
    <p:sldId id="284" r:id="rId8"/>
    <p:sldId id="321" r:id="rId9"/>
    <p:sldId id="322" r:id="rId10"/>
    <p:sldId id="323" r:id="rId11"/>
    <p:sldId id="324" r:id="rId12"/>
    <p:sldId id="280" r:id="rId13"/>
    <p:sldId id="325" r:id="rId14"/>
    <p:sldId id="326" r:id="rId15"/>
    <p:sldId id="327" r:id="rId16"/>
    <p:sldId id="281" r:id="rId17"/>
    <p:sldId id="332" r:id="rId18"/>
    <p:sldId id="328" r:id="rId19"/>
    <p:sldId id="286" r:id="rId20"/>
    <p:sldId id="305" r:id="rId21"/>
    <p:sldId id="289" r:id="rId22"/>
    <p:sldId id="290" r:id="rId23"/>
    <p:sldId id="310" r:id="rId24"/>
    <p:sldId id="291" r:id="rId25"/>
    <p:sldId id="330" r:id="rId26"/>
    <p:sldId id="292" r:id="rId27"/>
    <p:sldId id="329" r:id="rId28"/>
    <p:sldId id="331" r:id="rId29"/>
    <p:sldId id="306" r:id="rId30"/>
    <p:sldId id="302" r:id="rId31"/>
    <p:sldId id="304" r:id="rId32"/>
    <p:sldId id="378" r:id="rId33"/>
    <p:sldId id="370" r:id="rId34"/>
    <p:sldId id="373" r:id="rId35"/>
    <p:sldId id="371" r:id="rId36"/>
    <p:sldId id="374" r:id="rId37"/>
    <p:sldId id="372" r:id="rId38"/>
    <p:sldId id="375" r:id="rId39"/>
    <p:sldId id="311" r:id="rId40"/>
    <p:sldId id="334" r:id="rId41"/>
    <p:sldId id="333" r:id="rId42"/>
    <p:sldId id="376" r:id="rId43"/>
    <p:sldId id="335" r:id="rId44"/>
    <p:sldId id="336" r:id="rId45"/>
    <p:sldId id="337" r:id="rId46"/>
    <p:sldId id="338" r:id="rId47"/>
    <p:sldId id="339" r:id="rId48"/>
    <p:sldId id="340" r:id="rId49"/>
    <p:sldId id="341" r:id="rId50"/>
    <p:sldId id="342" r:id="rId51"/>
    <p:sldId id="344" r:id="rId52"/>
    <p:sldId id="345" r:id="rId53"/>
    <p:sldId id="347" r:id="rId54"/>
    <p:sldId id="349" r:id="rId55"/>
    <p:sldId id="350" r:id="rId56"/>
    <p:sldId id="351" r:id="rId57"/>
    <p:sldId id="352" r:id="rId58"/>
    <p:sldId id="353" r:id="rId59"/>
    <p:sldId id="354" r:id="rId60"/>
    <p:sldId id="355" r:id="rId61"/>
    <p:sldId id="356" r:id="rId62"/>
    <p:sldId id="357" r:id="rId63"/>
    <p:sldId id="358" r:id="rId64"/>
    <p:sldId id="359" r:id="rId65"/>
    <p:sldId id="360" r:id="rId66"/>
    <p:sldId id="361" r:id="rId67"/>
    <p:sldId id="362" r:id="rId68"/>
    <p:sldId id="364" r:id="rId69"/>
    <p:sldId id="365" r:id="rId70"/>
    <p:sldId id="366" r:id="rId71"/>
    <p:sldId id="367" r:id="rId72"/>
    <p:sldId id="368" r:id="rId73"/>
    <p:sldId id="369" r:id="rId74"/>
  </p:sldIdLst>
  <p:sldSz cx="9144000" cy="6858000" type="screen4x3"/>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E9F6E1-0CCD-A329-5A98-6923FCA298F6}" name="Josef Gajda" initials="JG" userId="S::gajj02@vse.cz::62354765-72cf-499b-b531-3c23b95cf57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881"/>
    <a:srgbClr val="B5EAE0"/>
    <a:srgbClr val="89F7E2"/>
    <a:srgbClr val="9AE8F4"/>
    <a:srgbClr val="00659B"/>
    <a:srgbClr val="BDE7FF"/>
    <a:srgbClr val="EB6608"/>
    <a:srgbClr val="FDE2CF"/>
    <a:srgbClr val="D6C2D6"/>
    <a:srgbClr val="F0C2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64D1EB-CAE7-E149-8343-F13CE5B7B2EB}" v="1" dt="2026-01-23T16:13:49.098"/>
    <p1510:client id="{F9EF98AD-FB25-AD2C-028F-D74624FAD57C}" v="31" dt="2026-01-23T14:36:51.502"/>
  </p1510:revLst>
</p1510:revInfo>
</file>

<file path=ppt/tableStyles.xml><?xml version="1.0" encoding="utf-8"?>
<a:tblStyleLst xmlns:a="http://schemas.openxmlformats.org/drawingml/2006/main" def="{5C22544A-7EE6-4342-B048-85BDC9FD1C3A}">
  <a:tblStyle styleId="{5C22544A-7EE6-4342-B048-85BDC9FD1C3A}" styleName="Střední styl 2 – zvýraznění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Světlý styl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03447BB-5D67-496B-8E87-E561075AD55C}" styleName="Tmavý styl 1 – zvýraznění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Střední styl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Tmavý styl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Světlý styl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Světlý styl 2 – zvýraznění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Střední styl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58" autoAdjust="0"/>
    <p:restoredTop sz="94660"/>
  </p:normalViewPr>
  <p:slideViewPr>
    <p:cSldViewPr snapToGrid="0">
      <p:cViewPr varScale="1">
        <p:scale>
          <a:sx n="112" d="100"/>
          <a:sy n="112" d="100"/>
        </p:scale>
        <p:origin x="135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microsoft.com/office/2016/11/relationships/changesInfo" Target="changesInfos/changesInfo1.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tableStyles" Target="tableStyles.xml"/><Relationship Id="rId8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viewProps" Target="viewProps.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a Žahourová" userId="S::zahh00@vse.cz::230038c9-a3ca-4475-b002-a1afd1b1f2d3" providerId="AD" clId="Web-{F9EF98AD-FB25-AD2C-028F-D74624FAD57C}"/>
    <pc:docChg chg="modSld">
      <pc:chgData name="Hana Žahourová" userId="S::zahh00@vse.cz::230038c9-a3ca-4475-b002-a1afd1b1f2d3" providerId="AD" clId="Web-{F9EF98AD-FB25-AD2C-028F-D74624FAD57C}" dt="2026-01-23T14:36:51.502" v="25" actId="20577"/>
      <pc:docMkLst>
        <pc:docMk/>
      </pc:docMkLst>
      <pc:sldChg chg="addSp delSp modSp">
        <pc:chgData name="Hana Žahourová" userId="S::zahh00@vse.cz::230038c9-a3ca-4475-b002-a1afd1b1f2d3" providerId="AD" clId="Web-{F9EF98AD-FB25-AD2C-028F-D74624FAD57C}" dt="2026-01-23T14:36:51.502" v="25" actId="20577"/>
        <pc:sldMkLst>
          <pc:docMk/>
          <pc:sldMk cId="4134783077" sldId="378"/>
        </pc:sldMkLst>
        <pc:spChg chg="mod">
          <ac:chgData name="Hana Žahourová" userId="S::zahh00@vse.cz::230038c9-a3ca-4475-b002-a1afd1b1f2d3" providerId="AD" clId="Web-{F9EF98AD-FB25-AD2C-028F-D74624FAD57C}" dt="2026-01-23T14:35:52.095" v="6" actId="1076"/>
          <ac:spMkLst>
            <pc:docMk/>
            <pc:sldMk cId="4134783077" sldId="378"/>
            <ac:spMk id="2" creationId="{315C1A4F-70A6-834F-6D71-EE828B6799A4}"/>
          </ac:spMkLst>
        </pc:spChg>
        <pc:spChg chg="mod">
          <ac:chgData name="Hana Žahourová" userId="S::zahh00@vse.cz::230038c9-a3ca-4475-b002-a1afd1b1f2d3" providerId="AD" clId="Web-{F9EF98AD-FB25-AD2C-028F-D74624FAD57C}" dt="2026-01-23T14:36:51.502" v="25" actId="20577"/>
          <ac:spMkLst>
            <pc:docMk/>
            <pc:sldMk cId="4134783077" sldId="378"/>
            <ac:spMk id="5" creationId="{4215D253-28D8-397B-16EA-990904DC956D}"/>
          </ac:spMkLst>
        </pc:spChg>
        <pc:picChg chg="add del mod">
          <ac:chgData name="Hana Žahourová" userId="S::zahh00@vse.cz::230038c9-a3ca-4475-b002-a1afd1b1f2d3" providerId="AD" clId="Web-{F9EF98AD-FB25-AD2C-028F-D74624FAD57C}" dt="2026-01-23T14:35:37.267" v="1"/>
          <ac:picMkLst>
            <pc:docMk/>
            <pc:sldMk cId="4134783077" sldId="378"/>
            <ac:picMk id="3" creationId="{D7EEC761-18CF-9166-5640-F6A245181751}"/>
          </ac:picMkLst>
        </pc:picChg>
      </pc:sldChg>
    </pc:docChg>
  </pc:docChgLst>
  <pc:docChgLst>
    <pc:chgData name="Hana Žahourová" userId="230038c9-a3ca-4475-b002-a1afd1b1f2d3" providerId="ADAL" clId="{0B286381-0C14-58E2-A012-C306F8E3D3E3}"/>
    <pc:docChg chg="custSel delSld modSld">
      <pc:chgData name="Hana Žahourová" userId="230038c9-a3ca-4475-b002-a1afd1b1f2d3" providerId="ADAL" clId="{0B286381-0C14-58E2-A012-C306F8E3D3E3}" dt="2026-01-23T16:17:34.737" v="42" actId="14100"/>
      <pc:docMkLst>
        <pc:docMk/>
      </pc:docMkLst>
      <pc:sldChg chg="addSp delSp modSp mod">
        <pc:chgData name="Hana Žahourová" userId="230038c9-a3ca-4475-b002-a1afd1b1f2d3" providerId="ADAL" clId="{0B286381-0C14-58E2-A012-C306F8E3D3E3}" dt="2026-01-23T16:14:01.981" v="18" actId="1076"/>
        <pc:sldMkLst>
          <pc:docMk/>
          <pc:sldMk cId="3208512476" sldId="290"/>
        </pc:sldMkLst>
        <pc:picChg chg="add mod">
          <ac:chgData name="Hana Žahourová" userId="230038c9-a3ca-4475-b002-a1afd1b1f2d3" providerId="ADAL" clId="{0B286381-0C14-58E2-A012-C306F8E3D3E3}" dt="2026-01-23T16:14:01.981" v="18" actId="1076"/>
          <ac:picMkLst>
            <pc:docMk/>
            <pc:sldMk cId="3208512476" sldId="290"/>
            <ac:picMk id="3" creationId="{2F82E39F-32B2-C480-FB8A-01DE920FEAB6}"/>
          </ac:picMkLst>
        </pc:picChg>
        <pc:picChg chg="del mod">
          <ac:chgData name="Hana Žahourová" userId="230038c9-a3ca-4475-b002-a1afd1b1f2d3" providerId="ADAL" clId="{0B286381-0C14-58E2-A012-C306F8E3D3E3}" dt="2026-01-23T16:13:51.808" v="16" actId="478"/>
          <ac:picMkLst>
            <pc:docMk/>
            <pc:sldMk cId="3208512476" sldId="290"/>
            <ac:picMk id="4" creationId="{9C696D17-20F0-0754-B521-9E60E89CC5CD}"/>
          </ac:picMkLst>
        </pc:picChg>
      </pc:sldChg>
      <pc:sldChg chg="del">
        <pc:chgData name="Hana Žahourová" userId="230038c9-a3ca-4475-b002-a1afd1b1f2d3" providerId="ADAL" clId="{0B286381-0C14-58E2-A012-C306F8E3D3E3}" dt="2026-01-23T16:15:35.547" v="19" actId="2696"/>
        <pc:sldMkLst>
          <pc:docMk/>
          <pc:sldMk cId="353513182" sldId="307"/>
        </pc:sldMkLst>
      </pc:sldChg>
      <pc:sldChg chg="del">
        <pc:chgData name="Hana Žahourová" userId="230038c9-a3ca-4475-b002-a1afd1b1f2d3" providerId="ADAL" clId="{0B286381-0C14-58E2-A012-C306F8E3D3E3}" dt="2026-01-23T16:15:50.064" v="20" actId="2696"/>
        <pc:sldMkLst>
          <pc:docMk/>
          <pc:sldMk cId="2975686908" sldId="308"/>
        </pc:sldMkLst>
      </pc:sldChg>
      <pc:sldChg chg="del">
        <pc:chgData name="Hana Žahourová" userId="230038c9-a3ca-4475-b002-a1afd1b1f2d3" providerId="ADAL" clId="{0B286381-0C14-58E2-A012-C306F8E3D3E3}" dt="2026-01-23T16:09:10.241" v="0" actId="2696"/>
        <pc:sldMkLst>
          <pc:docMk/>
          <pc:sldMk cId="1483808561" sldId="319"/>
        </pc:sldMkLst>
      </pc:sldChg>
      <pc:sldChg chg="modSp mod">
        <pc:chgData name="Hana Žahourová" userId="230038c9-a3ca-4475-b002-a1afd1b1f2d3" providerId="ADAL" clId="{0B286381-0C14-58E2-A012-C306F8E3D3E3}" dt="2026-01-23T16:09:41.027" v="12" actId="20577"/>
        <pc:sldMkLst>
          <pc:docMk/>
          <pc:sldMk cId="2181782325" sldId="324"/>
        </pc:sldMkLst>
        <pc:spChg chg="mod">
          <ac:chgData name="Hana Žahourová" userId="230038c9-a3ca-4475-b002-a1afd1b1f2d3" providerId="ADAL" clId="{0B286381-0C14-58E2-A012-C306F8E3D3E3}" dt="2026-01-23T16:09:41.027" v="12" actId="20577"/>
          <ac:spMkLst>
            <pc:docMk/>
            <pc:sldMk cId="2181782325" sldId="324"/>
            <ac:spMk id="3" creationId="{21CB2CC3-386F-A283-82BC-619B348FD737}"/>
          </ac:spMkLst>
        </pc:spChg>
      </pc:sldChg>
      <pc:sldChg chg="modSp mod">
        <pc:chgData name="Hana Žahourová" userId="230038c9-a3ca-4475-b002-a1afd1b1f2d3" providerId="ADAL" clId="{0B286381-0C14-58E2-A012-C306F8E3D3E3}" dt="2026-01-23T16:16:52.632" v="41" actId="20577"/>
        <pc:sldMkLst>
          <pc:docMk/>
          <pc:sldMk cId="3269870224" sldId="335"/>
        </pc:sldMkLst>
        <pc:spChg chg="mod">
          <ac:chgData name="Hana Žahourová" userId="230038c9-a3ca-4475-b002-a1afd1b1f2d3" providerId="ADAL" clId="{0B286381-0C14-58E2-A012-C306F8E3D3E3}" dt="2026-01-23T16:16:52.632" v="41" actId="20577"/>
          <ac:spMkLst>
            <pc:docMk/>
            <pc:sldMk cId="3269870224" sldId="335"/>
            <ac:spMk id="2" creationId="{37545FE4-4321-4462-DB54-A3D914D6A2E3}"/>
          </ac:spMkLst>
        </pc:spChg>
      </pc:sldChg>
      <pc:sldChg chg="modSp mod">
        <pc:chgData name="Hana Žahourová" userId="230038c9-a3ca-4475-b002-a1afd1b1f2d3" providerId="ADAL" clId="{0B286381-0C14-58E2-A012-C306F8E3D3E3}" dt="2026-01-23T16:17:34.737" v="42" actId="14100"/>
        <pc:sldMkLst>
          <pc:docMk/>
          <pc:sldMk cId="2518886386" sldId="350"/>
        </pc:sldMkLst>
        <pc:picChg chg="mod">
          <ac:chgData name="Hana Žahourová" userId="230038c9-a3ca-4475-b002-a1afd1b1f2d3" providerId="ADAL" clId="{0B286381-0C14-58E2-A012-C306F8E3D3E3}" dt="2026-01-23T16:17:34.737" v="42" actId="14100"/>
          <ac:picMkLst>
            <pc:docMk/>
            <pc:sldMk cId="2518886386" sldId="350"/>
            <ac:picMk id="4" creationId="{0F29C996-38BF-881F-054F-09B30B691F14}"/>
          </ac:picMkLst>
        </pc:picChg>
      </pc:sldChg>
      <pc:sldChg chg="modSp mod">
        <pc:chgData name="Hana Žahourová" userId="230038c9-a3ca-4475-b002-a1afd1b1f2d3" providerId="ADAL" clId="{0B286381-0C14-58E2-A012-C306F8E3D3E3}" dt="2026-01-23T16:16:21.543" v="25" actId="114"/>
        <pc:sldMkLst>
          <pc:docMk/>
          <pc:sldMk cId="1582384601" sldId="374"/>
        </pc:sldMkLst>
        <pc:spChg chg="mod">
          <ac:chgData name="Hana Žahourová" userId="230038c9-a3ca-4475-b002-a1afd1b1f2d3" providerId="ADAL" clId="{0B286381-0C14-58E2-A012-C306F8E3D3E3}" dt="2026-01-23T16:16:21.543" v="25" actId="114"/>
          <ac:spMkLst>
            <pc:docMk/>
            <pc:sldMk cId="1582384601" sldId="374"/>
            <ac:spMk id="6" creationId="{70E0C344-C585-5D56-660E-23C254A93614}"/>
          </ac:spMkLst>
        </pc:spChg>
      </pc:sldChg>
      <pc:sldChg chg="modSp mod">
        <pc:chgData name="Hana Žahourová" userId="230038c9-a3ca-4475-b002-a1afd1b1f2d3" providerId="ADAL" clId="{0B286381-0C14-58E2-A012-C306F8E3D3E3}" dt="2026-01-23T16:16:08.130" v="24" actId="113"/>
        <pc:sldMkLst>
          <pc:docMk/>
          <pc:sldMk cId="4134783077" sldId="378"/>
        </pc:sldMkLst>
        <pc:spChg chg="mod">
          <ac:chgData name="Hana Žahourová" userId="230038c9-a3ca-4475-b002-a1afd1b1f2d3" providerId="ADAL" clId="{0B286381-0C14-58E2-A012-C306F8E3D3E3}" dt="2026-01-23T16:16:08.130" v="24" actId="113"/>
          <ac:spMkLst>
            <pc:docMk/>
            <pc:sldMk cId="4134783077" sldId="378"/>
            <ac:spMk id="5" creationId="{4215D253-28D8-397B-16EA-990904DC956D}"/>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6.7578487579540367E-2"/>
          <c:y val="3.0657188432465163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cs-CZ"/>
        </a:p>
      </c:txPr>
    </c:title>
    <c:autoTitleDeleted val="0"/>
    <c:plotArea>
      <c:layout/>
      <c:barChart>
        <c:barDir val="col"/>
        <c:grouping val="clustered"/>
        <c:varyColors val="0"/>
        <c:ser>
          <c:idx val="0"/>
          <c:order val="0"/>
          <c:tx>
            <c:strRef>
              <c:f>List1!$B$1</c:f>
              <c:strCache>
                <c:ptCount val="1"/>
                <c:pt idx="0">
                  <c:v>Řada 1</c:v>
                </c:pt>
              </c:strCache>
            </c:strRef>
          </c:tx>
          <c:spPr>
            <a:solidFill>
              <a:srgbClr val="009EE2"/>
            </a:solidFill>
            <a:ln>
              <a:noFill/>
            </a:ln>
            <a:effectLst/>
          </c:spPr>
          <c:invertIfNegative val="0"/>
          <c:cat>
            <c:strRef>
              <c:f>List1!$A$2:$A$5</c:f>
              <c:strCache>
                <c:ptCount val="4"/>
                <c:pt idx="0">
                  <c:v>Kategorie 1</c:v>
                </c:pt>
                <c:pt idx="1">
                  <c:v>Kategorie 2</c:v>
                </c:pt>
                <c:pt idx="2">
                  <c:v>Kategorie 3</c:v>
                </c:pt>
                <c:pt idx="3">
                  <c:v>Kategorie 4</c:v>
                </c:pt>
              </c:strCache>
            </c:strRef>
          </c:cat>
          <c:val>
            <c:numRef>
              <c:f>List1!$B$2:$B$5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F38-46D1-B2F1-B76DBFE9E6A2}"/>
            </c:ext>
          </c:extLst>
        </c:ser>
        <c:ser>
          <c:idx val="1"/>
          <c:order val="1"/>
          <c:tx>
            <c:strRef>
              <c:f>List1!$C$1</c:f>
              <c:strCache>
                <c:ptCount val="1"/>
                <c:pt idx="0">
                  <c:v>Řada 2</c:v>
                </c:pt>
              </c:strCache>
            </c:strRef>
          </c:tx>
          <c:spPr>
            <a:solidFill>
              <a:srgbClr val="B10062"/>
            </a:solidFill>
            <a:ln>
              <a:noFill/>
            </a:ln>
            <a:effectLst/>
          </c:spPr>
          <c:invertIfNegative val="0"/>
          <c:cat>
            <c:strRef>
              <c:f>List1!$A$2:$A$5</c:f>
              <c:strCache>
                <c:ptCount val="4"/>
                <c:pt idx="0">
                  <c:v>Kategorie 1</c:v>
                </c:pt>
                <c:pt idx="1">
                  <c:v>Kategorie 2</c:v>
                </c:pt>
                <c:pt idx="2">
                  <c:v>Kategorie 3</c:v>
                </c:pt>
                <c:pt idx="3">
                  <c:v>Kategorie 4</c:v>
                </c:pt>
              </c:strCache>
            </c:strRef>
          </c:cat>
          <c:val>
            <c:numRef>
              <c:f>List1!$C$2:$C$5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5F38-46D1-B2F1-B76DBFE9E6A2}"/>
            </c:ext>
          </c:extLst>
        </c:ser>
        <c:ser>
          <c:idx val="2"/>
          <c:order val="2"/>
          <c:tx>
            <c:strRef>
              <c:f>List1!$D$1</c:f>
              <c:strCache>
                <c:ptCount val="1"/>
                <c:pt idx="0">
                  <c:v>Řada 3</c:v>
                </c:pt>
              </c:strCache>
            </c:strRef>
          </c:tx>
          <c:spPr>
            <a:solidFill>
              <a:srgbClr val="EB6608"/>
            </a:solidFill>
            <a:ln>
              <a:noFill/>
            </a:ln>
            <a:effectLst/>
          </c:spPr>
          <c:invertIfNegative val="0"/>
          <c:cat>
            <c:strRef>
              <c:f>List1!$A$2:$A$5</c:f>
              <c:strCache>
                <c:ptCount val="4"/>
                <c:pt idx="0">
                  <c:v>Kategorie 1</c:v>
                </c:pt>
                <c:pt idx="1">
                  <c:v>Kategorie 2</c:v>
                </c:pt>
                <c:pt idx="2">
                  <c:v>Kategorie 3</c:v>
                </c:pt>
                <c:pt idx="3">
                  <c:v>Kategorie 4</c:v>
                </c:pt>
              </c:strCache>
            </c:strRef>
          </c:cat>
          <c:val>
            <c:numRef>
              <c:f>List1!$D$2:$D$5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5F38-46D1-B2F1-B76DBFE9E6A2}"/>
            </c:ext>
          </c:extLst>
        </c:ser>
        <c:ser>
          <c:idx val="3"/>
          <c:order val="3"/>
          <c:tx>
            <c:strRef>
              <c:f>List1!$E$1</c:f>
              <c:strCache>
                <c:ptCount val="1"/>
                <c:pt idx="0">
                  <c:v>Řada 4</c:v>
                </c:pt>
              </c:strCache>
            </c:strRef>
          </c:tx>
          <c:spPr>
            <a:solidFill>
              <a:srgbClr val="00659B"/>
            </a:solidFill>
            <a:ln>
              <a:noFill/>
            </a:ln>
            <a:effectLst/>
          </c:spPr>
          <c:invertIfNegative val="0"/>
          <c:cat>
            <c:strRef>
              <c:f>List1!$A$2:$A$5</c:f>
              <c:strCache>
                <c:ptCount val="4"/>
                <c:pt idx="0">
                  <c:v>Kategorie 1</c:v>
                </c:pt>
                <c:pt idx="1">
                  <c:v>Kategorie 2</c:v>
                </c:pt>
                <c:pt idx="2">
                  <c:v>Kategorie 3</c:v>
                </c:pt>
                <c:pt idx="3">
                  <c:v>Kategorie 4</c:v>
                </c:pt>
              </c:strCache>
            </c:strRef>
          </c:cat>
          <c:val>
            <c:numRef>
              <c:f>List1!$E$2:$E$5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1-AA67-4343-BFC8-39C31FD3D7F6}"/>
            </c:ext>
          </c:extLst>
        </c:ser>
        <c:ser>
          <c:idx val="4"/>
          <c:order val="4"/>
          <c:tx>
            <c:strRef>
              <c:f>List1!$F$1</c:f>
              <c:strCache>
                <c:ptCount val="1"/>
                <c:pt idx="0">
                  <c:v>Řada 5</c:v>
                </c:pt>
              </c:strCache>
            </c:strRef>
          </c:tx>
          <c:spPr>
            <a:solidFill>
              <a:srgbClr val="009881"/>
            </a:solidFill>
            <a:ln>
              <a:noFill/>
            </a:ln>
            <a:effectLst/>
          </c:spPr>
          <c:invertIfNegative val="0"/>
          <c:cat>
            <c:strRef>
              <c:f>List1!$A$2:$A$5</c:f>
              <c:strCache>
                <c:ptCount val="4"/>
                <c:pt idx="0">
                  <c:v>Kategorie 1</c:v>
                </c:pt>
                <c:pt idx="1">
                  <c:v>Kategorie 2</c:v>
                </c:pt>
                <c:pt idx="2">
                  <c:v>Kategorie 3</c:v>
                </c:pt>
                <c:pt idx="3">
                  <c:v>Kategorie 4</c:v>
                </c:pt>
              </c:strCache>
            </c:strRef>
          </c:cat>
          <c:val>
            <c:numRef>
              <c:f>List1!$F$2:$F$5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2-AA67-4343-BFC8-39C31FD3D7F6}"/>
            </c:ext>
          </c:extLst>
        </c:ser>
        <c:ser>
          <c:idx val="5"/>
          <c:order val="5"/>
          <c:tx>
            <c:strRef>
              <c:f>List1!$G$1</c:f>
              <c:strCache>
                <c:ptCount val="1"/>
                <c:pt idx="0">
                  <c:v>Řada 6</c:v>
                </c:pt>
              </c:strCache>
            </c:strRef>
          </c:tx>
          <c:spPr>
            <a:solidFill>
              <a:srgbClr val="5BC4F1"/>
            </a:solidFill>
            <a:ln>
              <a:noFill/>
            </a:ln>
            <a:effectLst/>
          </c:spPr>
          <c:invertIfNegative val="0"/>
          <c:cat>
            <c:strRef>
              <c:f>List1!$A$2:$A$5</c:f>
              <c:strCache>
                <c:ptCount val="4"/>
                <c:pt idx="0">
                  <c:v>Kategorie 1</c:v>
                </c:pt>
                <c:pt idx="1">
                  <c:v>Kategorie 2</c:v>
                </c:pt>
                <c:pt idx="2">
                  <c:v>Kategorie 3</c:v>
                </c:pt>
                <c:pt idx="3">
                  <c:v>Kategorie 4</c:v>
                </c:pt>
              </c:strCache>
            </c:strRef>
          </c:cat>
          <c:val>
            <c:numRef>
              <c:f>List1!$G$2:$G$5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3-AA67-4343-BFC8-39C31FD3D7F6}"/>
            </c:ext>
          </c:extLst>
        </c:ser>
        <c:ser>
          <c:idx val="6"/>
          <c:order val="6"/>
          <c:tx>
            <c:strRef>
              <c:f>List1!$H$1</c:f>
              <c:strCache>
                <c:ptCount val="1"/>
                <c:pt idx="0">
                  <c:v>Řada 13</c:v>
                </c:pt>
              </c:strCache>
            </c:strRef>
          </c:tx>
          <c:spPr>
            <a:solidFill>
              <a:srgbClr val="E73088"/>
            </a:solidFill>
            <a:ln>
              <a:noFill/>
            </a:ln>
            <a:effectLst/>
          </c:spPr>
          <c:invertIfNegative val="0"/>
          <c:cat>
            <c:strRef>
              <c:f>List1!$A$2:$A$5</c:f>
              <c:strCache>
                <c:ptCount val="4"/>
                <c:pt idx="0">
                  <c:v>Kategorie 1</c:v>
                </c:pt>
                <c:pt idx="1">
                  <c:v>Kategorie 2</c:v>
                </c:pt>
                <c:pt idx="2">
                  <c:v>Kategorie 3</c:v>
                </c:pt>
                <c:pt idx="3">
                  <c:v>Kategorie 4</c:v>
                </c:pt>
              </c:strCache>
            </c:strRef>
          </c:cat>
          <c:val>
            <c:numRef>
              <c:f>List1!$H$2:$H$5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4-AA67-4343-BFC8-39C31FD3D7F6}"/>
            </c:ext>
          </c:extLst>
        </c:ser>
        <c:dLbls>
          <c:showLegendKey val="0"/>
          <c:showVal val="0"/>
          <c:showCatName val="0"/>
          <c:showSerName val="0"/>
          <c:showPercent val="0"/>
          <c:showBubbleSize val="0"/>
        </c:dLbls>
        <c:gapWidth val="219"/>
        <c:overlap val="-27"/>
        <c:axId val="336283247"/>
        <c:axId val="336943279"/>
      </c:barChart>
      <c:catAx>
        <c:axId val="3362832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cs-CZ"/>
          </a:p>
        </c:txPr>
        <c:crossAx val="336943279"/>
        <c:crosses val="autoZero"/>
        <c:auto val="1"/>
        <c:lblAlgn val="ctr"/>
        <c:lblOffset val="100"/>
        <c:noMultiLvlLbl val="0"/>
      </c:catAx>
      <c:valAx>
        <c:axId val="3369432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cs-CZ"/>
          </a:p>
        </c:txPr>
        <c:crossAx val="3362832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cs-CZ"/>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cs-CZ"/>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Úvodní snímek">
    <p:spTree>
      <p:nvGrpSpPr>
        <p:cNvPr id="1" name=""/>
        <p:cNvGrpSpPr/>
        <p:nvPr/>
      </p:nvGrpSpPr>
      <p:grpSpPr>
        <a:xfrm>
          <a:off x="0" y="0"/>
          <a:ext cx="0" cy="0"/>
          <a:chOff x="0" y="0"/>
          <a:chExt cx="0" cy="0"/>
        </a:xfrm>
      </p:grpSpPr>
      <p:sp>
        <p:nvSpPr>
          <p:cNvPr id="6" name="Zástupný text 2">
            <a:extLst>
              <a:ext uri="{FF2B5EF4-FFF2-40B4-BE49-F238E27FC236}">
                <a16:creationId xmlns:a16="http://schemas.microsoft.com/office/drawing/2014/main" id="{2389DD16-FB00-4D9A-B48C-50050FDDC1F2}"/>
              </a:ext>
            </a:extLst>
          </p:cNvPr>
          <p:cNvSpPr>
            <a:spLocks noGrp="1"/>
          </p:cNvSpPr>
          <p:nvPr>
            <p:ph type="body" idx="13" hasCustomPrompt="1"/>
          </p:nvPr>
        </p:nvSpPr>
        <p:spPr>
          <a:xfrm>
            <a:off x="4838009" y="933549"/>
            <a:ext cx="3718906" cy="311628"/>
          </a:xfrm>
          <a:prstGeom prst="rect">
            <a:avLst/>
          </a:prstGeom>
        </p:spPr>
        <p:txBody>
          <a:bodyPr>
            <a:normAutofit/>
          </a:bodyPr>
          <a:lstStyle>
            <a:lvl1pPr marL="0" indent="0" algn="r">
              <a:buNone/>
              <a:defRPr sz="1500" b="1">
                <a:solidFill>
                  <a:srgbClr val="009881"/>
                </a:solidFill>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cs-CZ" dirty="0"/>
              <a:t>Jméno a příjmení autora</a:t>
            </a:r>
          </a:p>
        </p:txBody>
      </p:sp>
      <p:sp>
        <p:nvSpPr>
          <p:cNvPr id="11" name="Zástupný text 2">
            <a:extLst>
              <a:ext uri="{FF2B5EF4-FFF2-40B4-BE49-F238E27FC236}">
                <a16:creationId xmlns:a16="http://schemas.microsoft.com/office/drawing/2014/main" id="{6BBD7AF0-0104-49C6-B49F-55B685879E06}"/>
              </a:ext>
            </a:extLst>
          </p:cNvPr>
          <p:cNvSpPr>
            <a:spLocks noGrp="1"/>
          </p:cNvSpPr>
          <p:nvPr>
            <p:ph type="body" idx="14" hasCustomPrompt="1"/>
          </p:nvPr>
        </p:nvSpPr>
        <p:spPr>
          <a:xfrm>
            <a:off x="4838009" y="1245177"/>
            <a:ext cx="3718906" cy="311628"/>
          </a:xfrm>
          <a:prstGeom prst="rect">
            <a:avLst/>
          </a:prstGeom>
        </p:spPr>
        <p:txBody>
          <a:bodyPr>
            <a:normAutofit/>
          </a:bodyPr>
          <a:lstStyle>
            <a:lvl1pPr marL="0" indent="0" algn="r">
              <a:buNone/>
              <a:defRPr sz="1400">
                <a:solidFill>
                  <a:srgbClr val="4A4A49"/>
                </a:solidFill>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cs-CZ" dirty="0"/>
              <a:t>Název katedry / oddělení</a:t>
            </a:r>
          </a:p>
        </p:txBody>
      </p:sp>
      <p:sp>
        <p:nvSpPr>
          <p:cNvPr id="12" name="Nadpis 1">
            <a:extLst>
              <a:ext uri="{FF2B5EF4-FFF2-40B4-BE49-F238E27FC236}">
                <a16:creationId xmlns:a16="http://schemas.microsoft.com/office/drawing/2014/main" id="{6609EC98-6EA4-4C3E-A04D-5D810F2A423B}"/>
              </a:ext>
            </a:extLst>
          </p:cNvPr>
          <p:cNvSpPr>
            <a:spLocks noGrp="1"/>
          </p:cNvSpPr>
          <p:nvPr>
            <p:ph type="ctrTitle" hasCustomPrompt="1"/>
          </p:nvPr>
        </p:nvSpPr>
        <p:spPr>
          <a:xfrm>
            <a:off x="653591" y="2591091"/>
            <a:ext cx="7886701" cy="1782150"/>
          </a:xfrm>
          <a:prstGeom prst="rect">
            <a:avLst/>
          </a:prstGeom>
        </p:spPr>
        <p:txBody>
          <a:bodyPr anchor="t"/>
          <a:lstStyle>
            <a:lvl1pPr algn="l">
              <a:defRPr sz="4500">
                <a:solidFill>
                  <a:srgbClr val="4A4A49"/>
                </a:solidFill>
                <a:latin typeface="Arial" panose="020B0604020202020204" pitchFamily="34" charset="0"/>
                <a:cs typeface="Arial" panose="020B0604020202020204" pitchFamily="34" charset="0"/>
              </a:defRPr>
            </a:lvl1pPr>
          </a:lstStyle>
          <a:p>
            <a:r>
              <a:rPr lang="cs-CZ" dirty="0"/>
              <a:t>Název prezentace</a:t>
            </a:r>
          </a:p>
        </p:txBody>
      </p:sp>
      <p:sp>
        <p:nvSpPr>
          <p:cNvPr id="13" name="Podnadpis 2">
            <a:extLst>
              <a:ext uri="{FF2B5EF4-FFF2-40B4-BE49-F238E27FC236}">
                <a16:creationId xmlns:a16="http://schemas.microsoft.com/office/drawing/2014/main" id="{8DECF7AF-89F1-4012-9B20-327F67C10BB0}"/>
              </a:ext>
            </a:extLst>
          </p:cNvPr>
          <p:cNvSpPr>
            <a:spLocks noGrp="1"/>
          </p:cNvSpPr>
          <p:nvPr>
            <p:ph type="subTitle" idx="1"/>
          </p:nvPr>
        </p:nvSpPr>
        <p:spPr>
          <a:xfrm>
            <a:off x="668831" y="4487541"/>
            <a:ext cx="7871461" cy="813654"/>
          </a:xfrm>
          <a:prstGeom prst="rect">
            <a:avLst/>
          </a:prstGeom>
        </p:spPr>
        <p:txBody>
          <a:bodyPr/>
          <a:lstStyle>
            <a:lvl1pPr marL="0" indent="0" algn="l">
              <a:buNone/>
              <a:defRPr sz="1800" b="0">
                <a:solidFill>
                  <a:srgbClr val="4A4A49"/>
                </a:solidFill>
                <a:latin typeface="Arial" panose="020B0604020202020204" pitchFamily="34" charset="0"/>
                <a:cs typeface="Arial" panose="020B0604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cs-CZ"/>
              <a:t>Kliknutím můžete upravit styl předlohy.</a:t>
            </a:r>
            <a:endParaRPr lang="cs-CZ" dirty="0"/>
          </a:p>
        </p:txBody>
      </p:sp>
    </p:spTree>
    <p:extLst>
      <p:ext uri="{BB962C8B-B14F-4D97-AF65-F5344CB8AC3E}">
        <p14:creationId xmlns:p14="http://schemas.microsoft.com/office/powerpoint/2010/main" val="1054176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Úvodní snímek">
    <p:spTree>
      <p:nvGrpSpPr>
        <p:cNvPr id="1" name=""/>
        <p:cNvGrpSpPr/>
        <p:nvPr/>
      </p:nvGrpSpPr>
      <p:grpSpPr>
        <a:xfrm>
          <a:off x="0" y="0"/>
          <a:ext cx="0" cy="0"/>
          <a:chOff x="0" y="0"/>
          <a:chExt cx="0" cy="0"/>
        </a:xfrm>
      </p:grpSpPr>
      <p:sp>
        <p:nvSpPr>
          <p:cNvPr id="6" name="Zástupný text 2">
            <a:extLst>
              <a:ext uri="{FF2B5EF4-FFF2-40B4-BE49-F238E27FC236}">
                <a16:creationId xmlns:a16="http://schemas.microsoft.com/office/drawing/2014/main" id="{9235DDD2-26F3-4A0D-93F4-FB32B5B241DA}"/>
              </a:ext>
            </a:extLst>
          </p:cNvPr>
          <p:cNvSpPr>
            <a:spLocks noGrp="1"/>
          </p:cNvSpPr>
          <p:nvPr>
            <p:ph type="body" idx="15" hasCustomPrompt="1"/>
          </p:nvPr>
        </p:nvSpPr>
        <p:spPr>
          <a:xfrm>
            <a:off x="4838009" y="870423"/>
            <a:ext cx="3718906" cy="311628"/>
          </a:xfrm>
          <a:prstGeom prst="rect">
            <a:avLst/>
          </a:prstGeom>
        </p:spPr>
        <p:txBody>
          <a:bodyPr>
            <a:normAutofit/>
          </a:bodyPr>
          <a:lstStyle>
            <a:lvl1pPr marL="0" indent="0" algn="r">
              <a:buNone/>
              <a:defRPr sz="1500" b="1">
                <a:solidFill>
                  <a:srgbClr val="89F7E2"/>
                </a:solidFill>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cs-CZ" dirty="0"/>
              <a:t>Jméno a příjmení autora</a:t>
            </a:r>
          </a:p>
        </p:txBody>
      </p:sp>
      <p:sp>
        <p:nvSpPr>
          <p:cNvPr id="11" name="Zástupný text 2">
            <a:extLst>
              <a:ext uri="{FF2B5EF4-FFF2-40B4-BE49-F238E27FC236}">
                <a16:creationId xmlns:a16="http://schemas.microsoft.com/office/drawing/2014/main" id="{D7300AA5-064D-49EA-BBBE-873363EE3286}"/>
              </a:ext>
            </a:extLst>
          </p:cNvPr>
          <p:cNvSpPr>
            <a:spLocks noGrp="1"/>
          </p:cNvSpPr>
          <p:nvPr>
            <p:ph type="body" idx="16" hasCustomPrompt="1"/>
          </p:nvPr>
        </p:nvSpPr>
        <p:spPr>
          <a:xfrm>
            <a:off x="4838009" y="1182051"/>
            <a:ext cx="3718906" cy="311628"/>
          </a:xfrm>
          <a:prstGeom prst="rect">
            <a:avLst/>
          </a:prstGeom>
        </p:spPr>
        <p:txBody>
          <a:bodyPr>
            <a:normAutofit/>
          </a:bodyPr>
          <a:lstStyle>
            <a:lvl1pPr marL="0" indent="0" algn="r">
              <a:buNone/>
              <a:defRPr sz="1400">
                <a:solidFill>
                  <a:schemeClr val="bg1"/>
                </a:solidFill>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cs-CZ" dirty="0"/>
              <a:t>Jmeno.prijmeni@vse.cz</a:t>
            </a:r>
          </a:p>
        </p:txBody>
      </p:sp>
      <p:sp>
        <p:nvSpPr>
          <p:cNvPr id="12" name="Nadpis 1">
            <a:extLst>
              <a:ext uri="{FF2B5EF4-FFF2-40B4-BE49-F238E27FC236}">
                <a16:creationId xmlns:a16="http://schemas.microsoft.com/office/drawing/2014/main" id="{2206462F-D376-411D-9D76-52EE5EED75D7}"/>
              </a:ext>
            </a:extLst>
          </p:cNvPr>
          <p:cNvSpPr>
            <a:spLocks noGrp="1"/>
          </p:cNvSpPr>
          <p:nvPr>
            <p:ph type="ctrTitle" hasCustomPrompt="1"/>
          </p:nvPr>
        </p:nvSpPr>
        <p:spPr>
          <a:xfrm>
            <a:off x="653591" y="2591091"/>
            <a:ext cx="7886701" cy="1782150"/>
          </a:xfrm>
          <a:prstGeom prst="rect">
            <a:avLst/>
          </a:prstGeom>
        </p:spPr>
        <p:txBody>
          <a:bodyPr anchor="t"/>
          <a:lstStyle>
            <a:lvl1pPr algn="l">
              <a:defRPr sz="4500">
                <a:solidFill>
                  <a:schemeClr val="bg1"/>
                </a:solidFill>
                <a:latin typeface="Arial" panose="020B0604020202020204" pitchFamily="34" charset="0"/>
                <a:cs typeface="Arial" panose="020B0604020202020204" pitchFamily="34" charset="0"/>
              </a:defRPr>
            </a:lvl1pPr>
          </a:lstStyle>
          <a:p>
            <a:r>
              <a:rPr lang="cs-CZ" dirty="0"/>
              <a:t>Název prezentace</a:t>
            </a:r>
          </a:p>
        </p:txBody>
      </p:sp>
      <p:sp>
        <p:nvSpPr>
          <p:cNvPr id="13" name="Podnadpis 2">
            <a:extLst>
              <a:ext uri="{FF2B5EF4-FFF2-40B4-BE49-F238E27FC236}">
                <a16:creationId xmlns:a16="http://schemas.microsoft.com/office/drawing/2014/main" id="{A3092441-B532-4881-997F-6A08EF5187C6}"/>
              </a:ext>
            </a:extLst>
          </p:cNvPr>
          <p:cNvSpPr>
            <a:spLocks noGrp="1"/>
          </p:cNvSpPr>
          <p:nvPr>
            <p:ph type="subTitle" idx="1"/>
          </p:nvPr>
        </p:nvSpPr>
        <p:spPr>
          <a:xfrm>
            <a:off x="668831" y="4487541"/>
            <a:ext cx="7871461" cy="813654"/>
          </a:xfrm>
          <a:prstGeom prst="rect">
            <a:avLst/>
          </a:prstGeom>
        </p:spPr>
        <p:txBody>
          <a:bodyPr/>
          <a:lstStyle>
            <a:lvl1pPr marL="0" indent="0" algn="l">
              <a:buNone/>
              <a:defRPr sz="1800" b="0">
                <a:solidFill>
                  <a:schemeClr val="bg1"/>
                </a:solidFill>
                <a:latin typeface="Arial" panose="020B0604020202020204" pitchFamily="34" charset="0"/>
                <a:cs typeface="Arial" panose="020B0604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cs-CZ" dirty="0"/>
              <a:t>Kliknutím můžete upravit styl předlohy.</a:t>
            </a:r>
          </a:p>
        </p:txBody>
      </p:sp>
    </p:spTree>
    <p:extLst>
      <p:ext uri="{BB962C8B-B14F-4D97-AF65-F5344CB8AC3E}">
        <p14:creationId xmlns:p14="http://schemas.microsoft.com/office/powerpoint/2010/main" val="3727089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1FEBE9D-4844-416F-A47B-E71F5CB39341}"/>
              </a:ext>
            </a:extLst>
          </p:cNvPr>
          <p:cNvSpPr>
            <a:spLocks noGrp="1"/>
          </p:cNvSpPr>
          <p:nvPr>
            <p:ph type="title"/>
          </p:nvPr>
        </p:nvSpPr>
        <p:spPr/>
        <p:txBody>
          <a:bodyPr/>
          <a:lstStyle/>
          <a:p>
            <a:r>
              <a:rPr lang="cs-CZ"/>
              <a:t>Kliknutím lze upravit styl.</a:t>
            </a:r>
          </a:p>
        </p:txBody>
      </p:sp>
      <p:sp>
        <p:nvSpPr>
          <p:cNvPr id="3" name="Zástupný obsah 2">
            <a:extLst>
              <a:ext uri="{FF2B5EF4-FFF2-40B4-BE49-F238E27FC236}">
                <a16:creationId xmlns:a16="http://schemas.microsoft.com/office/drawing/2014/main" id="{3D6471AA-641D-48E4-895F-2C70DDA447D1}"/>
              </a:ext>
            </a:extLst>
          </p:cNvPr>
          <p:cNvSpPr>
            <a:spLocks noGrp="1"/>
          </p:cNvSpPr>
          <p:nvPr>
            <p:ph idx="1"/>
          </p:nvPr>
        </p:nvSpPr>
        <p:spPr>
          <a:xfrm>
            <a:off x="628650" y="1924055"/>
            <a:ext cx="7779544" cy="449337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5D51239B-9FE1-4DB1-BD79-B7D38D332703}"/>
              </a:ext>
            </a:extLst>
          </p:cNvPr>
          <p:cNvSpPr>
            <a:spLocks noGrp="1"/>
          </p:cNvSpPr>
          <p:nvPr>
            <p:ph type="dt" sz="half" idx="10"/>
          </p:nvPr>
        </p:nvSpPr>
        <p:spPr/>
        <p:txBody>
          <a:bodyPr/>
          <a:lstStyle/>
          <a:p>
            <a:fld id="{8B329ADC-2255-4EF3-B5C0-B90829E78CD9}" type="datetimeFigureOut">
              <a:rPr lang="cs-CZ" smtClean="0"/>
              <a:t>23.01.2026</a:t>
            </a:fld>
            <a:endParaRPr lang="cs-CZ"/>
          </a:p>
        </p:txBody>
      </p:sp>
      <p:sp>
        <p:nvSpPr>
          <p:cNvPr id="5" name="Zástupný symbol pro zápatí 4">
            <a:extLst>
              <a:ext uri="{FF2B5EF4-FFF2-40B4-BE49-F238E27FC236}">
                <a16:creationId xmlns:a16="http://schemas.microsoft.com/office/drawing/2014/main" id="{1E3E641A-DC32-4DD9-8307-46D9DFF58602}"/>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E92F49C3-090D-4190-9CE2-36066030CB2B}"/>
              </a:ext>
            </a:extLst>
          </p:cNvPr>
          <p:cNvSpPr>
            <a:spLocks noGrp="1"/>
          </p:cNvSpPr>
          <p:nvPr>
            <p:ph type="sldNum" sz="quarter" idx="12"/>
          </p:nvPr>
        </p:nvSpPr>
        <p:spPr/>
        <p:txBody>
          <a:bodyPr/>
          <a:lstStyle/>
          <a:p>
            <a:fld id="{195CA258-668E-4A85-A197-2757C3BEE154}" type="slidenum">
              <a:rPr lang="cs-CZ" smtClean="0"/>
              <a:t>‹#›</a:t>
            </a:fld>
            <a:endParaRPr lang="cs-CZ"/>
          </a:p>
        </p:txBody>
      </p:sp>
    </p:spTree>
    <p:extLst>
      <p:ext uri="{BB962C8B-B14F-4D97-AF65-F5344CB8AC3E}">
        <p14:creationId xmlns:p14="http://schemas.microsoft.com/office/powerpoint/2010/main" val="2537968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2EAB441-3D76-4218-81BE-D7E4F3F92A2E}"/>
              </a:ext>
            </a:extLst>
          </p:cNvPr>
          <p:cNvSpPr>
            <a:spLocks noGrp="1"/>
          </p:cNvSpPr>
          <p:nvPr>
            <p:ph type="ctrTitle"/>
          </p:nvPr>
        </p:nvSpPr>
        <p:spPr>
          <a:xfrm>
            <a:off x="1143000" y="1122363"/>
            <a:ext cx="6858000" cy="2387600"/>
          </a:xfrm>
        </p:spPr>
        <p:txBody>
          <a:bodyPr anchor="b"/>
          <a:lstStyle>
            <a:lvl1pPr algn="ctr">
              <a:defRPr sz="4500"/>
            </a:lvl1pPr>
          </a:lstStyle>
          <a:p>
            <a:r>
              <a:rPr lang="cs-CZ" dirty="0"/>
              <a:t>Kliknutím lze upravit styl.</a:t>
            </a:r>
          </a:p>
        </p:txBody>
      </p:sp>
      <p:sp>
        <p:nvSpPr>
          <p:cNvPr id="3" name="Podnadpis 2">
            <a:extLst>
              <a:ext uri="{FF2B5EF4-FFF2-40B4-BE49-F238E27FC236}">
                <a16:creationId xmlns:a16="http://schemas.microsoft.com/office/drawing/2014/main" id="{BA84F63F-E322-46AC-A5C6-E1540E1BD2F1}"/>
              </a:ext>
            </a:extLst>
          </p:cNvPr>
          <p:cNvSpPr>
            <a:spLocks noGrp="1"/>
          </p:cNvSpPr>
          <p:nvPr>
            <p:ph type="subTitle" idx="1"/>
          </p:nvPr>
        </p:nvSpPr>
        <p:spPr>
          <a:xfrm>
            <a:off x="1143000" y="3602038"/>
            <a:ext cx="6858000" cy="1655762"/>
          </a:xfrm>
        </p:spPr>
        <p:txBody>
          <a:bodyPr/>
          <a:lstStyle>
            <a:lvl1pPr marL="0" indent="0" algn="ctr">
              <a:buNone/>
              <a:defRPr sz="1800"/>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cs-CZ"/>
              <a:t>Kliknutím můžete upravit styl předlohy.</a:t>
            </a:r>
          </a:p>
        </p:txBody>
      </p:sp>
      <p:sp>
        <p:nvSpPr>
          <p:cNvPr id="4" name="Zástupný symbol pro datum 3">
            <a:extLst>
              <a:ext uri="{FF2B5EF4-FFF2-40B4-BE49-F238E27FC236}">
                <a16:creationId xmlns:a16="http://schemas.microsoft.com/office/drawing/2014/main" id="{1939DC5B-E1B0-4FCB-9D9A-C6471A28B39B}"/>
              </a:ext>
            </a:extLst>
          </p:cNvPr>
          <p:cNvSpPr>
            <a:spLocks noGrp="1"/>
          </p:cNvSpPr>
          <p:nvPr>
            <p:ph type="dt" sz="half" idx="10"/>
          </p:nvPr>
        </p:nvSpPr>
        <p:spPr/>
        <p:txBody>
          <a:bodyPr/>
          <a:lstStyle/>
          <a:p>
            <a:fld id="{8B329ADC-2255-4EF3-B5C0-B90829E78CD9}" type="datetimeFigureOut">
              <a:rPr lang="cs-CZ" smtClean="0"/>
              <a:t>23.01.2026</a:t>
            </a:fld>
            <a:endParaRPr lang="cs-CZ"/>
          </a:p>
        </p:txBody>
      </p:sp>
      <p:sp>
        <p:nvSpPr>
          <p:cNvPr id="5" name="Zástupný symbol pro zápatí 4">
            <a:extLst>
              <a:ext uri="{FF2B5EF4-FFF2-40B4-BE49-F238E27FC236}">
                <a16:creationId xmlns:a16="http://schemas.microsoft.com/office/drawing/2014/main" id="{4A462326-6725-45D6-8FAC-124BEDCD3CF7}"/>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3B92F161-156E-4802-8F1B-078DF89F79AC}"/>
              </a:ext>
            </a:extLst>
          </p:cNvPr>
          <p:cNvSpPr>
            <a:spLocks noGrp="1"/>
          </p:cNvSpPr>
          <p:nvPr>
            <p:ph type="sldNum" sz="quarter" idx="12"/>
          </p:nvPr>
        </p:nvSpPr>
        <p:spPr/>
        <p:txBody>
          <a:bodyPr/>
          <a:lstStyle/>
          <a:p>
            <a:fld id="{195CA258-668E-4A85-A197-2757C3BEE154}" type="slidenum">
              <a:rPr lang="cs-CZ" smtClean="0"/>
              <a:t>‹#›</a:t>
            </a:fld>
            <a:endParaRPr lang="cs-CZ"/>
          </a:p>
        </p:txBody>
      </p:sp>
    </p:spTree>
    <p:extLst>
      <p:ext uri="{BB962C8B-B14F-4D97-AF65-F5344CB8AC3E}">
        <p14:creationId xmlns:p14="http://schemas.microsoft.com/office/powerpoint/2010/main" val="2754167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Záhlaví oddílu">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7FA8AAD-C4A1-48ED-8D79-3AB4069FE758}"/>
              </a:ext>
            </a:extLst>
          </p:cNvPr>
          <p:cNvSpPr>
            <a:spLocks noGrp="1"/>
          </p:cNvSpPr>
          <p:nvPr>
            <p:ph type="title"/>
          </p:nvPr>
        </p:nvSpPr>
        <p:spPr>
          <a:xfrm>
            <a:off x="623888" y="1709743"/>
            <a:ext cx="7886700" cy="2852737"/>
          </a:xfrm>
        </p:spPr>
        <p:txBody>
          <a:bodyPr anchor="b"/>
          <a:lstStyle>
            <a:lvl1pPr>
              <a:defRPr sz="4500"/>
            </a:lvl1pPr>
          </a:lstStyle>
          <a:p>
            <a:r>
              <a:rPr lang="cs-CZ"/>
              <a:t>Kliknutím lze upravit styl.</a:t>
            </a:r>
          </a:p>
        </p:txBody>
      </p:sp>
      <p:sp>
        <p:nvSpPr>
          <p:cNvPr id="3" name="Zástupný text 2">
            <a:extLst>
              <a:ext uri="{FF2B5EF4-FFF2-40B4-BE49-F238E27FC236}">
                <a16:creationId xmlns:a16="http://schemas.microsoft.com/office/drawing/2014/main" id="{89D2D865-A902-4D7C-A0B5-B2C4BB19534D}"/>
              </a:ext>
            </a:extLst>
          </p:cNvPr>
          <p:cNvSpPr>
            <a:spLocks noGrp="1"/>
          </p:cNvSpPr>
          <p:nvPr>
            <p:ph type="body" idx="1"/>
          </p:nvPr>
        </p:nvSpPr>
        <p:spPr>
          <a:xfrm>
            <a:off x="623888" y="4589468"/>
            <a:ext cx="7886700" cy="1500187"/>
          </a:xfrm>
        </p:spPr>
        <p:txBody>
          <a:bodyPr/>
          <a:lstStyle>
            <a:lvl1pPr marL="0" indent="0">
              <a:buNone/>
              <a:defRPr sz="1800">
                <a:solidFill>
                  <a:schemeClr val="tx1">
                    <a:tint val="75000"/>
                  </a:schemeClr>
                </a:solidFill>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cs-CZ"/>
              <a:t>Po kliknutí můžete upravovat styly textu v předloze.</a:t>
            </a:r>
          </a:p>
        </p:txBody>
      </p:sp>
      <p:sp>
        <p:nvSpPr>
          <p:cNvPr id="4" name="Zástupný symbol pro datum 3">
            <a:extLst>
              <a:ext uri="{FF2B5EF4-FFF2-40B4-BE49-F238E27FC236}">
                <a16:creationId xmlns:a16="http://schemas.microsoft.com/office/drawing/2014/main" id="{8CC5CC91-7444-4FBB-B6F3-3E6FBD5B3D13}"/>
              </a:ext>
            </a:extLst>
          </p:cNvPr>
          <p:cNvSpPr>
            <a:spLocks noGrp="1"/>
          </p:cNvSpPr>
          <p:nvPr>
            <p:ph type="dt" sz="half" idx="10"/>
          </p:nvPr>
        </p:nvSpPr>
        <p:spPr/>
        <p:txBody>
          <a:bodyPr/>
          <a:lstStyle/>
          <a:p>
            <a:fld id="{8B329ADC-2255-4EF3-B5C0-B90829E78CD9}" type="datetimeFigureOut">
              <a:rPr lang="cs-CZ" smtClean="0"/>
              <a:t>23.01.2026</a:t>
            </a:fld>
            <a:endParaRPr lang="cs-CZ"/>
          </a:p>
        </p:txBody>
      </p:sp>
      <p:sp>
        <p:nvSpPr>
          <p:cNvPr id="5" name="Zástupný symbol pro zápatí 4">
            <a:extLst>
              <a:ext uri="{FF2B5EF4-FFF2-40B4-BE49-F238E27FC236}">
                <a16:creationId xmlns:a16="http://schemas.microsoft.com/office/drawing/2014/main" id="{CC05772A-E403-4DD1-B232-954A3547E974}"/>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1A89E5D0-757E-45AA-8FEA-238040FBC13A}"/>
              </a:ext>
            </a:extLst>
          </p:cNvPr>
          <p:cNvSpPr>
            <a:spLocks noGrp="1"/>
          </p:cNvSpPr>
          <p:nvPr>
            <p:ph type="sldNum" sz="quarter" idx="12"/>
          </p:nvPr>
        </p:nvSpPr>
        <p:spPr/>
        <p:txBody>
          <a:bodyPr/>
          <a:lstStyle/>
          <a:p>
            <a:fld id="{195CA258-668E-4A85-A197-2757C3BEE154}" type="slidenum">
              <a:rPr lang="cs-CZ" smtClean="0"/>
              <a:t>‹#›</a:t>
            </a:fld>
            <a:endParaRPr lang="cs-CZ"/>
          </a:p>
        </p:txBody>
      </p:sp>
    </p:spTree>
    <p:extLst>
      <p:ext uri="{BB962C8B-B14F-4D97-AF65-F5344CB8AC3E}">
        <p14:creationId xmlns:p14="http://schemas.microsoft.com/office/powerpoint/2010/main" val="1576233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8401FF8-98E7-49CB-8B33-E139EF39EDF6}"/>
              </a:ext>
            </a:extLst>
          </p:cNvPr>
          <p:cNvSpPr>
            <a:spLocks noGrp="1"/>
          </p:cNvSpPr>
          <p:nvPr>
            <p:ph type="title"/>
          </p:nvPr>
        </p:nvSpPr>
        <p:spPr/>
        <p:txBody>
          <a:bodyPr/>
          <a:lstStyle/>
          <a:p>
            <a:r>
              <a:rPr lang="cs-CZ"/>
              <a:t>Kliknutím lze upravit styl.</a:t>
            </a:r>
          </a:p>
        </p:txBody>
      </p:sp>
      <p:sp>
        <p:nvSpPr>
          <p:cNvPr id="3" name="Zástupný obsah 2">
            <a:extLst>
              <a:ext uri="{FF2B5EF4-FFF2-40B4-BE49-F238E27FC236}">
                <a16:creationId xmlns:a16="http://schemas.microsoft.com/office/drawing/2014/main" id="{1AF8276E-A998-4BB7-B53A-49EC37A4100E}"/>
              </a:ext>
            </a:extLst>
          </p:cNvPr>
          <p:cNvSpPr>
            <a:spLocks noGrp="1"/>
          </p:cNvSpPr>
          <p:nvPr>
            <p:ph sz="half" idx="1"/>
          </p:nvPr>
        </p:nvSpPr>
        <p:spPr>
          <a:xfrm>
            <a:off x="628650" y="1825625"/>
            <a:ext cx="3886200" cy="453073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obsah 3">
            <a:extLst>
              <a:ext uri="{FF2B5EF4-FFF2-40B4-BE49-F238E27FC236}">
                <a16:creationId xmlns:a16="http://schemas.microsoft.com/office/drawing/2014/main" id="{55672645-DFF8-41C8-8BAC-5F24D188FE2B}"/>
              </a:ext>
            </a:extLst>
          </p:cNvPr>
          <p:cNvSpPr>
            <a:spLocks noGrp="1"/>
          </p:cNvSpPr>
          <p:nvPr>
            <p:ph sz="half" idx="2"/>
          </p:nvPr>
        </p:nvSpPr>
        <p:spPr>
          <a:xfrm>
            <a:off x="4629150" y="1825624"/>
            <a:ext cx="3886200" cy="4530729"/>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a:extLst>
              <a:ext uri="{FF2B5EF4-FFF2-40B4-BE49-F238E27FC236}">
                <a16:creationId xmlns:a16="http://schemas.microsoft.com/office/drawing/2014/main" id="{623C31C8-960E-4A18-BC09-35D75D589A37}"/>
              </a:ext>
            </a:extLst>
          </p:cNvPr>
          <p:cNvSpPr>
            <a:spLocks noGrp="1"/>
          </p:cNvSpPr>
          <p:nvPr>
            <p:ph type="dt" sz="half" idx="10"/>
          </p:nvPr>
        </p:nvSpPr>
        <p:spPr/>
        <p:txBody>
          <a:bodyPr/>
          <a:lstStyle/>
          <a:p>
            <a:fld id="{8B329ADC-2255-4EF3-B5C0-B90829E78CD9}" type="datetimeFigureOut">
              <a:rPr lang="cs-CZ" smtClean="0"/>
              <a:t>23.01.2026</a:t>
            </a:fld>
            <a:endParaRPr lang="cs-CZ"/>
          </a:p>
        </p:txBody>
      </p:sp>
      <p:sp>
        <p:nvSpPr>
          <p:cNvPr id="6" name="Zástupný symbol pro zápatí 5">
            <a:extLst>
              <a:ext uri="{FF2B5EF4-FFF2-40B4-BE49-F238E27FC236}">
                <a16:creationId xmlns:a16="http://schemas.microsoft.com/office/drawing/2014/main" id="{BE33D9D5-2EC6-4E2A-AA85-6FCF97D65F31}"/>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2CF1E174-D347-4AB1-95DE-ECA0F485FC76}"/>
              </a:ext>
            </a:extLst>
          </p:cNvPr>
          <p:cNvSpPr>
            <a:spLocks noGrp="1"/>
          </p:cNvSpPr>
          <p:nvPr>
            <p:ph type="sldNum" sz="quarter" idx="12"/>
          </p:nvPr>
        </p:nvSpPr>
        <p:spPr/>
        <p:txBody>
          <a:bodyPr/>
          <a:lstStyle/>
          <a:p>
            <a:fld id="{195CA258-668E-4A85-A197-2757C3BEE154}" type="slidenum">
              <a:rPr lang="cs-CZ" smtClean="0"/>
              <a:t>‹#›</a:t>
            </a:fld>
            <a:endParaRPr lang="cs-CZ"/>
          </a:p>
        </p:txBody>
      </p:sp>
    </p:spTree>
    <p:extLst>
      <p:ext uri="{BB962C8B-B14F-4D97-AF65-F5344CB8AC3E}">
        <p14:creationId xmlns:p14="http://schemas.microsoft.com/office/powerpoint/2010/main" val="15111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9E112A9-1FE6-4496-81B4-0842D25D8877}"/>
              </a:ext>
            </a:extLst>
          </p:cNvPr>
          <p:cNvSpPr>
            <a:spLocks noGrp="1"/>
          </p:cNvSpPr>
          <p:nvPr>
            <p:ph type="title"/>
          </p:nvPr>
        </p:nvSpPr>
        <p:spPr>
          <a:xfrm>
            <a:off x="629841" y="1012830"/>
            <a:ext cx="7886700" cy="1325563"/>
          </a:xfrm>
        </p:spPr>
        <p:txBody>
          <a:bodyPr/>
          <a:lstStyle/>
          <a:p>
            <a:r>
              <a:rPr lang="cs-CZ" dirty="0"/>
              <a:t>Kliknutím lze upravit styl.</a:t>
            </a:r>
          </a:p>
        </p:txBody>
      </p:sp>
      <p:sp>
        <p:nvSpPr>
          <p:cNvPr id="3" name="Zástupný text 2">
            <a:extLst>
              <a:ext uri="{FF2B5EF4-FFF2-40B4-BE49-F238E27FC236}">
                <a16:creationId xmlns:a16="http://schemas.microsoft.com/office/drawing/2014/main" id="{2F9BFB9E-5D3E-46B3-ABDB-B7E57DAC617C}"/>
              </a:ext>
            </a:extLst>
          </p:cNvPr>
          <p:cNvSpPr>
            <a:spLocks noGrp="1"/>
          </p:cNvSpPr>
          <p:nvPr>
            <p:ph type="body" idx="1"/>
          </p:nvPr>
        </p:nvSpPr>
        <p:spPr>
          <a:xfrm>
            <a:off x="629842" y="1681163"/>
            <a:ext cx="3868340"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06502C15-7789-4EE7-A643-5A633ABA3C15}"/>
              </a:ext>
            </a:extLst>
          </p:cNvPr>
          <p:cNvSpPr>
            <a:spLocks noGrp="1"/>
          </p:cNvSpPr>
          <p:nvPr>
            <p:ph sz="half" idx="2"/>
          </p:nvPr>
        </p:nvSpPr>
        <p:spPr>
          <a:xfrm>
            <a:off x="629842" y="2505075"/>
            <a:ext cx="3868340" cy="385128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text 4">
            <a:extLst>
              <a:ext uri="{FF2B5EF4-FFF2-40B4-BE49-F238E27FC236}">
                <a16:creationId xmlns:a16="http://schemas.microsoft.com/office/drawing/2014/main" id="{C6F85072-0475-4304-BE03-A72EA7AC3937}"/>
              </a:ext>
            </a:extLst>
          </p:cNvPr>
          <p:cNvSpPr>
            <a:spLocks noGrp="1"/>
          </p:cNvSpPr>
          <p:nvPr>
            <p:ph type="body" sz="quarter" idx="3"/>
          </p:nvPr>
        </p:nvSpPr>
        <p:spPr>
          <a:xfrm>
            <a:off x="4629152" y="1681163"/>
            <a:ext cx="3887391"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cs-CZ"/>
              <a:t>Po kliknutí můžete upravovat styly textu v předloze.</a:t>
            </a:r>
          </a:p>
        </p:txBody>
      </p:sp>
      <p:sp>
        <p:nvSpPr>
          <p:cNvPr id="6" name="Zástupný obsah 5">
            <a:extLst>
              <a:ext uri="{FF2B5EF4-FFF2-40B4-BE49-F238E27FC236}">
                <a16:creationId xmlns:a16="http://schemas.microsoft.com/office/drawing/2014/main" id="{2F1610A2-3C29-4B70-AF60-C2A3EBCE309C}"/>
              </a:ext>
            </a:extLst>
          </p:cNvPr>
          <p:cNvSpPr>
            <a:spLocks noGrp="1"/>
          </p:cNvSpPr>
          <p:nvPr>
            <p:ph sz="quarter" idx="4"/>
          </p:nvPr>
        </p:nvSpPr>
        <p:spPr>
          <a:xfrm>
            <a:off x="4629152" y="2505074"/>
            <a:ext cx="3887391" cy="3851279"/>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a:extLst>
              <a:ext uri="{FF2B5EF4-FFF2-40B4-BE49-F238E27FC236}">
                <a16:creationId xmlns:a16="http://schemas.microsoft.com/office/drawing/2014/main" id="{72C164E5-0EFB-46F1-BB95-CBBAC80CA0E2}"/>
              </a:ext>
            </a:extLst>
          </p:cNvPr>
          <p:cNvSpPr>
            <a:spLocks noGrp="1"/>
          </p:cNvSpPr>
          <p:nvPr>
            <p:ph type="dt" sz="half" idx="10"/>
          </p:nvPr>
        </p:nvSpPr>
        <p:spPr/>
        <p:txBody>
          <a:bodyPr/>
          <a:lstStyle/>
          <a:p>
            <a:fld id="{8B329ADC-2255-4EF3-B5C0-B90829E78CD9}" type="datetimeFigureOut">
              <a:rPr lang="cs-CZ" smtClean="0"/>
              <a:t>23.01.2026</a:t>
            </a:fld>
            <a:endParaRPr lang="cs-CZ"/>
          </a:p>
        </p:txBody>
      </p:sp>
      <p:sp>
        <p:nvSpPr>
          <p:cNvPr id="8" name="Zástupný symbol pro zápatí 7">
            <a:extLst>
              <a:ext uri="{FF2B5EF4-FFF2-40B4-BE49-F238E27FC236}">
                <a16:creationId xmlns:a16="http://schemas.microsoft.com/office/drawing/2014/main" id="{54FD1153-99E6-4ECA-BF33-0E377D3342C9}"/>
              </a:ext>
            </a:extLst>
          </p:cNvPr>
          <p:cNvSpPr>
            <a:spLocks noGrp="1"/>
          </p:cNvSpPr>
          <p:nvPr>
            <p:ph type="ftr" sz="quarter" idx="11"/>
          </p:nvPr>
        </p:nvSpPr>
        <p:spPr/>
        <p:txBody>
          <a:bodyPr/>
          <a:lstStyle/>
          <a:p>
            <a:endParaRPr lang="cs-CZ"/>
          </a:p>
        </p:txBody>
      </p:sp>
      <p:sp>
        <p:nvSpPr>
          <p:cNvPr id="9" name="Zástupný symbol pro číslo snímku 8">
            <a:extLst>
              <a:ext uri="{FF2B5EF4-FFF2-40B4-BE49-F238E27FC236}">
                <a16:creationId xmlns:a16="http://schemas.microsoft.com/office/drawing/2014/main" id="{56282298-48D6-4F29-8798-A54B0577BD21}"/>
              </a:ext>
            </a:extLst>
          </p:cNvPr>
          <p:cNvSpPr>
            <a:spLocks noGrp="1"/>
          </p:cNvSpPr>
          <p:nvPr>
            <p:ph type="sldNum" sz="quarter" idx="12"/>
          </p:nvPr>
        </p:nvSpPr>
        <p:spPr/>
        <p:txBody>
          <a:bodyPr/>
          <a:lstStyle/>
          <a:p>
            <a:fld id="{195CA258-668E-4A85-A197-2757C3BEE154}" type="slidenum">
              <a:rPr lang="cs-CZ" smtClean="0"/>
              <a:t>‹#›</a:t>
            </a:fld>
            <a:endParaRPr lang="cs-CZ"/>
          </a:p>
        </p:txBody>
      </p:sp>
    </p:spTree>
    <p:extLst>
      <p:ext uri="{BB962C8B-B14F-4D97-AF65-F5344CB8AC3E}">
        <p14:creationId xmlns:p14="http://schemas.microsoft.com/office/powerpoint/2010/main" val="720216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Graf">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5843D58-00E6-4F74-B46F-884BB0737B83}"/>
              </a:ext>
            </a:extLst>
          </p:cNvPr>
          <p:cNvSpPr>
            <a:spLocks noGrp="1"/>
          </p:cNvSpPr>
          <p:nvPr>
            <p:ph type="title"/>
          </p:nvPr>
        </p:nvSpPr>
        <p:spPr/>
        <p:txBody>
          <a:bodyPr/>
          <a:lstStyle/>
          <a:p>
            <a:r>
              <a:rPr lang="cs-CZ" dirty="0"/>
              <a:t>Kliknutím lze upravit styl.</a:t>
            </a:r>
          </a:p>
        </p:txBody>
      </p:sp>
      <p:sp>
        <p:nvSpPr>
          <p:cNvPr id="3" name="Zástupný symbol pro datum 2">
            <a:extLst>
              <a:ext uri="{FF2B5EF4-FFF2-40B4-BE49-F238E27FC236}">
                <a16:creationId xmlns:a16="http://schemas.microsoft.com/office/drawing/2014/main" id="{D11A4E0E-761B-449A-9AA3-FAB726390721}"/>
              </a:ext>
            </a:extLst>
          </p:cNvPr>
          <p:cNvSpPr>
            <a:spLocks noGrp="1"/>
          </p:cNvSpPr>
          <p:nvPr>
            <p:ph type="dt" sz="half" idx="10"/>
          </p:nvPr>
        </p:nvSpPr>
        <p:spPr/>
        <p:txBody>
          <a:bodyPr/>
          <a:lstStyle/>
          <a:p>
            <a:fld id="{8B329ADC-2255-4EF3-B5C0-B90829E78CD9}" type="datetimeFigureOut">
              <a:rPr lang="cs-CZ" smtClean="0"/>
              <a:t>23.01.2026</a:t>
            </a:fld>
            <a:endParaRPr lang="cs-CZ"/>
          </a:p>
        </p:txBody>
      </p:sp>
      <p:sp>
        <p:nvSpPr>
          <p:cNvPr id="4" name="Zástupný symbol pro zápatí 3">
            <a:extLst>
              <a:ext uri="{FF2B5EF4-FFF2-40B4-BE49-F238E27FC236}">
                <a16:creationId xmlns:a16="http://schemas.microsoft.com/office/drawing/2014/main" id="{FED2199A-57B9-4C7C-A04D-6C8B8FF220FE}"/>
              </a:ext>
            </a:extLst>
          </p:cNvPr>
          <p:cNvSpPr>
            <a:spLocks noGrp="1"/>
          </p:cNvSpPr>
          <p:nvPr>
            <p:ph type="ftr" sz="quarter" idx="11"/>
          </p:nvPr>
        </p:nvSpPr>
        <p:spPr/>
        <p:txBody>
          <a:bodyPr/>
          <a:lstStyle/>
          <a:p>
            <a:endParaRPr lang="cs-CZ"/>
          </a:p>
        </p:txBody>
      </p:sp>
      <p:sp>
        <p:nvSpPr>
          <p:cNvPr id="5" name="Zástupný symbol pro číslo snímku 4">
            <a:extLst>
              <a:ext uri="{FF2B5EF4-FFF2-40B4-BE49-F238E27FC236}">
                <a16:creationId xmlns:a16="http://schemas.microsoft.com/office/drawing/2014/main" id="{95D08B6B-5218-473D-BD06-9695102CEB29}"/>
              </a:ext>
            </a:extLst>
          </p:cNvPr>
          <p:cNvSpPr>
            <a:spLocks noGrp="1"/>
          </p:cNvSpPr>
          <p:nvPr>
            <p:ph type="sldNum" sz="quarter" idx="12"/>
          </p:nvPr>
        </p:nvSpPr>
        <p:spPr/>
        <p:txBody>
          <a:bodyPr/>
          <a:lstStyle/>
          <a:p>
            <a:fld id="{195CA258-668E-4A85-A197-2757C3BEE154}" type="slidenum">
              <a:rPr lang="cs-CZ" smtClean="0"/>
              <a:t>‹#›</a:t>
            </a:fld>
            <a:endParaRPr lang="cs-CZ"/>
          </a:p>
        </p:txBody>
      </p:sp>
    </p:spTree>
    <p:extLst>
      <p:ext uri="{BB962C8B-B14F-4D97-AF65-F5344CB8AC3E}">
        <p14:creationId xmlns:p14="http://schemas.microsoft.com/office/powerpoint/2010/main" val="3839516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Graf vzor">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5843D58-00E6-4F74-B46F-884BB0737B83}"/>
              </a:ext>
            </a:extLst>
          </p:cNvPr>
          <p:cNvSpPr>
            <a:spLocks noGrp="1"/>
          </p:cNvSpPr>
          <p:nvPr>
            <p:ph type="title"/>
          </p:nvPr>
        </p:nvSpPr>
        <p:spPr/>
        <p:txBody>
          <a:bodyPr/>
          <a:lstStyle/>
          <a:p>
            <a:r>
              <a:rPr lang="cs-CZ" dirty="0"/>
              <a:t>Kliknutím lze upravit styl.</a:t>
            </a:r>
          </a:p>
        </p:txBody>
      </p:sp>
      <p:sp>
        <p:nvSpPr>
          <p:cNvPr id="3" name="Zástupný symbol pro datum 2">
            <a:extLst>
              <a:ext uri="{FF2B5EF4-FFF2-40B4-BE49-F238E27FC236}">
                <a16:creationId xmlns:a16="http://schemas.microsoft.com/office/drawing/2014/main" id="{D11A4E0E-761B-449A-9AA3-FAB726390721}"/>
              </a:ext>
            </a:extLst>
          </p:cNvPr>
          <p:cNvSpPr>
            <a:spLocks noGrp="1"/>
          </p:cNvSpPr>
          <p:nvPr>
            <p:ph type="dt" sz="half" idx="10"/>
          </p:nvPr>
        </p:nvSpPr>
        <p:spPr/>
        <p:txBody>
          <a:bodyPr/>
          <a:lstStyle/>
          <a:p>
            <a:fld id="{8B329ADC-2255-4EF3-B5C0-B90829E78CD9}" type="datetimeFigureOut">
              <a:rPr lang="cs-CZ" smtClean="0"/>
              <a:t>23.01.2026</a:t>
            </a:fld>
            <a:endParaRPr lang="cs-CZ"/>
          </a:p>
        </p:txBody>
      </p:sp>
      <p:sp>
        <p:nvSpPr>
          <p:cNvPr id="4" name="Zástupný symbol pro zápatí 3">
            <a:extLst>
              <a:ext uri="{FF2B5EF4-FFF2-40B4-BE49-F238E27FC236}">
                <a16:creationId xmlns:a16="http://schemas.microsoft.com/office/drawing/2014/main" id="{FED2199A-57B9-4C7C-A04D-6C8B8FF220FE}"/>
              </a:ext>
            </a:extLst>
          </p:cNvPr>
          <p:cNvSpPr>
            <a:spLocks noGrp="1"/>
          </p:cNvSpPr>
          <p:nvPr>
            <p:ph type="ftr" sz="quarter" idx="11"/>
          </p:nvPr>
        </p:nvSpPr>
        <p:spPr/>
        <p:txBody>
          <a:bodyPr/>
          <a:lstStyle/>
          <a:p>
            <a:endParaRPr lang="cs-CZ"/>
          </a:p>
        </p:txBody>
      </p:sp>
      <p:sp>
        <p:nvSpPr>
          <p:cNvPr id="5" name="Zástupný symbol pro číslo snímku 4">
            <a:extLst>
              <a:ext uri="{FF2B5EF4-FFF2-40B4-BE49-F238E27FC236}">
                <a16:creationId xmlns:a16="http://schemas.microsoft.com/office/drawing/2014/main" id="{95D08B6B-5218-473D-BD06-9695102CEB29}"/>
              </a:ext>
            </a:extLst>
          </p:cNvPr>
          <p:cNvSpPr>
            <a:spLocks noGrp="1"/>
          </p:cNvSpPr>
          <p:nvPr>
            <p:ph type="sldNum" sz="quarter" idx="12"/>
          </p:nvPr>
        </p:nvSpPr>
        <p:spPr/>
        <p:txBody>
          <a:bodyPr/>
          <a:lstStyle/>
          <a:p>
            <a:fld id="{195CA258-668E-4A85-A197-2757C3BEE154}" type="slidenum">
              <a:rPr lang="cs-CZ" smtClean="0"/>
              <a:t>‹#›</a:t>
            </a:fld>
            <a:endParaRPr lang="cs-CZ"/>
          </a:p>
        </p:txBody>
      </p:sp>
      <p:graphicFrame>
        <p:nvGraphicFramePr>
          <p:cNvPr id="8" name="Graf 7">
            <a:extLst>
              <a:ext uri="{FF2B5EF4-FFF2-40B4-BE49-F238E27FC236}">
                <a16:creationId xmlns:a16="http://schemas.microsoft.com/office/drawing/2014/main" id="{A2CFF3E3-BFCF-4550-86A1-C1FA2629A693}"/>
              </a:ext>
            </a:extLst>
          </p:cNvPr>
          <p:cNvGraphicFramePr/>
          <p:nvPr userDrawn="1">
            <p:extLst>
              <p:ext uri="{D42A27DB-BD31-4B8C-83A1-F6EECF244321}">
                <p14:modId xmlns:p14="http://schemas.microsoft.com/office/powerpoint/2010/main" val="4058343424"/>
              </p:ext>
            </p:extLst>
          </p:nvPr>
        </p:nvGraphicFramePr>
        <p:xfrm>
          <a:off x="628652" y="1990725"/>
          <a:ext cx="7779543" cy="414760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46088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ulka">
    <p:spTree>
      <p:nvGrpSpPr>
        <p:cNvPr id="1" name=""/>
        <p:cNvGrpSpPr/>
        <p:nvPr/>
      </p:nvGrpSpPr>
      <p:grpSpPr>
        <a:xfrm>
          <a:off x="0" y="0"/>
          <a:ext cx="0" cy="0"/>
          <a:chOff x="0" y="0"/>
          <a:chExt cx="0" cy="0"/>
        </a:xfrm>
      </p:grpSpPr>
      <p:sp>
        <p:nvSpPr>
          <p:cNvPr id="2" name="Zástupný symbol pro datum 1">
            <a:extLst>
              <a:ext uri="{FF2B5EF4-FFF2-40B4-BE49-F238E27FC236}">
                <a16:creationId xmlns:a16="http://schemas.microsoft.com/office/drawing/2014/main" id="{64B6AD0B-CD39-418F-BD86-753F9D93E5C1}"/>
              </a:ext>
            </a:extLst>
          </p:cNvPr>
          <p:cNvSpPr>
            <a:spLocks noGrp="1"/>
          </p:cNvSpPr>
          <p:nvPr>
            <p:ph type="dt" sz="half" idx="10"/>
          </p:nvPr>
        </p:nvSpPr>
        <p:spPr/>
        <p:txBody>
          <a:bodyPr/>
          <a:lstStyle/>
          <a:p>
            <a:fld id="{8B329ADC-2255-4EF3-B5C0-B90829E78CD9}" type="datetimeFigureOut">
              <a:rPr lang="cs-CZ" smtClean="0"/>
              <a:t>23.01.2026</a:t>
            </a:fld>
            <a:endParaRPr lang="cs-CZ"/>
          </a:p>
        </p:txBody>
      </p:sp>
      <p:sp>
        <p:nvSpPr>
          <p:cNvPr id="3" name="Zástupný symbol pro zápatí 2">
            <a:extLst>
              <a:ext uri="{FF2B5EF4-FFF2-40B4-BE49-F238E27FC236}">
                <a16:creationId xmlns:a16="http://schemas.microsoft.com/office/drawing/2014/main" id="{AF3563E2-1FFA-41D6-A180-AB12573EE9D3}"/>
              </a:ext>
            </a:extLst>
          </p:cNvPr>
          <p:cNvSpPr>
            <a:spLocks noGrp="1"/>
          </p:cNvSpPr>
          <p:nvPr>
            <p:ph type="ftr" sz="quarter" idx="11"/>
          </p:nvPr>
        </p:nvSpPr>
        <p:spPr/>
        <p:txBody>
          <a:bodyPr/>
          <a:lstStyle/>
          <a:p>
            <a:endParaRPr lang="cs-CZ"/>
          </a:p>
        </p:txBody>
      </p:sp>
      <p:sp>
        <p:nvSpPr>
          <p:cNvPr id="4" name="Zástupný symbol pro číslo snímku 3">
            <a:extLst>
              <a:ext uri="{FF2B5EF4-FFF2-40B4-BE49-F238E27FC236}">
                <a16:creationId xmlns:a16="http://schemas.microsoft.com/office/drawing/2014/main" id="{807A9ED8-2B82-40D5-A9B1-F2B165BE7232}"/>
              </a:ext>
            </a:extLst>
          </p:cNvPr>
          <p:cNvSpPr>
            <a:spLocks noGrp="1"/>
          </p:cNvSpPr>
          <p:nvPr>
            <p:ph type="sldNum" sz="quarter" idx="12"/>
          </p:nvPr>
        </p:nvSpPr>
        <p:spPr/>
        <p:txBody>
          <a:bodyPr/>
          <a:lstStyle/>
          <a:p>
            <a:fld id="{195CA258-668E-4A85-A197-2757C3BEE154}" type="slidenum">
              <a:rPr lang="cs-CZ" smtClean="0"/>
              <a:t>‹#›</a:t>
            </a:fld>
            <a:endParaRPr lang="cs-CZ"/>
          </a:p>
        </p:txBody>
      </p:sp>
      <p:sp>
        <p:nvSpPr>
          <p:cNvPr id="14" name="Nadpis 1">
            <a:extLst>
              <a:ext uri="{FF2B5EF4-FFF2-40B4-BE49-F238E27FC236}">
                <a16:creationId xmlns:a16="http://schemas.microsoft.com/office/drawing/2014/main" id="{3595AC0D-E641-4E07-B2CB-74274830B2B5}"/>
              </a:ext>
            </a:extLst>
          </p:cNvPr>
          <p:cNvSpPr>
            <a:spLocks noGrp="1"/>
          </p:cNvSpPr>
          <p:nvPr>
            <p:ph type="title"/>
          </p:nvPr>
        </p:nvSpPr>
        <p:spPr>
          <a:xfrm>
            <a:off x="628650" y="1100016"/>
            <a:ext cx="7779544" cy="689952"/>
          </a:xfrm>
        </p:spPr>
        <p:txBody>
          <a:bodyPr/>
          <a:lstStyle/>
          <a:p>
            <a:r>
              <a:rPr lang="cs-CZ" dirty="0"/>
              <a:t>Kliknutím lze upravit styl.</a:t>
            </a:r>
          </a:p>
        </p:txBody>
      </p:sp>
    </p:spTree>
    <p:extLst>
      <p:ext uri="{BB962C8B-B14F-4D97-AF65-F5344CB8AC3E}">
        <p14:creationId xmlns:p14="http://schemas.microsoft.com/office/powerpoint/2010/main" val="3224159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ulka vzor">
    <p:spTree>
      <p:nvGrpSpPr>
        <p:cNvPr id="1" name=""/>
        <p:cNvGrpSpPr/>
        <p:nvPr/>
      </p:nvGrpSpPr>
      <p:grpSpPr>
        <a:xfrm>
          <a:off x="0" y="0"/>
          <a:ext cx="0" cy="0"/>
          <a:chOff x="0" y="0"/>
          <a:chExt cx="0" cy="0"/>
        </a:xfrm>
      </p:grpSpPr>
      <p:sp>
        <p:nvSpPr>
          <p:cNvPr id="2" name="Zástupný symbol pro datum 1">
            <a:extLst>
              <a:ext uri="{FF2B5EF4-FFF2-40B4-BE49-F238E27FC236}">
                <a16:creationId xmlns:a16="http://schemas.microsoft.com/office/drawing/2014/main" id="{64B6AD0B-CD39-418F-BD86-753F9D93E5C1}"/>
              </a:ext>
            </a:extLst>
          </p:cNvPr>
          <p:cNvSpPr>
            <a:spLocks noGrp="1"/>
          </p:cNvSpPr>
          <p:nvPr>
            <p:ph type="dt" sz="half" idx="10"/>
          </p:nvPr>
        </p:nvSpPr>
        <p:spPr/>
        <p:txBody>
          <a:bodyPr/>
          <a:lstStyle/>
          <a:p>
            <a:fld id="{8B329ADC-2255-4EF3-B5C0-B90829E78CD9}" type="datetimeFigureOut">
              <a:rPr lang="cs-CZ" smtClean="0"/>
              <a:t>23.01.2026</a:t>
            </a:fld>
            <a:endParaRPr lang="cs-CZ"/>
          </a:p>
        </p:txBody>
      </p:sp>
      <p:sp>
        <p:nvSpPr>
          <p:cNvPr id="3" name="Zástupný symbol pro zápatí 2">
            <a:extLst>
              <a:ext uri="{FF2B5EF4-FFF2-40B4-BE49-F238E27FC236}">
                <a16:creationId xmlns:a16="http://schemas.microsoft.com/office/drawing/2014/main" id="{AF3563E2-1FFA-41D6-A180-AB12573EE9D3}"/>
              </a:ext>
            </a:extLst>
          </p:cNvPr>
          <p:cNvSpPr>
            <a:spLocks noGrp="1"/>
          </p:cNvSpPr>
          <p:nvPr>
            <p:ph type="ftr" sz="quarter" idx="11"/>
          </p:nvPr>
        </p:nvSpPr>
        <p:spPr/>
        <p:txBody>
          <a:bodyPr/>
          <a:lstStyle/>
          <a:p>
            <a:endParaRPr lang="cs-CZ"/>
          </a:p>
        </p:txBody>
      </p:sp>
      <p:sp>
        <p:nvSpPr>
          <p:cNvPr id="4" name="Zástupný symbol pro číslo snímku 3">
            <a:extLst>
              <a:ext uri="{FF2B5EF4-FFF2-40B4-BE49-F238E27FC236}">
                <a16:creationId xmlns:a16="http://schemas.microsoft.com/office/drawing/2014/main" id="{807A9ED8-2B82-40D5-A9B1-F2B165BE7232}"/>
              </a:ext>
            </a:extLst>
          </p:cNvPr>
          <p:cNvSpPr>
            <a:spLocks noGrp="1"/>
          </p:cNvSpPr>
          <p:nvPr>
            <p:ph type="sldNum" sz="quarter" idx="12"/>
          </p:nvPr>
        </p:nvSpPr>
        <p:spPr/>
        <p:txBody>
          <a:bodyPr/>
          <a:lstStyle/>
          <a:p>
            <a:fld id="{195CA258-668E-4A85-A197-2757C3BEE154}" type="slidenum">
              <a:rPr lang="cs-CZ" smtClean="0"/>
              <a:t>‹#›</a:t>
            </a:fld>
            <a:endParaRPr lang="cs-CZ"/>
          </a:p>
        </p:txBody>
      </p:sp>
      <p:graphicFrame>
        <p:nvGraphicFramePr>
          <p:cNvPr id="5" name="Tabulka 5">
            <a:extLst>
              <a:ext uri="{FF2B5EF4-FFF2-40B4-BE49-F238E27FC236}">
                <a16:creationId xmlns:a16="http://schemas.microsoft.com/office/drawing/2014/main" id="{9841DB2C-4E87-4F77-9936-DB53842AFF3E}"/>
              </a:ext>
            </a:extLst>
          </p:cNvPr>
          <p:cNvGraphicFramePr>
            <a:graphicFrameLocks noGrp="1"/>
          </p:cNvGraphicFramePr>
          <p:nvPr userDrawn="1">
            <p:extLst>
              <p:ext uri="{D42A27DB-BD31-4B8C-83A1-F6EECF244321}">
                <p14:modId xmlns:p14="http://schemas.microsoft.com/office/powerpoint/2010/main" val="3049251074"/>
              </p:ext>
            </p:extLst>
          </p:nvPr>
        </p:nvGraphicFramePr>
        <p:xfrm>
          <a:off x="731521" y="2152650"/>
          <a:ext cx="7581899" cy="3605336"/>
        </p:xfrm>
        <a:graphic>
          <a:graphicData uri="http://schemas.openxmlformats.org/drawingml/2006/table">
            <a:tbl>
              <a:tblPr firstRow="1" bandRow="1">
                <a:tableStyleId>{5C22544A-7EE6-4342-B048-85BDC9FD1C3A}</a:tableStyleId>
              </a:tblPr>
              <a:tblGrid>
                <a:gridCol w="840525">
                  <a:extLst>
                    <a:ext uri="{9D8B030D-6E8A-4147-A177-3AD203B41FA5}">
                      <a16:colId xmlns:a16="http://schemas.microsoft.com/office/drawing/2014/main" val="1219353005"/>
                    </a:ext>
                  </a:extLst>
                </a:gridCol>
                <a:gridCol w="840525">
                  <a:extLst>
                    <a:ext uri="{9D8B030D-6E8A-4147-A177-3AD203B41FA5}">
                      <a16:colId xmlns:a16="http://schemas.microsoft.com/office/drawing/2014/main" val="4046355216"/>
                    </a:ext>
                  </a:extLst>
                </a:gridCol>
                <a:gridCol w="840525">
                  <a:extLst>
                    <a:ext uri="{9D8B030D-6E8A-4147-A177-3AD203B41FA5}">
                      <a16:colId xmlns:a16="http://schemas.microsoft.com/office/drawing/2014/main" val="1360489622"/>
                    </a:ext>
                  </a:extLst>
                </a:gridCol>
                <a:gridCol w="840525">
                  <a:extLst>
                    <a:ext uri="{9D8B030D-6E8A-4147-A177-3AD203B41FA5}">
                      <a16:colId xmlns:a16="http://schemas.microsoft.com/office/drawing/2014/main" val="2421545816"/>
                    </a:ext>
                  </a:extLst>
                </a:gridCol>
                <a:gridCol w="840525">
                  <a:extLst>
                    <a:ext uri="{9D8B030D-6E8A-4147-A177-3AD203B41FA5}">
                      <a16:colId xmlns:a16="http://schemas.microsoft.com/office/drawing/2014/main" val="445562066"/>
                    </a:ext>
                  </a:extLst>
                </a:gridCol>
                <a:gridCol w="840525">
                  <a:extLst>
                    <a:ext uri="{9D8B030D-6E8A-4147-A177-3AD203B41FA5}">
                      <a16:colId xmlns:a16="http://schemas.microsoft.com/office/drawing/2014/main" val="4004064892"/>
                    </a:ext>
                  </a:extLst>
                </a:gridCol>
                <a:gridCol w="840525">
                  <a:extLst>
                    <a:ext uri="{9D8B030D-6E8A-4147-A177-3AD203B41FA5}">
                      <a16:colId xmlns:a16="http://schemas.microsoft.com/office/drawing/2014/main" val="1769508777"/>
                    </a:ext>
                  </a:extLst>
                </a:gridCol>
                <a:gridCol w="840525">
                  <a:extLst>
                    <a:ext uri="{9D8B030D-6E8A-4147-A177-3AD203B41FA5}">
                      <a16:colId xmlns:a16="http://schemas.microsoft.com/office/drawing/2014/main" val="3799914238"/>
                    </a:ext>
                  </a:extLst>
                </a:gridCol>
                <a:gridCol w="857699">
                  <a:extLst>
                    <a:ext uri="{9D8B030D-6E8A-4147-A177-3AD203B41FA5}">
                      <a16:colId xmlns:a16="http://schemas.microsoft.com/office/drawing/2014/main" val="1835371581"/>
                    </a:ext>
                  </a:extLst>
                </a:gridCol>
              </a:tblGrid>
              <a:tr h="450667">
                <a:tc>
                  <a:txBody>
                    <a:bodyPr/>
                    <a:lstStyle/>
                    <a:p>
                      <a:r>
                        <a:rPr lang="cs-CZ" dirty="0"/>
                        <a:t>Sloupec</a:t>
                      </a:r>
                    </a:p>
                  </a:txBody>
                  <a:tcPr marL="68580" marR="68580" anchor="ctr">
                    <a:solidFill>
                      <a:srgbClr val="009881"/>
                    </a:solidFill>
                  </a:tcPr>
                </a:tc>
                <a:tc>
                  <a:txBody>
                    <a:bodyPr/>
                    <a:lstStyle/>
                    <a:p>
                      <a:r>
                        <a:rPr lang="cs-CZ" dirty="0"/>
                        <a:t>Sloupec</a:t>
                      </a:r>
                    </a:p>
                  </a:txBody>
                  <a:tcPr marL="68580" marR="68580" anchor="ctr">
                    <a:solidFill>
                      <a:srgbClr val="009881"/>
                    </a:solidFill>
                  </a:tcPr>
                </a:tc>
                <a:tc>
                  <a:txBody>
                    <a:bodyPr/>
                    <a:lstStyle/>
                    <a:p>
                      <a:r>
                        <a:rPr lang="cs-CZ" dirty="0"/>
                        <a:t>Sloupec</a:t>
                      </a:r>
                    </a:p>
                  </a:txBody>
                  <a:tcPr marL="68580" marR="68580" anchor="ctr">
                    <a:solidFill>
                      <a:srgbClr val="009881"/>
                    </a:solidFill>
                  </a:tcPr>
                </a:tc>
                <a:tc>
                  <a:txBody>
                    <a:bodyPr/>
                    <a:lstStyle/>
                    <a:p>
                      <a:r>
                        <a:rPr lang="cs-CZ" dirty="0"/>
                        <a:t>Sloupec</a:t>
                      </a:r>
                    </a:p>
                  </a:txBody>
                  <a:tcPr marL="68580" marR="68580" anchor="ctr">
                    <a:solidFill>
                      <a:srgbClr val="009881"/>
                    </a:solidFill>
                  </a:tcPr>
                </a:tc>
                <a:tc>
                  <a:txBody>
                    <a:bodyPr/>
                    <a:lstStyle/>
                    <a:p>
                      <a:r>
                        <a:rPr lang="cs-CZ" dirty="0"/>
                        <a:t>Sloupec</a:t>
                      </a:r>
                    </a:p>
                  </a:txBody>
                  <a:tcPr marL="68580" marR="68580" anchor="ctr">
                    <a:solidFill>
                      <a:srgbClr val="009881"/>
                    </a:solidFill>
                  </a:tcPr>
                </a:tc>
                <a:tc>
                  <a:txBody>
                    <a:bodyPr/>
                    <a:lstStyle/>
                    <a:p>
                      <a:r>
                        <a:rPr lang="cs-CZ" dirty="0"/>
                        <a:t>Sloupec</a:t>
                      </a:r>
                    </a:p>
                  </a:txBody>
                  <a:tcPr marL="68580" marR="68580" anchor="ctr">
                    <a:solidFill>
                      <a:srgbClr val="009881"/>
                    </a:solidFill>
                  </a:tcPr>
                </a:tc>
                <a:tc>
                  <a:txBody>
                    <a:bodyPr/>
                    <a:lstStyle/>
                    <a:p>
                      <a:r>
                        <a:rPr lang="cs-CZ" dirty="0"/>
                        <a:t>Sloupec</a:t>
                      </a:r>
                    </a:p>
                  </a:txBody>
                  <a:tcPr marL="68580" marR="68580" anchor="ctr">
                    <a:solidFill>
                      <a:srgbClr val="009881"/>
                    </a:solidFill>
                  </a:tcPr>
                </a:tc>
                <a:tc>
                  <a:txBody>
                    <a:bodyPr/>
                    <a:lstStyle/>
                    <a:p>
                      <a:r>
                        <a:rPr lang="cs-CZ" dirty="0"/>
                        <a:t>Sloupec</a:t>
                      </a:r>
                    </a:p>
                  </a:txBody>
                  <a:tcPr marL="68580" marR="68580" anchor="ctr">
                    <a:solidFill>
                      <a:srgbClr val="009881"/>
                    </a:solidFill>
                  </a:tcPr>
                </a:tc>
                <a:tc>
                  <a:txBody>
                    <a:bodyPr/>
                    <a:lstStyle/>
                    <a:p>
                      <a:r>
                        <a:rPr lang="cs-CZ" dirty="0"/>
                        <a:t>Sloupec</a:t>
                      </a:r>
                    </a:p>
                  </a:txBody>
                  <a:tcPr marL="68580" marR="68580" anchor="ctr">
                    <a:solidFill>
                      <a:srgbClr val="009881"/>
                    </a:solidFill>
                  </a:tcPr>
                </a:tc>
                <a:extLst>
                  <a:ext uri="{0D108BD9-81ED-4DB2-BD59-A6C34878D82A}">
                    <a16:rowId xmlns:a16="http://schemas.microsoft.com/office/drawing/2014/main" val="2543504544"/>
                  </a:ext>
                </a:extLst>
              </a:tr>
              <a:tr h="450667">
                <a:tc>
                  <a:txBody>
                    <a:bodyPr/>
                    <a:lstStyle/>
                    <a:p>
                      <a:r>
                        <a:rPr lang="cs-CZ" dirty="0"/>
                        <a:t>řádek</a:t>
                      </a:r>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extLst>
                  <a:ext uri="{0D108BD9-81ED-4DB2-BD59-A6C34878D82A}">
                    <a16:rowId xmlns:a16="http://schemas.microsoft.com/office/drawing/2014/main" val="4209812970"/>
                  </a:ext>
                </a:extLst>
              </a:tr>
              <a:tr h="4506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t>řádek</a:t>
                      </a:r>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extLst>
                  <a:ext uri="{0D108BD9-81ED-4DB2-BD59-A6C34878D82A}">
                    <a16:rowId xmlns:a16="http://schemas.microsoft.com/office/drawing/2014/main" val="2218039754"/>
                  </a:ext>
                </a:extLst>
              </a:tr>
              <a:tr h="4506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t>řádek</a:t>
                      </a:r>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a:p>
                  </a:txBody>
                  <a:tcPr marL="68580" marR="68580" anchor="ctr">
                    <a:solidFill>
                      <a:schemeClr val="bg1"/>
                    </a:solidFill>
                  </a:tcPr>
                </a:tc>
                <a:tc>
                  <a:txBody>
                    <a:bodyPr/>
                    <a:lstStyle/>
                    <a:p>
                      <a:endParaRPr lang="cs-CZ" dirty="0"/>
                    </a:p>
                  </a:txBody>
                  <a:tcPr marL="68580" marR="68580" anchor="ctr">
                    <a:solidFill>
                      <a:schemeClr val="bg1"/>
                    </a:solidFill>
                  </a:tcPr>
                </a:tc>
                <a:extLst>
                  <a:ext uri="{0D108BD9-81ED-4DB2-BD59-A6C34878D82A}">
                    <a16:rowId xmlns:a16="http://schemas.microsoft.com/office/drawing/2014/main" val="3620737182"/>
                  </a:ext>
                </a:extLst>
              </a:tr>
              <a:tr h="4506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t>řádek</a:t>
                      </a:r>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extLst>
                  <a:ext uri="{0D108BD9-81ED-4DB2-BD59-A6C34878D82A}">
                    <a16:rowId xmlns:a16="http://schemas.microsoft.com/office/drawing/2014/main" val="1781019941"/>
                  </a:ext>
                </a:extLst>
              </a:tr>
              <a:tr h="4506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t>řádek</a:t>
                      </a:r>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extLst>
                  <a:ext uri="{0D108BD9-81ED-4DB2-BD59-A6C34878D82A}">
                    <a16:rowId xmlns:a16="http://schemas.microsoft.com/office/drawing/2014/main" val="1777095225"/>
                  </a:ext>
                </a:extLst>
              </a:tr>
              <a:tr h="4506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t>řádek</a:t>
                      </a:r>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extLst>
                  <a:ext uri="{0D108BD9-81ED-4DB2-BD59-A6C34878D82A}">
                    <a16:rowId xmlns:a16="http://schemas.microsoft.com/office/drawing/2014/main" val="2993294286"/>
                  </a:ext>
                </a:extLst>
              </a:tr>
              <a:tr h="4506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t>řádek</a:t>
                      </a:r>
                    </a:p>
                  </a:txBody>
                  <a:tcPr marL="68580" marR="68580" anchor="ctr">
                    <a:solidFill>
                      <a:srgbClr val="B5EAE0"/>
                    </a:solidFill>
                  </a:tcPr>
                </a:tc>
                <a:tc>
                  <a:txBody>
                    <a:bodyPr/>
                    <a:lstStyle/>
                    <a:p>
                      <a:endParaRPr lang="cs-CZ" dirty="0"/>
                    </a:p>
                  </a:txBody>
                  <a:tcPr marL="68580" marR="68580" anchor="ctr">
                    <a:solidFill>
                      <a:srgbClr val="B5EAE0"/>
                    </a:solidFill>
                  </a:tcPr>
                </a:tc>
                <a:tc>
                  <a:txBody>
                    <a:bodyPr/>
                    <a:lstStyle/>
                    <a:p>
                      <a:endParaRPr lang="cs-CZ" dirty="0"/>
                    </a:p>
                  </a:txBody>
                  <a:tcPr marL="68580" marR="68580" anchor="ctr">
                    <a:solidFill>
                      <a:srgbClr val="B5EAE0"/>
                    </a:solidFill>
                  </a:tcPr>
                </a:tc>
                <a:tc>
                  <a:txBody>
                    <a:bodyPr/>
                    <a:lstStyle/>
                    <a:p>
                      <a:endParaRPr lang="cs-CZ" dirty="0"/>
                    </a:p>
                  </a:txBody>
                  <a:tcPr marL="68580" marR="68580" anchor="ctr">
                    <a:solidFill>
                      <a:srgbClr val="B5EAE0"/>
                    </a:solidFill>
                  </a:tcPr>
                </a:tc>
                <a:tc>
                  <a:txBody>
                    <a:bodyPr/>
                    <a:lstStyle/>
                    <a:p>
                      <a:endParaRPr lang="cs-CZ" dirty="0"/>
                    </a:p>
                  </a:txBody>
                  <a:tcPr marL="68580" marR="68580" anchor="ctr">
                    <a:solidFill>
                      <a:srgbClr val="B5EAE0"/>
                    </a:solidFill>
                  </a:tcPr>
                </a:tc>
                <a:tc>
                  <a:txBody>
                    <a:bodyPr/>
                    <a:lstStyle/>
                    <a:p>
                      <a:endParaRPr lang="cs-CZ" dirty="0"/>
                    </a:p>
                  </a:txBody>
                  <a:tcPr marL="68580" marR="68580" anchor="ctr">
                    <a:solidFill>
                      <a:srgbClr val="B5EAE0"/>
                    </a:solidFill>
                  </a:tcPr>
                </a:tc>
                <a:tc>
                  <a:txBody>
                    <a:bodyPr/>
                    <a:lstStyle/>
                    <a:p>
                      <a:endParaRPr lang="cs-CZ" dirty="0"/>
                    </a:p>
                  </a:txBody>
                  <a:tcPr marL="68580" marR="68580" anchor="ctr">
                    <a:solidFill>
                      <a:srgbClr val="B5EAE0"/>
                    </a:solidFill>
                  </a:tcPr>
                </a:tc>
                <a:tc>
                  <a:txBody>
                    <a:bodyPr/>
                    <a:lstStyle/>
                    <a:p>
                      <a:endParaRPr lang="cs-CZ" dirty="0"/>
                    </a:p>
                  </a:txBody>
                  <a:tcPr marL="68580" marR="68580" anchor="ctr">
                    <a:solidFill>
                      <a:srgbClr val="B5EAE0"/>
                    </a:solidFill>
                  </a:tcPr>
                </a:tc>
                <a:tc>
                  <a:txBody>
                    <a:bodyPr/>
                    <a:lstStyle/>
                    <a:p>
                      <a:endParaRPr lang="cs-CZ" dirty="0"/>
                    </a:p>
                  </a:txBody>
                  <a:tcPr marL="68580" marR="68580" anchor="ctr">
                    <a:solidFill>
                      <a:srgbClr val="B5EAE0"/>
                    </a:solidFill>
                  </a:tcPr>
                </a:tc>
                <a:extLst>
                  <a:ext uri="{0D108BD9-81ED-4DB2-BD59-A6C34878D82A}">
                    <a16:rowId xmlns:a16="http://schemas.microsoft.com/office/drawing/2014/main" val="150252544"/>
                  </a:ext>
                </a:extLst>
              </a:tr>
            </a:tbl>
          </a:graphicData>
        </a:graphic>
      </p:graphicFrame>
      <p:sp>
        <p:nvSpPr>
          <p:cNvPr id="14" name="Nadpis 1">
            <a:extLst>
              <a:ext uri="{FF2B5EF4-FFF2-40B4-BE49-F238E27FC236}">
                <a16:creationId xmlns:a16="http://schemas.microsoft.com/office/drawing/2014/main" id="{3595AC0D-E641-4E07-B2CB-74274830B2B5}"/>
              </a:ext>
            </a:extLst>
          </p:cNvPr>
          <p:cNvSpPr>
            <a:spLocks noGrp="1"/>
          </p:cNvSpPr>
          <p:nvPr>
            <p:ph type="title"/>
          </p:nvPr>
        </p:nvSpPr>
        <p:spPr>
          <a:xfrm>
            <a:off x="628650" y="1100016"/>
            <a:ext cx="7779544" cy="689952"/>
          </a:xfrm>
        </p:spPr>
        <p:txBody>
          <a:bodyPr/>
          <a:lstStyle/>
          <a:p>
            <a:r>
              <a:rPr lang="cs-CZ" dirty="0"/>
              <a:t>Kliknutím lze upravit styl.</a:t>
            </a:r>
          </a:p>
        </p:txBody>
      </p:sp>
    </p:spTree>
    <p:extLst>
      <p:ext uri="{BB962C8B-B14F-4D97-AF65-F5344CB8AC3E}">
        <p14:creationId xmlns:p14="http://schemas.microsoft.com/office/powerpoint/2010/main" val="3926611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75CB4D-7416-4123-83CE-C769D1CEF97F}"/>
              </a:ext>
            </a:extLst>
          </p:cNvPr>
          <p:cNvSpPr>
            <a:spLocks noGrp="1"/>
          </p:cNvSpPr>
          <p:nvPr>
            <p:ph type="title"/>
          </p:nvPr>
        </p:nvSpPr>
        <p:spPr>
          <a:xfrm>
            <a:off x="629841" y="987429"/>
            <a:ext cx="2949178" cy="1069975"/>
          </a:xfrm>
        </p:spPr>
        <p:txBody>
          <a:bodyPr anchor="b"/>
          <a:lstStyle>
            <a:lvl1pPr>
              <a:defRPr sz="2400"/>
            </a:lvl1pPr>
          </a:lstStyle>
          <a:p>
            <a:r>
              <a:rPr lang="cs-CZ" dirty="0"/>
              <a:t>Kliknutím lze upravit styl.</a:t>
            </a:r>
          </a:p>
        </p:txBody>
      </p:sp>
      <p:sp>
        <p:nvSpPr>
          <p:cNvPr id="3" name="Zástupný obsah 2">
            <a:extLst>
              <a:ext uri="{FF2B5EF4-FFF2-40B4-BE49-F238E27FC236}">
                <a16:creationId xmlns:a16="http://schemas.microsoft.com/office/drawing/2014/main" id="{CD0998F7-E90D-471F-891C-0FD12349B84C}"/>
              </a:ext>
            </a:extLst>
          </p:cNvPr>
          <p:cNvSpPr>
            <a:spLocks noGrp="1"/>
          </p:cNvSpPr>
          <p:nvPr>
            <p:ph idx="1"/>
          </p:nvPr>
        </p:nvSpPr>
        <p:spPr>
          <a:xfrm>
            <a:off x="3887391" y="987430"/>
            <a:ext cx="4629150" cy="536892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text 3">
            <a:extLst>
              <a:ext uri="{FF2B5EF4-FFF2-40B4-BE49-F238E27FC236}">
                <a16:creationId xmlns:a16="http://schemas.microsoft.com/office/drawing/2014/main" id="{10F5FE98-251D-4D3C-B8B7-DADD6DEB8680}"/>
              </a:ext>
            </a:extLst>
          </p:cNvPr>
          <p:cNvSpPr>
            <a:spLocks noGrp="1"/>
          </p:cNvSpPr>
          <p:nvPr>
            <p:ph type="body" sz="half" idx="2"/>
          </p:nvPr>
        </p:nvSpPr>
        <p:spPr>
          <a:xfrm>
            <a:off x="629841" y="2057399"/>
            <a:ext cx="2949178" cy="4298955"/>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6390EA42-058E-4D22-B615-D930D64C6ABE}"/>
              </a:ext>
            </a:extLst>
          </p:cNvPr>
          <p:cNvSpPr>
            <a:spLocks noGrp="1"/>
          </p:cNvSpPr>
          <p:nvPr>
            <p:ph type="dt" sz="half" idx="10"/>
          </p:nvPr>
        </p:nvSpPr>
        <p:spPr/>
        <p:txBody>
          <a:bodyPr/>
          <a:lstStyle/>
          <a:p>
            <a:fld id="{8B329ADC-2255-4EF3-B5C0-B90829E78CD9}" type="datetimeFigureOut">
              <a:rPr lang="cs-CZ" smtClean="0"/>
              <a:t>23.01.2026</a:t>
            </a:fld>
            <a:endParaRPr lang="cs-CZ"/>
          </a:p>
        </p:txBody>
      </p:sp>
      <p:sp>
        <p:nvSpPr>
          <p:cNvPr id="6" name="Zástupný symbol pro zápatí 5">
            <a:extLst>
              <a:ext uri="{FF2B5EF4-FFF2-40B4-BE49-F238E27FC236}">
                <a16:creationId xmlns:a16="http://schemas.microsoft.com/office/drawing/2014/main" id="{E78A484A-2BA3-41B7-86CF-5D3F9304C1AA}"/>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C01B4CD1-4B53-455D-AE40-D95A24E4F658}"/>
              </a:ext>
            </a:extLst>
          </p:cNvPr>
          <p:cNvSpPr>
            <a:spLocks noGrp="1"/>
          </p:cNvSpPr>
          <p:nvPr>
            <p:ph type="sldNum" sz="quarter" idx="12"/>
          </p:nvPr>
        </p:nvSpPr>
        <p:spPr/>
        <p:txBody>
          <a:bodyPr/>
          <a:lstStyle/>
          <a:p>
            <a:fld id="{195CA258-668E-4A85-A197-2757C3BEE154}" type="slidenum">
              <a:rPr lang="cs-CZ" smtClean="0"/>
              <a:t>‹#›</a:t>
            </a:fld>
            <a:endParaRPr lang="cs-CZ"/>
          </a:p>
        </p:txBody>
      </p:sp>
    </p:spTree>
    <p:extLst>
      <p:ext uri="{BB962C8B-B14F-4D97-AF65-F5344CB8AC3E}">
        <p14:creationId xmlns:p14="http://schemas.microsoft.com/office/powerpoint/2010/main" val="120010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A697884-28AE-4700-9C13-68750D37E914}"/>
              </a:ext>
            </a:extLst>
          </p:cNvPr>
          <p:cNvSpPr>
            <a:spLocks noGrp="1"/>
          </p:cNvSpPr>
          <p:nvPr>
            <p:ph type="title"/>
          </p:nvPr>
        </p:nvSpPr>
        <p:spPr>
          <a:xfrm>
            <a:off x="629841" y="987429"/>
            <a:ext cx="2949178" cy="1069975"/>
          </a:xfrm>
        </p:spPr>
        <p:txBody>
          <a:bodyPr anchor="b"/>
          <a:lstStyle>
            <a:lvl1pPr>
              <a:defRPr sz="2400"/>
            </a:lvl1pPr>
          </a:lstStyle>
          <a:p>
            <a:r>
              <a:rPr lang="cs-CZ"/>
              <a:t>Kliknutím lze upravit styl.</a:t>
            </a:r>
          </a:p>
        </p:txBody>
      </p:sp>
      <p:sp>
        <p:nvSpPr>
          <p:cNvPr id="3" name="Zástupný symbol obrázku 2">
            <a:extLst>
              <a:ext uri="{FF2B5EF4-FFF2-40B4-BE49-F238E27FC236}">
                <a16:creationId xmlns:a16="http://schemas.microsoft.com/office/drawing/2014/main" id="{7173077C-429C-4C0E-8F05-9FFAC62D1430}"/>
              </a:ext>
            </a:extLst>
          </p:cNvPr>
          <p:cNvSpPr>
            <a:spLocks noGrp="1"/>
          </p:cNvSpPr>
          <p:nvPr>
            <p:ph type="pic" idx="1"/>
          </p:nvPr>
        </p:nvSpPr>
        <p:spPr>
          <a:xfrm>
            <a:off x="3887391" y="987430"/>
            <a:ext cx="4629150" cy="5368924"/>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endParaRPr lang="cs-CZ"/>
          </a:p>
        </p:txBody>
      </p:sp>
      <p:sp>
        <p:nvSpPr>
          <p:cNvPr id="4" name="Zástupný text 3">
            <a:extLst>
              <a:ext uri="{FF2B5EF4-FFF2-40B4-BE49-F238E27FC236}">
                <a16:creationId xmlns:a16="http://schemas.microsoft.com/office/drawing/2014/main" id="{17844AFA-992F-4BE4-ABDB-10F592A4413F}"/>
              </a:ext>
            </a:extLst>
          </p:cNvPr>
          <p:cNvSpPr>
            <a:spLocks noGrp="1"/>
          </p:cNvSpPr>
          <p:nvPr>
            <p:ph type="body" sz="half" idx="2"/>
          </p:nvPr>
        </p:nvSpPr>
        <p:spPr>
          <a:xfrm>
            <a:off x="629841" y="2057399"/>
            <a:ext cx="2949178" cy="4298955"/>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C0442129-45B5-4C81-B28A-AA85D4F4DF76}"/>
              </a:ext>
            </a:extLst>
          </p:cNvPr>
          <p:cNvSpPr>
            <a:spLocks noGrp="1"/>
          </p:cNvSpPr>
          <p:nvPr>
            <p:ph type="dt" sz="half" idx="10"/>
          </p:nvPr>
        </p:nvSpPr>
        <p:spPr/>
        <p:txBody>
          <a:bodyPr/>
          <a:lstStyle/>
          <a:p>
            <a:fld id="{8B329ADC-2255-4EF3-B5C0-B90829E78CD9}" type="datetimeFigureOut">
              <a:rPr lang="cs-CZ" smtClean="0"/>
              <a:t>23.01.2026</a:t>
            </a:fld>
            <a:endParaRPr lang="cs-CZ"/>
          </a:p>
        </p:txBody>
      </p:sp>
      <p:sp>
        <p:nvSpPr>
          <p:cNvPr id="6" name="Zástupný symbol pro zápatí 5">
            <a:extLst>
              <a:ext uri="{FF2B5EF4-FFF2-40B4-BE49-F238E27FC236}">
                <a16:creationId xmlns:a16="http://schemas.microsoft.com/office/drawing/2014/main" id="{46712F59-4F02-4916-92FC-440DB3FE41D9}"/>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A893627A-E54A-4DF9-9A32-88F06F6E2D7D}"/>
              </a:ext>
            </a:extLst>
          </p:cNvPr>
          <p:cNvSpPr>
            <a:spLocks noGrp="1"/>
          </p:cNvSpPr>
          <p:nvPr>
            <p:ph type="sldNum" sz="quarter" idx="12"/>
          </p:nvPr>
        </p:nvSpPr>
        <p:spPr/>
        <p:txBody>
          <a:bodyPr/>
          <a:lstStyle/>
          <a:p>
            <a:fld id="{195CA258-668E-4A85-A197-2757C3BEE154}" type="slidenum">
              <a:rPr lang="cs-CZ" smtClean="0"/>
              <a:t>‹#›</a:t>
            </a:fld>
            <a:endParaRPr lang="cs-CZ"/>
          </a:p>
        </p:txBody>
      </p:sp>
    </p:spTree>
    <p:extLst>
      <p:ext uri="{BB962C8B-B14F-4D97-AF65-F5344CB8AC3E}">
        <p14:creationId xmlns:p14="http://schemas.microsoft.com/office/powerpoint/2010/main" val="3660211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4.sv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5.png"/><Relationship Id="rId18" Type="http://schemas.openxmlformats.org/officeDocument/2006/relationships/image" Target="../media/image10.sv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3.xml"/><Relationship Id="rId17" Type="http://schemas.openxmlformats.org/officeDocument/2006/relationships/image" Target="../media/image9.png"/><Relationship Id="rId2" Type="http://schemas.openxmlformats.org/officeDocument/2006/relationships/slideLayout" Target="../slideLayouts/slideLayout4.xml"/><Relationship Id="rId16" Type="http://schemas.openxmlformats.org/officeDocument/2006/relationships/image" Target="../media/image8.svg"/><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image" Target="../media/image7.png"/><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6.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Grafický objekt 7">
            <a:extLst>
              <a:ext uri="{FF2B5EF4-FFF2-40B4-BE49-F238E27FC236}">
                <a16:creationId xmlns:a16="http://schemas.microsoft.com/office/drawing/2014/main" id="{719039ED-503B-4BFC-8729-F0E04FD071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 y="-3085"/>
            <a:ext cx="9144000" cy="6861085"/>
          </a:xfrm>
          <a:prstGeom prst="rect">
            <a:avLst/>
          </a:prstGeom>
        </p:spPr>
      </p:pic>
      <p:sp>
        <p:nvSpPr>
          <p:cNvPr id="2" name="Zástupný nadpis 1">
            <a:extLst>
              <a:ext uri="{FF2B5EF4-FFF2-40B4-BE49-F238E27FC236}">
                <a16:creationId xmlns:a16="http://schemas.microsoft.com/office/drawing/2014/main" id="{6144A193-2443-4336-B8E6-567C50C42C32}"/>
              </a:ext>
            </a:extLst>
          </p:cNvPr>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cs-CZ" dirty="0"/>
              <a:t>Kliknutím lze upravit styl.</a:t>
            </a:r>
          </a:p>
        </p:txBody>
      </p:sp>
      <p:sp>
        <p:nvSpPr>
          <p:cNvPr id="3" name="Zástupný text 2">
            <a:extLst>
              <a:ext uri="{FF2B5EF4-FFF2-40B4-BE49-F238E27FC236}">
                <a16:creationId xmlns:a16="http://schemas.microsoft.com/office/drawing/2014/main" id="{6B62FE8A-B6A8-4920-9B7E-768DE3DF4B4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4" name="Zástupný symbol pro datum 3">
            <a:extLst>
              <a:ext uri="{FF2B5EF4-FFF2-40B4-BE49-F238E27FC236}">
                <a16:creationId xmlns:a16="http://schemas.microsoft.com/office/drawing/2014/main" id="{8712BF67-B920-4B8E-84CF-AAC489B8ABDB}"/>
              </a:ext>
            </a:extLst>
          </p:cNvPr>
          <p:cNvSpPr>
            <a:spLocks noGrp="1"/>
          </p:cNvSpPr>
          <p:nvPr>
            <p:ph type="dt" sz="half" idx="2"/>
          </p:nvPr>
        </p:nvSpPr>
        <p:spPr>
          <a:xfrm>
            <a:off x="628650" y="6356355"/>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D529CD2-0146-4F3B-A4AA-75EB0CF2F752}" type="datetimeFigureOut">
              <a:rPr lang="cs-CZ" smtClean="0"/>
              <a:t>23.01.2026</a:t>
            </a:fld>
            <a:endParaRPr lang="cs-CZ"/>
          </a:p>
        </p:txBody>
      </p:sp>
      <p:sp>
        <p:nvSpPr>
          <p:cNvPr id="5" name="Zástupný symbol pro zápatí 4">
            <a:extLst>
              <a:ext uri="{FF2B5EF4-FFF2-40B4-BE49-F238E27FC236}">
                <a16:creationId xmlns:a16="http://schemas.microsoft.com/office/drawing/2014/main" id="{985ED088-792C-4229-99A4-13C382DAC64D}"/>
              </a:ext>
            </a:extLst>
          </p:cNvPr>
          <p:cNvSpPr>
            <a:spLocks noGrp="1"/>
          </p:cNvSpPr>
          <p:nvPr>
            <p:ph type="ftr" sz="quarter" idx="3"/>
          </p:nvPr>
        </p:nvSpPr>
        <p:spPr>
          <a:xfrm>
            <a:off x="3028950" y="6356355"/>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cs-CZ"/>
          </a:p>
        </p:txBody>
      </p:sp>
      <p:sp>
        <p:nvSpPr>
          <p:cNvPr id="6" name="Zástupný symbol pro číslo snímku 5">
            <a:extLst>
              <a:ext uri="{FF2B5EF4-FFF2-40B4-BE49-F238E27FC236}">
                <a16:creationId xmlns:a16="http://schemas.microsoft.com/office/drawing/2014/main" id="{8FF2DEB4-37E5-4BE0-984C-F6914BD2CAC6}"/>
              </a:ext>
            </a:extLst>
          </p:cNvPr>
          <p:cNvSpPr>
            <a:spLocks noGrp="1"/>
          </p:cNvSpPr>
          <p:nvPr>
            <p:ph type="sldNum" sz="quarter" idx="4"/>
          </p:nvPr>
        </p:nvSpPr>
        <p:spPr>
          <a:xfrm>
            <a:off x="6457950" y="6356355"/>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249FAB3-BFA5-4172-A475-10F9ABCB38BA}" type="slidenum">
              <a:rPr lang="cs-CZ" smtClean="0"/>
              <a:t>‹#›</a:t>
            </a:fld>
            <a:endParaRPr lang="cs-CZ"/>
          </a:p>
        </p:txBody>
      </p:sp>
    </p:spTree>
    <p:extLst>
      <p:ext uri="{BB962C8B-B14F-4D97-AF65-F5344CB8AC3E}">
        <p14:creationId xmlns:p14="http://schemas.microsoft.com/office/powerpoint/2010/main" val="1604509491"/>
      </p:ext>
    </p:extLst>
  </p:cSld>
  <p:clrMap bg1="lt1" tx1="dk1" bg2="lt2" tx2="dk2" accent1="accent1" accent2="accent2" accent3="accent3" accent4="accent4" accent5="accent5" accent6="accent6" hlink="hlink" folHlink="folHlink"/>
  <p:sldLayoutIdLst>
    <p:sldLayoutId id="2147483675"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783" rtl="0" eaLnBrk="1" latinLnBrk="0" hangingPunct="1">
        <a:lnSpc>
          <a:spcPct val="90000"/>
        </a:lnSpc>
        <a:spcBef>
          <a:spcPct val="0"/>
        </a:spcBef>
        <a:buNone/>
        <a:defRPr sz="3300" kern="1200">
          <a:solidFill>
            <a:srgbClr val="4A4A49"/>
          </a:solidFill>
          <a:latin typeface="Arial" panose="020B0604020202020204" pitchFamily="34" charset="0"/>
          <a:ea typeface="+mj-ea"/>
          <a:cs typeface="Arial" panose="020B0604020202020204" pitchFamily="34" charset="0"/>
        </a:defRPr>
      </a:lvl1pPr>
    </p:titleStyle>
    <p:bodyStyle>
      <a:lvl1pPr marL="171446" indent="-171446" algn="l" defTabSz="685783" rtl="0" eaLnBrk="1" latinLnBrk="0" hangingPunct="1">
        <a:lnSpc>
          <a:spcPct val="90000"/>
        </a:lnSpc>
        <a:spcBef>
          <a:spcPts val="750"/>
        </a:spcBef>
        <a:buClr>
          <a:srgbClr val="009881"/>
        </a:buClr>
        <a:buFont typeface="Arial" panose="020B0604020202020204" pitchFamily="34" charset="0"/>
        <a:buChar char="•"/>
        <a:defRPr sz="2100" kern="1200">
          <a:solidFill>
            <a:srgbClr val="4A4A49"/>
          </a:solidFill>
          <a:latin typeface="Arial" panose="020B0604020202020204" pitchFamily="34" charset="0"/>
          <a:ea typeface="+mn-ea"/>
          <a:cs typeface="Arial" panose="020B0604020202020204" pitchFamily="34" charset="0"/>
        </a:defRPr>
      </a:lvl1pPr>
      <a:lvl2pPr marL="514337" indent="-171446" algn="l" defTabSz="685783" rtl="0" eaLnBrk="1" latinLnBrk="0" hangingPunct="1">
        <a:lnSpc>
          <a:spcPct val="90000"/>
        </a:lnSpc>
        <a:spcBef>
          <a:spcPts val="375"/>
        </a:spcBef>
        <a:buClr>
          <a:srgbClr val="009881"/>
        </a:buClr>
        <a:buFont typeface="Arial" panose="020B0604020202020204" pitchFamily="34" charset="0"/>
        <a:buChar char="•"/>
        <a:defRPr sz="1800" kern="1200">
          <a:solidFill>
            <a:srgbClr val="4A4A49"/>
          </a:solidFill>
          <a:latin typeface="Arial" panose="020B0604020202020204" pitchFamily="34" charset="0"/>
          <a:ea typeface="+mn-ea"/>
          <a:cs typeface="Arial" panose="020B0604020202020204" pitchFamily="34" charset="0"/>
        </a:defRPr>
      </a:lvl2pPr>
      <a:lvl3pPr marL="857228" indent="-171446" algn="l" defTabSz="685783" rtl="0" eaLnBrk="1" latinLnBrk="0" hangingPunct="1">
        <a:lnSpc>
          <a:spcPct val="90000"/>
        </a:lnSpc>
        <a:spcBef>
          <a:spcPts val="375"/>
        </a:spcBef>
        <a:buClr>
          <a:srgbClr val="009881"/>
        </a:buClr>
        <a:buFont typeface="Arial" panose="020B0604020202020204" pitchFamily="34" charset="0"/>
        <a:buChar char="•"/>
        <a:defRPr sz="1500" kern="1200">
          <a:solidFill>
            <a:srgbClr val="4A4A49"/>
          </a:solidFill>
          <a:latin typeface="Arial" panose="020B0604020202020204" pitchFamily="34" charset="0"/>
          <a:ea typeface="+mn-ea"/>
          <a:cs typeface="Arial" panose="020B0604020202020204" pitchFamily="34" charset="0"/>
        </a:defRPr>
      </a:lvl3pPr>
      <a:lvl4pPr marL="1200120" indent="-171446" algn="l" defTabSz="685783" rtl="0" eaLnBrk="1" latinLnBrk="0" hangingPunct="1">
        <a:lnSpc>
          <a:spcPct val="90000"/>
        </a:lnSpc>
        <a:spcBef>
          <a:spcPts val="375"/>
        </a:spcBef>
        <a:buClr>
          <a:srgbClr val="009881"/>
        </a:buClr>
        <a:buFont typeface="Arial" panose="020B0604020202020204" pitchFamily="34" charset="0"/>
        <a:buChar char="•"/>
        <a:defRPr sz="1350" kern="1200">
          <a:solidFill>
            <a:srgbClr val="4A4A49"/>
          </a:solidFill>
          <a:latin typeface="Arial" panose="020B0604020202020204" pitchFamily="34" charset="0"/>
          <a:ea typeface="+mn-ea"/>
          <a:cs typeface="Arial" panose="020B0604020202020204" pitchFamily="34" charset="0"/>
        </a:defRPr>
      </a:lvl4pPr>
      <a:lvl5pPr marL="1543012" indent="-171446" algn="l" defTabSz="685783" rtl="0" eaLnBrk="1" latinLnBrk="0" hangingPunct="1">
        <a:lnSpc>
          <a:spcPct val="90000"/>
        </a:lnSpc>
        <a:spcBef>
          <a:spcPts val="375"/>
        </a:spcBef>
        <a:buClr>
          <a:srgbClr val="009881"/>
        </a:buClr>
        <a:buFont typeface="Arial" panose="020B0604020202020204" pitchFamily="34" charset="0"/>
        <a:buChar char="•"/>
        <a:defRPr sz="1350" kern="1200">
          <a:solidFill>
            <a:srgbClr val="4A4A49"/>
          </a:solidFill>
          <a:latin typeface="Arial" panose="020B0604020202020204" pitchFamily="34" charset="0"/>
          <a:ea typeface="+mn-ea"/>
          <a:cs typeface="Arial" panose="020B060402020202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cs-CZ"/>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fický objekt 6">
            <a:extLst>
              <a:ext uri="{FF2B5EF4-FFF2-40B4-BE49-F238E27FC236}">
                <a16:creationId xmlns:a16="http://schemas.microsoft.com/office/drawing/2014/main" id="{D3D61E27-7486-4CBD-80A0-7CDBAF7D7AF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3085"/>
            <a:ext cx="9144000" cy="6861085"/>
          </a:xfrm>
          <a:prstGeom prst="rect">
            <a:avLst/>
          </a:prstGeom>
        </p:spPr>
      </p:pic>
      <p:sp>
        <p:nvSpPr>
          <p:cNvPr id="2" name="Zástupný nadpis 1">
            <a:extLst>
              <a:ext uri="{FF2B5EF4-FFF2-40B4-BE49-F238E27FC236}">
                <a16:creationId xmlns:a16="http://schemas.microsoft.com/office/drawing/2014/main" id="{6144A193-2443-4336-B8E6-567C50C42C32}"/>
              </a:ext>
            </a:extLst>
          </p:cNvPr>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cs-CZ" dirty="0"/>
              <a:t>Kliknutím lze upravit styl.</a:t>
            </a:r>
          </a:p>
        </p:txBody>
      </p:sp>
      <p:sp>
        <p:nvSpPr>
          <p:cNvPr id="3" name="Zástupný text 2">
            <a:extLst>
              <a:ext uri="{FF2B5EF4-FFF2-40B4-BE49-F238E27FC236}">
                <a16:creationId xmlns:a16="http://schemas.microsoft.com/office/drawing/2014/main" id="{6B62FE8A-B6A8-4920-9B7E-768DE3DF4B4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4" name="Zástupný symbol pro datum 3">
            <a:extLst>
              <a:ext uri="{FF2B5EF4-FFF2-40B4-BE49-F238E27FC236}">
                <a16:creationId xmlns:a16="http://schemas.microsoft.com/office/drawing/2014/main" id="{8712BF67-B920-4B8E-84CF-AAC489B8ABDB}"/>
              </a:ext>
            </a:extLst>
          </p:cNvPr>
          <p:cNvSpPr>
            <a:spLocks noGrp="1"/>
          </p:cNvSpPr>
          <p:nvPr>
            <p:ph type="dt" sz="half" idx="2"/>
          </p:nvPr>
        </p:nvSpPr>
        <p:spPr>
          <a:xfrm>
            <a:off x="628650" y="6356355"/>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D529CD2-0146-4F3B-A4AA-75EB0CF2F752}" type="datetimeFigureOut">
              <a:rPr lang="cs-CZ" smtClean="0"/>
              <a:t>23.01.2026</a:t>
            </a:fld>
            <a:endParaRPr lang="cs-CZ"/>
          </a:p>
        </p:txBody>
      </p:sp>
      <p:sp>
        <p:nvSpPr>
          <p:cNvPr id="5" name="Zástupný symbol pro zápatí 4">
            <a:extLst>
              <a:ext uri="{FF2B5EF4-FFF2-40B4-BE49-F238E27FC236}">
                <a16:creationId xmlns:a16="http://schemas.microsoft.com/office/drawing/2014/main" id="{985ED088-792C-4229-99A4-13C382DAC64D}"/>
              </a:ext>
            </a:extLst>
          </p:cNvPr>
          <p:cNvSpPr>
            <a:spLocks noGrp="1"/>
          </p:cNvSpPr>
          <p:nvPr>
            <p:ph type="ftr" sz="quarter" idx="3"/>
          </p:nvPr>
        </p:nvSpPr>
        <p:spPr>
          <a:xfrm>
            <a:off x="3028950" y="6356355"/>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cs-CZ"/>
          </a:p>
        </p:txBody>
      </p:sp>
      <p:sp>
        <p:nvSpPr>
          <p:cNvPr id="6" name="Zástupný symbol pro číslo snímku 5">
            <a:extLst>
              <a:ext uri="{FF2B5EF4-FFF2-40B4-BE49-F238E27FC236}">
                <a16:creationId xmlns:a16="http://schemas.microsoft.com/office/drawing/2014/main" id="{8FF2DEB4-37E5-4BE0-984C-F6914BD2CAC6}"/>
              </a:ext>
            </a:extLst>
          </p:cNvPr>
          <p:cNvSpPr>
            <a:spLocks noGrp="1"/>
          </p:cNvSpPr>
          <p:nvPr>
            <p:ph type="sldNum" sz="quarter" idx="4"/>
          </p:nvPr>
        </p:nvSpPr>
        <p:spPr>
          <a:xfrm>
            <a:off x="6457950" y="6356355"/>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249FAB3-BFA5-4172-A475-10F9ABCB38BA}" type="slidenum">
              <a:rPr lang="cs-CZ" smtClean="0"/>
              <a:t>‹#›</a:t>
            </a:fld>
            <a:endParaRPr lang="cs-CZ"/>
          </a:p>
        </p:txBody>
      </p:sp>
    </p:spTree>
    <p:extLst>
      <p:ext uri="{BB962C8B-B14F-4D97-AF65-F5344CB8AC3E}">
        <p14:creationId xmlns:p14="http://schemas.microsoft.com/office/powerpoint/2010/main" val="2985974423"/>
      </p:ext>
    </p:extLst>
  </p:cSld>
  <p:clrMap bg1="lt1" tx1="dk1" bg2="lt2" tx2="dk2" accent1="accent1" accent2="accent2" accent3="accent3" accent4="accent4" accent5="accent5" accent6="accent6" hlink="hlink" folHlink="folHlink"/>
  <p:sldLayoutIdLst>
    <p:sldLayoutId id="2147483677"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783" rtl="0" eaLnBrk="1" latinLnBrk="0" hangingPunct="1">
        <a:lnSpc>
          <a:spcPct val="90000"/>
        </a:lnSpc>
        <a:spcBef>
          <a:spcPct val="0"/>
        </a:spcBef>
        <a:buNone/>
        <a:defRPr sz="3300" kern="1200">
          <a:solidFill>
            <a:schemeClr val="bg1"/>
          </a:solidFill>
          <a:latin typeface="Arial" panose="020B0604020202020204" pitchFamily="34" charset="0"/>
          <a:ea typeface="+mj-ea"/>
          <a:cs typeface="Arial" panose="020B0604020202020204" pitchFamily="34" charset="0"/>
        </a:defRPr>
      </a:lvl1pPr>
    </p:titleStyle>
    <p:bodyStyle>
      <a:lvl1pPr marL="171446" indent="-171446" algn="l" defTabSz="685783" rtl="0" eaLnBrk="1" latinLnBrk="0" hangingPunct="1">
        <a:lnSpc>
          <a:spcPct val="90000"/>
        </a:lnSpc>
        <a:spcBef>
          <a:spcPts val="750"/>
        </a:spcBef>
        <a:buClr>
          <a:srgbClr val="89F7E2"/>
        </a:buClr>
        <a:buFont typeface="Arial" panose="020B0604020202020204" pitchFamily="34" charset="0"/>
        <a:buChar char="•"/>
        <a:defRPr sz="2100" kern="1200">
          <a:solidFill>
            <a:schemeClr val="bg1"/>
          </a:solidFill>
          <a:latin typeface="Arial" panose="020B0604020202020204" pitchFamily="34" charset="0"/>
          <a:ea typeface="+mn-ea"/>
          <a:cs typeface="Arial" panose="020B0604020202020204" pitchFamily="34" charset="0"/>
        </a:defRPr>
      </a:lvl1pPr>
      <a:lvl2pPr marL="514337" indent="-171446" algn="l" defTabSz="685783" rtl="0" eaLnBrk="1" latinLnBrk="0" hangingPunct="1">
        <a:lnSpc>
          <a:spcPct val="90000"/>
        </a:lnSpc>
        <a:spcBef>
          <a:spcPts val="375"/>
        </a:spcBef>
        <a:buClr>
          <a:srgbClr val="89F7E2"/>
        </a:buClr>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2pPr>
      <a:lvl3pPr marL="857228" indent="-171446" algn="l" defTabSz="685783" rtl="0" eaLnBrk="1" latinLnBrk="0" hangingPunct="1">
        <a:lnSpc>
          <a:spcPct val="90000"/>
        </a:lnSpc>
        <a:spcBef>
          <a:spcPts val="375"/>
        </a:spcBef>
        <a:buClr>
          <a:srgbClr val="89F7E2"/>
        </a:buClr>
        <a:buFont typeface="Arial" panose="020B0604020202020204" pitchFamily="34" charset="0"/>
        <a:buChar char="•"/>
        <a:defRPr sz="1500" kern="1200">
          <a:solidFill>
            <a:schemeClr val="bg1"/>
          </a:solidFill>
          <a:latin typeface="Arial" panose="020B0604020202020204" pitchFamily="34" charset="0"/>
          <a:ea typeface="+mn-ea"/>
          <a:cs typeface="Arial" panose="020B0604020202020204" pitchFamily="34" charset="0"/>
        </a:defRPr>
      </a:lvl3pPr>
      <a:lvl4pPr marL="1200120" indent="-171446" algn="l" defTabSz="685783" rtl="0" eaLnBrk="1" latinLnBrk="0" hangingPunct="1">
        <a:lnSpc>
          <a:spcPct val="90000"/>
        </a:lnSpc>
        <a:spcBef>
          <a:spcPts val="375"/>
        </a:spcBef>
        <a:buClr>
          <a:srgbClr val="89F7E2"/>
        </a:buClr>
        <a:buFont typeface="Arial" panose="020B0604020202020204" pitchFamily="34" charset="0"/>
        <a:buChar char="•"/>
        <a:defRPr sz="1350" kern="1200">
          <a:solidFill>
            <a:schemeClr val="bg1"/>
          </a:solidFill>
          <a:latin typeface="Arial" panose="020B0604020202020204" pitchFamily="34" charset="0"/>
          <a:ea typeface="+mn-ea"/>
          <a:cs typeface="Arial" panose="020B0604020202020204" pitchFamily="34" charset="0"/>
        </a:defRPr>
      </a:lvl4pPr>
      <a:lvl5pPr marL="1543012" indent="-171446" algn="l" defTabSz="685783" rtl="0" eaLnBrk="1" latinLnBrk="0" hangingPunct="1">
        <a:lnSpc>
          <a:spcPct val="90000"/>
        </a:lnSpc>
        <a:spcBef>
          <a:spcPts val="375"/>
        </a:spcBef>
        <a:buClr>
          <a:srgbClr val="89F7E2"/>
        </a:buClr>
        <a:buFont typeface="Arial" panose="020B0604020202020204" pitchFamily="34" charset="0"/>
        <a:buChar char="•"/>
        <a:defRPr sz="1350" kern="1200">
          <a:solidFill>
            <a:schemeClr val="bg1"/>
          </a:solidFill>
          <a:latin typeface="Arial" panose="020B0604020202020204" pitchFamily="34" charset="0"/>
          <a:ea typeface="+mn-ea"/>
          <a:cs typeface="Arial" panose="020B060402020202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cs-CZ"/>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Grafický objekt 13">
            <a:extLst>
              <a:ext uri="{FF2B5EF4-FFF2-40B4-BE49-F238E27FC236}">
                <a16:creationId xmlns:a16="http://schemas.microsoft.com/office/drawing/2014/main" id="{1664D167-1933-44B8-9DE6-BCF4B4ADB8DE}"/>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125" y="8313"/>
            <a:ext cx="9148126" cy="6858000"/>
          </a:xfrm>
          <a:prstGeom prst="rect">
            <a:avLst/>
          </a:prstGeom>
        </p:spPr>
      </p:pic>
      <p:pic>
        <p:nvPicPr>
          <p:cNvPr id="9" name="Grafický objekt 8">
            <a:extLst>
              <a:ext uri="{FF2B5EF4-FFF2-40B4-BE49-F238E27FC236}">
                <a16:creationId xmlns:a16="http://schemas.microsoft.com/office/drawing/2014/main" id="{D89BE277-1B57-4A04-A616-0D6719FD6A11}"/>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6546539" y="360307"/>
            <a:ext cx="179594" cy="179594"/>
          </a:xfrm>
          <a:prstGeom prst="rect">
            <a:avLst/>
          </a:prstGeom>
        </p:spPr>
      </p:pic>
      <p:pic>
        <p:nvPicPr>
          <p:cNvPr id="13" name="Grafický objekt 12">
            <a:extLst>
              <a:ext uri="{FF2B5EF4-FFF2-40B4-BE49-F238E27FC236}">
                <a16:creationId xmlns:a16="http://schemas.microsoft.com/office/drawing/2014/main" id="{3CE1673A-F13A-49C1-A0F3-7628437F7F90}"/>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7684010" y="360307"/>
            <a:ext cx="179594" cy="179594"/>
          </a:xfrm>
          <a:prstGeom prst="rect">
            <a:avLst/>
          </a:prstGeom>
        </p:spPr>
      </p:pic>
      <p:sp>
        <p:nvSpPr>
          <p:cNvPr id="2" name="Zástupný nadpis 1">
            <a:extLst>
              <a:ext uri="{FF2B5EF4-FFF2-40B4-BE49-F238E27FC236}">
                <a16:creationId xmlns:a16="http://schemas.microsoft.com/office/drawing/2014/main" id="{07A972C7-80EA-4001-A2C8-48457C7841CF}"/>
              </a:ext>
            </a:extLst>
          </p:cNvPr>
          <p:cNvSpPr>
            <a:spLocks noGrp="1"/>
          </p:cNvSpPr>
          <p:nvPr>
            <p:ph type="title"/>
          </p:nvPr>
        </p:nvSpPr>
        <p:spPr>
          <a:xfrm>
            <a:off x="628650" y="1100016"/>
            <a:ext cx="7779544" cy="689952"/>
          </a:xfrm>
          <a:prstGeom prst="rect">
            <a:avLst/>
          </a:prstGeom>
        </p:spPr>
        <p:txBody>
          <a:bodyPr vert="horz" lIns="91440" tIns="45720" rIns="91440" bIns="45720" rtlCol="0" anchor="t">
            <a:normAutofit/>
          </a:bodyPr>
          <a:lstStyle/>
          <a:p>
            <a:r>
              <a:rPr lang="cs-CZ" dirty="0"/>
              <a:t>Kliknutím lze upravit styl.</a:t>
            </a:r>
          </a:p>
        </p:txBody>
      </p:sp>
      <p:sp>
        <p:nvSpPr>
          <p:cNvPr id="3" name="Zástupný text 2">
            <a:extLst>
              <a:ext uri="{FF2B5EF4-FFF2-40B4-BE49-F238E27FC236}">
                <a16:creationId xmlns:a16="http://schemas.microsoft.com/office/drawing/2014/main" id="{04A64F96-20EB-4338-812A-2CF45FA870DD}"/>
              </a:ext>
            </a:extLst>
          </p:cNvPr>
          <p:cNvSpPr>
            <a:spLocks noGrp="1"/>
          </p:cNvSpPr>
          <p:nvPr>
            <p:ph type="body" idx="1"/>
          </p:nvPr>
        </p:nvSpPr>
        <p:spPr>
          <a:xfrm>
            <a:off x="628650" y="1924055"/>
            <a:ext cx="7779544" cy="4191489"/>
          </a:xfrm>
          <a:prstGeom prst="rect">
            <a:avLst/>
          </a:prstGeom>
        </p:spPr>
        <p:txBody>
          <a:bodyPr vert="horz" lIns="91440" tIns="45720" rIns="91440" bIns="45720" rtlCol="0">
            <a:normAutofit/>
          </a:body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4" name="Zástupný symbol pro datum 3">
            <a:extLst>
              <a:ext uri="{FF2B5EF4-FFF2-40B4-BE49-F238E27FC236}">
                <a16:creationId xmlns:a16="http://schemas.microsoft.com/office/drawing/2014/main" id="{B849455D-C2AF-42AF-A377-1FD957033899}"/>
              </a:ext>
            </a:extLst>
          </p:cNvPr>
          <p:cNvSpPr>
            <a:spLocks noGrp="1"/>
          </p:cNvSpPr>
          <p:nvPr>
            <p:ph type="dt" sz="half" idx="2"/>
          </p:nvPr>
        </p:nvSpPr>
        <p:spPr>
          <a:xfrm>
            <a:off x="628650" y="6356355"/>
            <a:ext cx="2057400" cy="365125"/>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8B329ADC-2255-4EF3-B5C0-B90829E78CD9}" type="datetimeFigureOut">
              <a:rPr lang="cs-CZ" smtClean="0"/>
              <a:pPr/>
              <a:t>23.01.2026</a:t>
            </a:fld>
            <a:endParaRPr lang="cs-CZ" dirty="0">
              <a:latin typeface="Arial" panose="020B0604020202020204" pitchFamily="34" charset="0"/>
              <a:cs typeface="Arial" panose="020B0604020202020204" pitchFamily="34" charset="0"/>
            </a:endParaRPr>
          </a:p>
        </p:txBody>
      </p:sp>
      <p:sp>
        <p:nvSpPr>
          <p:cNvPr id="5" name="Zástupný symbol pro zápatí 4">
            <a:extLst>
              <a:ext uri="{FF2B5EF4-FFF2-40B4-BE49-F238E27FC236}">
                <a16:creationId xmlns:a16="http://schemas.microsoft.com/office/drawing/2014/main" id="{FE38892D-BE40-4B7B-98A7-1B108AC51AEA}"/>
              </a:ext>
            </a:extLst>
          </p:cNvPr>
          <p:cNvSpPr>
            <a:spLocks noGrp="1"/>
          </p:cNvSpPr>
          <p:nvPr>
            <p:ph type="ftr" sz="quarter" idx="3"/>
          </p:nvPr>
        </p:nvSpPr>
        <p:spPr>
          <a:xfrm>
            <a:off x="3028950" y="6356355"/>
            <a:ext cx="3086100" cy="365125"/>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endParaRPr lang="cs-CZ" dirty="0">
              <a:latin typeface="Arial" panose="020B0604020202020204" pitchFamily="34" charset="0"/>
              <a:cs typeface="Arial" panose="020B0604020202020204" pitchFamily="34" charset="0"/>
            </a:endParaRPr>
          </a:p>
        </p:txBody>
      </p:sp>
      <p:sp>
        <p:nvSpPr>
          <p:cNvPr id="6" name="Zástupný symbol pro číslo snímku 5">
            <a:extLst>
              <a:ext uri="{FF2B5EF4-FFF2-40B4-BE49-F238E27FC236}">
                <a16:creationId xmlns:a16="http://schemas.microsoft.com/office/drawing/2014/main" id="{C1406528-E83B-4FF2-81FD-6E1ED0DE80F9}"/>
              </a:ext>
            </a:extLst>
          </p:cNvPr>
          <p:cNvSpPr>
            <a:spLocks noGrp="1"/>
          </p:cNvSpPr>
          <p:nvPr>
            <p:ph type="sldNum" sz="quarter" idx="4"/>
          </p:nvPr>
        </p:nvSpPr>
        <p:spPr>
          <a:xfrm>
            <a:off x="6425530" y="6356355"/>
            <a:ext cx="1982666" cy="365125"/>
          </a:xfrm>
          <a:prstGeom prst="rect">
            <a:avLst/>
          </a:prstGeom>
        </p:spPr>
        <p:txBody>
          <a:bodyPr vert="horz" lIns="91440" tIns="45720" rIns="91440" bIns="45720" rtlCol="0" anchor="ctr"/>
          <a:lstStyle>
            <a:lvl1pPr algn="r">
              <a:defRPr sz="900">
                <a:solidFill>
                  <a:schemeClr val="tx1">
                    <a:tint val="75000"/>
                  </a:schemeClr>
                </a:solidFill>
                <a:latin typeface="Arial" panose="020B0604020202020204" pitchFamily="34" charset="0"/>
                <a:cs typeface="Arial" panose="020B0604020202020204" pitchFamily="34" charset="0"/>
              </a:defRPr>
            </a:lvl1pPr>
          </a:lstStyle>
          <a:p>
            <a:fld id="{195CA258-668E-4A85-A197-2757C3BEE154}" type="slidenum">
              <a:rPr lang="cs-CZ" smtClean="0"/>
              <a:pPr/>
              <a:t>‹#›</a:t>
            </a:fld>
            <a:endParaRPr lang="cs-CZ" dirty="0">
              <a:latin typeface="Arial" panose="020B0604020202020204" pitchFamily="34" charset="0"/>
              <a:cs typeface="Arial" panose="020B0604020202020204" pitchFamily="34" charset="0"/>
            </a:endParaRPr>
          </a:p>
        </p:txBody>
      </p:sp>
      <p:sp>
        <p:nvSpPr>
          <p:cNvPr id="10" name="Zástupný nadpis 1">
            <a:extLst>
              <a:ext uri="{FF2B5EF4-FFF2-40B4-BE49-F238E27FC236}">
                <a16:creationId xmlns:a16="http://schemas.microsoft.com/office/drawing/2014/main" id="{6CADA8D1-4B1D-49C0-B645-EB5D43487BC1}"/>
              </a:ext>
            </a:extLst>
          </p:cNvPr>
          <p:cNvSpPr txBox="1">
            <a:spLocks/>
          </p:cNvSpPr>
          <p:nvPr userDrawn="1"/>
        </p:nvSpPr>
        <p:spPr>
          <a:xfrm>
            <a:off x="8815389" y="6436824"/>
            <a:ext cx="416717" cy="452926"/>
          </a:xfrm>
          <a:prstGeom prst="rect">
            <a:avLst/>
          </a:prstGeom>
        </p:spPr>
        <p:txBody>
          <a:bodyPr vert="horz" lIns="68580" tIns="34290" rIns="68580" bIns="34290" rtlCol="0" anchor="t">
            <a:normAutofit/>
          </a:bodyPr>
          <a:lstStyle>
            <a:lvl1pPr algn="l" defTabSz="914400" rtl="0" eaLnBrk="1" latinLnBrk="0" hangingPunct="1">
              <a:lnSpc>
                <a:spcPct val="90000"/>
              </a:lnSpc>
              <a:spcBef>
                <a:spcPct val="0"/>
              </a:spcBef>
              <a:buNone/>
              <a:defRPr sz="4000" kern="1200">
                <a:solidFill>
                  <a:srgbClr val="5BC4F1"/>
                </a:solidFill>
                <a:latin typeface="Arial" panose="020B0604020202020204" pitchFamily="34" charset="0"/>
                <a:ea typeface="+mj-ea"/>
                <a:cs typeface="Arial" panose="020B0604020202020204" pitchFamily="34" charset="0"/>
              </a:defRPr>
            </a:lvl1pPr>
          </a:lstStyle>
          <a:p>
            <a:pPr algn="ctr"/>
            <a:fld id="{166024C8-F27F-4469-B950-3CAEC9128C7E}" type="slidenum">
              <a:rPr lang="cs-CZ" sz="1100" smtClean="0">
                <a:solidFill>
                  <a:schemeClr val="bg1"/>
                </a:solidFill>
              </a:rPr>
              <a:pPr algn="ctr"/>
              <a:t>‹#›</a:t>
            </a:fld>
            <a:endParaRPr lang="cs-CZ" sz="3200" dirty="0">
              <a:solidFill>
                <a:schemeClr val="bg1"/>
              </a:solidFill>
            </a:endParaRPr>
          </a:p>
        </p:txBody>
      </p:sp>
      <p:sp>
        <p:nvSpPr>
          <p:cNvPr id="16" name="TextovéPole 15">
            <a:extLst>
              <a:ext uri="{FF2B5EF4-FFF2-40B4-BE49-F238E27FC236}">
                <a16:creationId xmlns:a16="http://schemas.microsoft.com/office/drawing/2014/main" id="{FCDCD643-C700-45E8-8816-DD3D4AEF500E}"/>
              </a:ext>
            </a:extLst>
          </p:cNvPr>
          <p:cNvSpPr txBox="1"/>
          <p:nvPr userDrawn="1"/>
        </p:nvSpPr>
        <p:spPr>
          <a:xfrm>
            <a:off x="6722748" y="299366"/>
            <a:ext cx="963643" cy="276999"/>
          </a:xfrm>
          <a:prstGeom prst="rect">
            <a:avLst/>
          </a:prstGeom>
          <a:noFill/>
        </p:spPr>
        <p:txBody>
          <a:bodyPr wrap="square" rtlCol="0">
            <a:spAutoFit/>
          </a:bodyPr>
          <a:lstStyle/>
          <a:p>
            <a:pPr algn="l"/>
            <a:r>
              <a:rPr lang="cs-CZ" sz="1200" dirty="0">
                <a:solidFill>
                  <a:srgbClr val="009881"/>
                </a:solidFill>
                <a:latin typeface="Arial" panose="020B0604020202020204" pitchFamily="34" charset="0"/>
                <a:cs typeface="Arial" panose="020B0604020202020204" pitchFamily="34" charset="0"/>
              </a:rPr>
              <a:t>fis.vse.cz</a:t>
            </a:r>
          </a:p>
        </p:txBody>
      </p:sp>
      <p:sp>
        <p:nvSpPr>
          <p:cNvPr id="17" name="TextovéPole 16">
            <a:extLst>
              <a:ext uri="{FF2B5EF4-FFF2-40B4-BE49-F238E27FC236}">
                <a16:creationId xmlns:a16="http://schemas.microsoft.com/office/drawing/2014/main" id="{68403B65-A3E4-4EA5-A348-D73A327280A2}"/>
              </a:ext>
            </a:extLst>
          </p:cNvPr>
          <p:cNvSpPr txBox="1"/>
          <p:nvPr userDrawn="1"/>
        </p:nvSpPr>
        <p:spPr>
          <a:xfrm>
            <a:off x="7851988" y="299366"/>
            <a:ext cx="1195923" cy="276999"/>
          </a:xfrm>
          <a:prstGeom prst="rect">
            <a:avLst/>
          </a:prstGeom>
          <a:noFill/>
        </p:spPr>
        <p:txBody>
          <a:bodyPr wrap="square" rtlCol="0">
            <a:spAutoFit/>
          </a:bodyPr>
          <a:lstStyle/>
          <a:p>
            <a:pPr algn="l"/>
            <a:r>
              <a:rPr lang="cs-CZ" sz="1200" dirty="0" err="1">
                <a:solidFill>
                  <a:srgbClr val="009881"/>
                </a:solidFill>
                <a:latin typeface="Arial" panose="020B0604020202020204" pitchFamily="34" charset="0"/>
                <a:cs typeface="Arial" panose="020B0604020202020204" pitchFamily="34" charset="0"/>
              </a:rPr>
              <a:t>fisvse</a:t>
            </a:r>
            <a:endParaRPr lang="cs-CZ" sz="1600" dirty="0">
              <a:solidFill>
                <a:srgbClr val="00988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9205474"/>
      </p:ext>
    </p:extLst>
  </p:cSld>
  <p:clrMap bg1="lt1" tx1="dk1" bg2="lt2" tx2="dk2" accent1="accent1" accent2="accent2" accent3="accent3" accent4="accent4" accent5="accent5" accent6="accent6" hlink="hlink" folHlink="folHlink"/>
  <p:sldLayoutIdLst>
    <p:sldLayoutId id="2147483664" r:id="rId1"/>
    <p:sldLayoutId id="2147483663" r:id="rId2"/>
    <p:sldLayoutId id="2147483665" r:id="rId3"/>
    <p:sldLayoutId id="2147483666" r:id="rId4"/>
    <p:sldLayoutId id="2147483667" r:id="rId5"/>
    <p:sldLayoutId id="2147483668" r:id="rId6"/>
    <p:sldLayoutId id="2147483672" r:id="rId7"/>
    <p:sldLayoutId id="2147483669" r:id="rId8"/>
    <p:sldLayoutId id="2147483673"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783" rtl="0" eaLnBrk="1" latinLnBrk="0" hangingPunct="1">
        <a:lnSpc>
          <a:spcPct val="90000"/>
        </a:lnSpc>
        <a:spcBef>
          <a:spcPct val="0"/>
        </a:spcBef>
        <a:buNone/>
        <a:defRPr sz="3000" kern="1200">
          <a:solidFill>
            <a:srgbClr val="009881"/>
          </a:solidFill>
          <a:latin typeface="Arial" panose="020B0604020202020204" pitchFamily="34" charset="0"/>
          <a:ea typeface="+mj-ea"/>
          <a:cs typeface="Arial" panose="020B0604020202020204" pitchFamily="34" charset="0"/>
        </a:defRPr>
      </a:lvl1pPr>
    </p:titleStyle>
    <p:bodyStyle>
      <a:lvl1pPr marL="171446" indent="-171446" algn="l" defTabSz="685783" rtl="0" eaLnBrk="1" latinLnBrk="0" hangingPunct="1">
        <a:lnSpc>
          <a:spcPct val="100000"/>
        </a:lnSpc>
        <a:spcBef>
          <a:spcPts val="750"/>
        </a:spcBef>
        <a:buClr>
          <a:srgbClr val="009881"/>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1pPr>
      <a:lvl2pPr marL="514337" indent="-171446" algn="l" defTabSz="685783" rtl="0" eaLnBrk="1" latinLnBrk="0" hangingPunct="1">
        <a:lnSpc>
          <a:spcPct val="100000"/>
        </a:lnSpc>
        <a:spcBef>
          <a:spcPts val="375"/>
        </a:spcBef>
        <a:buClr>
          <a:srgbClr val="009881"/>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28" indent="-171446" algn="l" defTabSz="685783" rtl="0" eaLnBrk="1" latinLnBrk="0" hangingPunct="1">
        <a:lnSpc>
          <a:spcPct val="100000"/>
        </a:lnSpc>
        <a:spcBef>
          <a:spcPts val="375"/>
        </a:spcBef>
        <a:buClr>
          <a:srgbClr val="009881"/>
        </a:buClr>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20" indent="-171446" algn="l" defTabSz="685783" rtl="0" eaLnBrk="1" latinLnBrk="0" hangingPunct="1">
        <a:lnSpc>
          <a:spcPct val="100000"/>
        </a:lnSpc>
        <a:spcBef>
          <a:spcPts val="375"/>
        </a:spcBef>
        <a:buClr>
          <a:srgbClr val="009881"/>
        </a:buClr>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12" indent="-171446" algn="l" defTabSz="685783" rtl="0" eaLnBrk="1" latinLnBrk="0" hangingPunct="1">
        <a:lnSpc>
          <a:spcPct val="100000"/>
        </a:lnSpc>
        <a:spcBef>
          <a:spcPts val="375"/>
        </a:spcBef>
        <a:buClr>
          <a:srgbClr val="009881"/>
        </a:buClr>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cs-CZ"/>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www.census.gov/data/tables/time-series/demo/popest/2020s-counties-detail.html" TargetMode="External"/><Relationship Id="rId2" Type="http://schemas.openxmlformats.org/officeDocument/2006/relationships/hyperlink" Target="https://github.com/nytimes/covid-19-data/blob/master/us-counties-2020.csv" TargetMode="External"/><Relationship Id="rId1" Type="http://schemas.openxmlformats.org/officeDocument/2006/relationships/slideLayout" Target="../slideLayouts/slideLayout3.xml"/><Relationship Id="rId4" Type="http://schemas.openxmlformats.org/officeDocument/2006/relationships/hyperlink" Target="https://www.census.gov/data/datasets/2020/demo/saipe/2020-state-and-county.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1">
            <a:extLst>
              <a:ext uri="{FF2B5EF4-FFF2-40B4-BE49-F238E27FC236}">
                <a16:creationId xmlns:a16="http://schemas.microsoft.com/office/drawing/2014/main" id="{FDA0EE84-57A3-437C-B722-52ACFBB5ED45}"/>
              </a:ext>
            </a:extLst>
          </p:cNvPr>
          <p:cNvSpPr>
            <a:spLocks noGrp="1"/>
          </p:cNvSpPr>
          <p:nvPr>
            <p:ph type="ctrTitle"/>
          </p:nvPr>
        </p:nvSpPr>
        <p:spPr>
          <a:xfrm>
            <a:off x="653591" y="2428716"/>
            <a:ext cx="7908788" cy="3250932"/>
          </a:xfrm>
        </p:spPr>
        <p:txBody>
          <a:bodyPr>
            <a:normAutofit/>
          </a:bodyPr>
          <a:lstStyle/>
          <a:p>
            <a:r>
              <a:rPr lang="es-ES" dirty="0"/>
              <a:t>Analýza vztahu mezi populací USA a COVID-19 případů​</a:t>
            </a:r>
            <a:endParaRPr lang="cs-CZ" dirty="0"/>
          </a:p>
        </p:txBody>
      </p:sp>
      <p:sp>
        <p:nvSpPr>
          <p:cNvPr id="8" name="Zástupný text 3">
            <a:extLst>
              <a:ext uri="{FF2B5EF4-FFF2-40B4-BE49-F238E27FC236}">
                <a16:creationId xmlns:a16="http://schemas.microsoft.com/office/drawing/2014/main" id="{E29E5E70-22CD-4E96-8CAB-90368F655649}"/>
              </a:ext>
            </a:extLst>
          </p:cNvPr>
          <p:cNvSpPr>
            <a:spLocks noGrp="1"/>
          </p:cNvSpPr>
          <p:nvPr>
            <p:ph type="body" idx="13"/>
          </p:nvPr>
        </p:nvSpPr>
        <p:spPr>
          <a:xfrm>
            <a:off x="4572000" y="662940"/>
            <a:ext cx="3984915" cy="519111"/>
          </a:xfrm>
        </p:spPr>
        <p:txBody>
          <a:bodyPr vert="horz" lIns="91440" tIns="45720" rIns="91440" bIns="45720" rtlCol="0" anchor="t">
            <a:normAutofit/>
          </a:bodyPr>
          <a:lstStyle/>
          <a:p>
            <a:r>
              <a:rPr lang="cs-CZ" sz="1050" dirty="0">
                <a:latin typeface="Arial"/>
                <a:cs typeface="Arial"/>
              </a:rPr>
              <a:t>Hana Žahourová zahh00@vse.cz </a:t>
            </a:r>
            <a:endParaRPr lang="cs-CZ" sz="1050" dirty="0"/>
          </a:p>
        </p:txBody>
      </p:sp>
      <p:sp>
        <p:nvSpPr>
          <p:cNvPr id="9" name="Zástupný text 4">
            <a:extLst>
              <a:ext uri="{FF2B5EF4-FFF2-40B4-BE49-F238E27FC236}">
                <a16:creationId xmlns:a16="http://schemas.microsoft.com/office/drawing/2014/main" id="{C9002A16-94F7-4B76-9824-2D769080A319}"/>
              </a:ext>
            </a:extLst>
          </p:cNvPr>
          <p:cNvSpPr>
            <a:spLocks noGrp="1"/>
          </p:cNvSpPr>
          <p:nvPr>
            <p:ph type="body" idx="14"/>
          </p:nvPr>
        </p:nvSpPr>
        <p:spPr>
          <a:xfrm>
            <a:off x="4838009" y="1030911"/>
            <a:ext cx="3718906" cy="311628"/>
          </a:xfrm>
        </p:spPr>
        <p:txBody>
          <a:bodyPr vert="horz" lIns="91440" tIns="45720" rIns="91440" bIns="45720" rtlCol="0" anchor="t">
            <a:normAutofit/>
          </a:bodyPr>
          <a:lstStyle/>
          <a:p>
            <a:r>
              <a:rPr lang="cs-CZ" dirty="0">
                <a:latin typeface="Arial"/>
                <a:cs typeface="Arial"/>
              </a:rPr>
              <a:t>Studijní program: Informační management</a:t>
            </a:r>
            <a:endParaRPr lang="cs-CZ" dirty="0"/>
          </a:p>
        </p:txBody>
      </p:sp>
      <p:sp>
        <p:nvSpPr>
          <p:cNvPr id="2" name="Zástupný text 4">
            <a:extLst>
              <a:ext uri="{FF2B5EF4-FFF2-40B4-BE49-F238E27FC236}">
                <a16:creationId xmlns:a16="http://schemas.microsoft.com/office/drawing/2014/main" id="{6DC8903B-1E09-1F86-58A9-F8FAB7A289F8}"/>
              </a:ext>
            </a:extLst>
          </p:cNvPr>
          <p:cNvSpPr txBox="1">
            <a:spLocks/>
          </p:cNvSpPr>
          <p:nvPr/>
        </p:nvSpPr>
        <p:spPr>
          <a:xfrm>
            <a:off x="4838009" y="1402766"/>
            <a:ext cx="3718906" cy="311628"/>
          </a:xfrm>
          <a:prstGeom prst="rect">
            <a:avLst/>
          </a:prstGeom>
        </p:spPr>
        <p:txBody>
          <a:bodyPr vert="horz" lIns="91440" tIns="45720" rIns="91440" bIns="45720" rtlCol="0" anchor="t">
            <a:normAutofit/>
          </a:bodyPr>
          <a:lstStyle>
            <a:lvl1pPr marL="0" indent="0" algn="r" defTabSz="685783" rtl="0" eaLnBrk="1" latinLnBrk="0" hangingPunct="1">
              <a:lnSpc>
                <a:spcPct val="90000"/>
              </a:lnSpc>
              <a:spcBef>
                <a:spcPts val="750"/>
              </a:spcBef>
              <a:buClr>
                <a:srgbClr val="009881"/>
              </a:buClr>
              <a:buFont typeface="Arial" panose="020B0604020202020204" pitchFamily="34" charset="0"/>
              <a:buNone/>
              <a:defRPr sz="1400" kern="1200">
                <a:solidFill>
                  <a:srgbClr val="4A4A49"/>
                </a:solidFill>
                <a:latin typeface="Arial" panose="020B0604020202020204" pitchFamily="34" charset="0"/>
                <a:ea typeface="+mn-ea"/>
                <a:cs typeface="Arial" panose="020B0604020202020204" pitchFamily="34" charset="0"/>
              </a:defRPr>
            </a:lvl1pPr>
            <a:lvl2pPr marL="342892" indent="0" algn="l" defTabSz="685783" rtl="0" eaLnBrk="1" latinLnBrk="0" hangingPunct="1">
              <a:lnSpc>
                <a:spcPct val="90000"/>
              </a:lnSpc>
              <a:spcBef>
                <a:spcPts val="375"/>
              </a:spcBef>
              <a:buClr>
                <a:srgbClr val="009881"/>
              </a:buClr>
              <a:buFont typeface="Arial" panose="020B0604020202020204" pitchFamily="34" charset="0"/>
              <a:buNone/>
              <a:defRPr sz="1500" kern="1200">
                <a:solidFill>
                  <a:schemeClr val="tx1">
                    <a:tint val="75000"/>
                  </a:schemeClr>
                </a:solidFill>
                <a:latin typeface="Arial" panose="020B0604020202020204" pitchFamily="34" charset="0"/>
                <a:ea typeface="+mn-ea"/>
                <a:cs typeface="Arial" panose="020B0604020202020204" pitchFamily="34" charset="0"/>
              </a:defRPr>
            </a:lvl2pPr>
            <a:lvl3pPr marL="685783" indent="0" algn="l" defTabSz="685783" rtl="0" eaLnBrk="1" latinLnBrk="0" hangingPunct="1">
              <a:lnSpc>
                <a:spcPct val="90000"/>
              </a:lnSpc>
              <a:spcBef>
                <a:spcPts val="375"/>
              </a:spcBef>
              <a:buClr>
                <a:srgbClr val="009881"/>
              </a:buClr>
              <a:buFont typeface="Arial" panose="020B0604020202020204" pitchFamily="34" charset="0"/>
              <a:buNone/>
              <a:defRPr sz="1350" kern="1200">
                <a:solidFill>
                  <a:schemeClr val="tx1">
                    <a:tint val="75000"/>
                  </a:schemeClr>
                </a:solidFill>
                <a:latin typeface="Arial" panose="020B0604020202020204" pitchFamily="34" charset="0"/>
                <a:ea typeface="+mn-ea"/>
                <a:cs typeface="Arial" panose="020B0604020202020204" pitchFamily="34" charset="0"/>
              </a:defRPr>
            </a:lvl3pPr>
            <a:lvl4pPr marL="1028675" indent="0" algn="l" defTabSz="685783" rtl="0" eaLnBrk="1" latinLnBrk="0" hangingPunct="1">
              <a:lnSpc>
                <a:spcPct val="90000"/>
              </a:lnSpc>
              <a:spcBef>
                <a:spcPts val="375"/>
              </a:spcBef>
              <a:buClr>
                <a:srgbClr val="009881"/>
              </a:buClr>
              <a:buFont typeface="Arial" panose="020B0604020202020204" pitchFamily="34" charset="0"/>
              <a:buNone/>
              <a:defRPr sz="1200" kern="1200">
                <a:solidFill>
                  <a:schemeClr val="tx1">
                    <a:tint val="75000"/>
                  </a:schemeClr>
                </a:solidFill>
                <a:latin typeface="Arial" panose="020B0604020202020204" pitchFamily="34" charset="0"/>
                <a:ea typeface="+mn-ea"/>
                <a:cs typeface="Arial" panose="020B0604020202020204" pitchFamily="34" charset="0"/>
              </a:defRPr>
            </a:lvl4pPr>
            <a:lvl5pPr marL="1371566" indent="0" algn="l" defTabSz="685783" rtl="0" eaLnBrk="1" latinLnBrk="0" hangingPunct="1">
              <a:lnSpc>
                <a:spcPct val="90000"/>
              </a:lnSpc>
              <a:spcBef>
                <a:spcPts val="375"/>
              </a:spcBef>
              <a:buClr>
                <a:srgbClr val="009881"/>
              </a:buClr>
              <a:buFont typeface="Arial" panose="020B0604020202020204" pitchFamily="34" charset="0"/>
              <a:buNone/>
              <a:defRPr sz="1200" kern="1200">
                <a:solidFill>
                  <a:schemeClr val="tx1">
                    <a:tint val="75000"/>
                  </a:schemeClr>
                </a:solidFill>
                <a:latin typeface="Arial" panose="020B0604020202020204" pitchFamily="34" charset="0"/>
                <a:ea typeface="+mn-ea"/>
                <a:cs typeface="Arial" panose="020B0604020202020204" pitchFamily="34" charset="0"/>
              </a:defRPr>
            </a:lvl5pPr>
            <a:lvl6pPr marL="1714457" indent="0" algn="l" defTabSz="685783"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6pPr>
            <a:lvl7pPr marL="2057348" indent="0" algn="l" defTabSz="685783"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7pPr>
            <a:lvl8pPr marL="2400240" indent="0" algn="l" defTabSz="685783"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8pPr>
            <a:lvl9pPr marL="2743132" indent="0" algn="l" defTabSz="685783"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9pPr>
          </a:lstStyle>
          <a:p>
            <a:r>
              <a:rPr lang="cs-CZ" dirty="0">
                <a:latin typeface="Arial"/>
                <a:cs typeface="Arial"/>
              </a:rPr>
              <a:t>Datum: 22.1.2026</a:t>
            </a:r>
          </a:p>
        </p:txBody>
      </p:sp>
    </p:spTree>
    <p:extLst>
      <p:ext uri="{BB962C8B-B14F-4D97-AF65-F5344CB8AC3E}">
        <p14:creationId xmlns:p14="http://schemas.microsoft.com/office/powerpoint/2010/main" val="378654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98B41-9007-2A18-1DCF-E4FDB13B90E6}"/>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E203128E-662C-3957-CB07-9F4A60E4C29F}"/>
              </a:ext>
            </a:extLst>
          </p:cNvPr>
          <p:cNvSpPr>
            <a:spLocks noGrp="1"/>
          </p:cNvSpPr>
          <p:nvPr>
            <p:ph type="title"/>
          </p:nvPr>
        </p:nvSpPr>
        <p:spPr/>
        <p:txBody>
          <a:bodyPr/>
          <a:lstStyle/>
          <a:p>
            <a:r>
              <a:rPr lang="en-US" dirty="0" err="1"/>
              <a:t>Popis</a:t>
            </a:r>
            <a:r>
              <a:rPr lang="en-US" dirty="0"/>
              <a:t> </a:t>
            </a:r>
            <a:r>
              <a:rPr lang="cs-CZ" dirty="0"/>
              <a:t>řešené oblasti</a:t>
            </a:r>
          </a:p>
        </p:txBody>
      </p:sp>
      <p:sp>
        <p:nvSpPr>
          <p:cNvPr id="3" name="Zástupný obsah 2">
            <a:extLst>
              <a:ext uri="{FF2B5EF4-FFF2-40B4-BE49-F238E27FC236}">
                <a16:creationId xmlns:a16="http://schemas.microsoft.com/office/drawing/2014/main" id="{3FB03FD0-6621-58F3-A6B7-A35FC5792661}"/>
              </a:ext>
            </a:extLst>
          </p:cNvPr>
          <p:cNvSpPr>
            <a:spLocks noGrp="1"/>
          </p:cNvSpPr>
          <p:nvPr>
            <p:ph idx="1"/>
          </p:nvPr>
        </p:nvSpPr>
        <p:spPr/>
        <p:txBody>
          <a:bodyPr vert="horz" lIns="91440" tIns="45720" rIns="91440" bIns="45720" rtlCol="0" anchor="t">
            <a:normAutofit/>
          </a:bodyPr>
          <a:lstStyle/>
          <a:p>
            <a:pPr fontAlgn="base"/>
            <a:r>
              <a:rPr lang="cs-CZ" dirty="0"/>
              <a:t>Cílem projektu je analyzovat faktory ovlivňující četnost výskytu a úmrtí na COVID-19 v roce 2020</a:t>
            </a:r>
            <a:r>
              <a:rPr lang="en-US" dirty="0"/>
              <a:t>​</a:t>
            </a:r>
          </a:p>
          <a:p>
            <a:pPr fontAlgn="base"/>
            <a:r>
              <a:rPr lang="cs-CZ" dirty="0"/>
              <a:t>Analýza zkoumá možné souvislosti mezi rasovým složením populace, věkem či chudobou na počet případů COVIDU-19</a:t>
            </a:r>
          </a:p>
        </p:txBody>
      </p:sp>
    </p:spTree>
    <p:extLst>
      <p:ext uri="{BB962C8B-B14F-4D97-AF65-F5344CB8AC3E}">
        <p14:creationId xmlns:p14="http://schemas.microsoft.com/office/powerpoint/2010/main" val="4196028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9884874-F762-BBB2-6344-B465A5824DE1}"/>
              </a:ext>
            </a:extLst>
          </p:cNvPr>
          <p:cNvSpPr>
            <a:spLocks noGrp="1"/>
          </p:cNvSpPr>
          <p:nvPr>
            <p:ph type="title"/>
          </p:nvPr>
        </p:nvSpPr>
        <p:spPr>
          <a:xfrm>
            <a:off x="628650" y="939996"/>
            <a:ext cx="7779544" cy="689952"/>
          </a:xfrm>
        </p:spPr>
        <p:txBody>
          <a:bodyPr/>
          <a:lstStyle/>
          <a:p>
            <a:r>
              <a:rPr lang="cs-CZ" dirty="0"/>
              <a:t>Popis dat</a:t>
            </a:r>
          </a:p>
        </p:txBody>
      </p:sp>
      <p:sp>
        <p:nvSpPr>
          <p:cNvPr id="3" name="Zástupný obsah 2">
            <a:extLst>
              <a:ext uri="{FF2B5EF4-FFF2-40B4-BE49-F238E27FC236}">
                <a16:creationId xmlns:a16="http://schemas.microsoft.com/office/drawing/2014/main" id="{EC210CE7-DD47-D932-2B13-1C4EB19804C9}"/>
              </a:ext>
            </a:extLst>
          </p:cNvPr>
          <p:cNvSpPr>
            <a:spLocks noGrp="1"/>
          </p:cNvSpPr>
          <p:nvPr>
            <p:ph idx="1"/>
          </p:nvPr>
        </p:nvSpPr>
        <p:spPr>
          <a:xfrm>
            <a:off x="445770" y="1394460"/>
            <a:ext cx="7962424" cy="4885805"/>
          </a:xfrm>
        </p:spPr>
        <p:txBody>
          <a:bodyPr vert="horz" lIns="91440" tIns="45720" rIns="91440" bIns="45720" rtlCol="0" anchor="t">
            <a:noAutofit/>
          </a:bodyPr>
          <a:lstStyle/>
          <a:p>
            <a:pPr marL="170815" indent="-170815"/>
            <a:r>
              <a:rPr lang="cs-CZ" sz="2000" dirty="0">
                <a:latin typeface="Arial"/>
                <a:cs typeface="Arial"/>
              </a:rPr>
              <a:t>V analýze kombinujeme tři datové sady (vše za rok 2020):</a:t>
            </a:r>
            <a:endParaRPr lang="cs-CZ" sz="2000" dirty="0"/>
          </a:p>
          <a:p>
            <a:pPr lvl="1">
              <a:buFont typeface="Wingdings" pitchFamily="2" charset="2"/>
              <a:buChar char="§"/>
            </a:pPr>
            <a:r>
              <a:rPr lang="cs-CZ" sz="1600" b="1" dirty="0">
                <a:latin typeface="Arial"/>
                <a:cs typeface="Arial"/>
              </a:rPr>
              <a:t>US </a:t>
            </a:r>
            <a:r>
              <a:rPr lang="cs-CZ" sz="1600" b="1" dirty="0" err="1">
                <a:latin typeface="Arial"/>
                <a:cs typeface="Arial"/>
              </a:rPr>
              <a:t>Counties</a:t>
            </a:r>
            <a:r>
              <a:rPr lang="cs-CZ" sz="1600" b="1" dirty="0">
                <a:latin typeface="Arial"/>
                <a:cs typeface="Arial"/>
              </a:rPr>
              <a:t> Covid-19 </a:t>
            </a:r>
            <a:r>
              <a:rPr lang="cs-CZ" sz="1600" b="1" dirty="0" err="1">
                <a:latin typeface="Arial"/>
                <a:cs typeface="Arial"/>
              </a:rPr>
              <a:t>daily</a:t>
            </a:r>
            <a:r>
              <a:rPr lang="cs-CZ" sz="1600" b="1" dirty="0">
                <a:latin typeface="Arial"/>
                <a:cs typeface="Arial"/>
              </a:rPr>
              <a:t>, </a:t>
            </a:r>
            <a:r>
              <a:rPr lang="cs-CZ" sz="1600" b="1" dirty="0" err="1">
                <a:latin typeface="Arial"/>
                <a:cs typeface="Arial"/>
              </a:rPr>
              <a:t>year</a:t>
            </a:r>
            <a:r>
              <a:rPr lang="cs-CZ" sz="1600" b="1" dirty="0">
                <a:latin typeface="Arial"/>
                <a:cs typeface="Arial"/>
              </a:rPr>
              <a:t> 2020</a:t>
            </a:r>
          </a:p>
          <a:p>
            <a:pPr marL="1028700" lvl="1" indent="-342900"/>
            <a:r>
              <a:rPr lang="cs-CZ" sz="1300" dirty="0">
                <a:latin typeface="Arial"/>
                <a:cs typeface="Arial"/>
              </a:rPr>
              <a:t>Obsahuje datum (konkrétní den), </a:t>
            </a:r>
            <a:r>
              <a:rPr lang="cs-CZ" sz="1300" dirty="0" err="1">
                <a:latin typeface="Arial"/>
                <a:cs typeface="Arial"/>
              </a:rPr>
              <a:t>county</a:t>
            </a:r>
            <a:r>
              <a:rPr lang="cs-CZ" sz="1300" dirty="0">
                <a:latin typeface="Arial"/>
                <a:cs typeface="Arial"/>
              </a:rPr>
              <a:t>, stát, FIPS, počet případ a počet úmrtí</a:t>
            </a:r>
          </a:p>
          <a:p>
            <a:pPr marL="1028700" lvl="1" indent="-342900"/>
            <a:r>
              <a:rPr lang="cs-CZ" sz="1300" b="1" dirty="0">
                <a:latin typeface="Arial"/>
                <a:cs typeface="Arial"/>
              </a:rPr>
              <a:t>Celkem 6 sloupců a 884 738 řádků</a:t>
            </a:r>
          </a:p>
          <a:p>
            <a:pPr marL="1028700" lvl="1" indent="-342900"/>
            <a:r>
              <a:rPr lang="cs-CZ" sz="1300" b="1" dirty="0">
                <a:latin typeface="Arial"/>
                <a:cs typeface="Arial"/>
              </a:rPr>
              <a:t>Zdroj:</a:t>
            </a:r>
            <a:r>
              <a:rPr lang="cs-CZ" sz="1300" dirty="0">
                <a:latin typeface="Arial"/>
                <a:cs typeface="Arial"/>
              </a:rPr>
              <a:t> </a:t>
            </a:r>
            <a:r>
              <a:rPr lang="cs-CZ" sz="1300" dirty="0">
                <a:latin typeface="Arial"/>
                <a:cs typeface="Arial"/>
                <a:hlinkClick r:id="rId2"/>
              </a:rPr>
              <a:t>https://github.com/nytimes/covid-19-data/blob/master/us-counties-2020.csv</a:t>
            </a:r>
            <a:r>
              <a:rPr lang="cs-CZ" sz="1300" dirty="0">
                <a:latin typeface="Arial"/>
                <a:cs typeface="Arial"/>
              </a:rPr>
              <a:t> </a:t>
            </a:r>
          </a:p>
          <a:p>
            <a:pPr marL="1028700" lvl="1" indent="-342900"/>
            <a:r>
              <a:rPr lang="cs-CZ" sz="1300" dirty="0">
                <a:latin typeface="Arial"/>
                <a:cs typeface="Arial"/>
              </a:rPr>
              <a:t>Jedná se o GitHub magazínu New York Times, zdroj je tedy spolehlivý</a:t>
            </a:r>
          </a:p>
          <a:p>
            <a:pPr marL="513724" lvl="1" indent="-170815">
              <a:buFont typeface="Wingdings" panose="020B0604020202020204" pitchFamily="34" charset="0"/>
              <a:buChar char="§"/>
            </a:pPr>
            <a:r>
              <a:rPr lang="cs-CZ" sz="1600" b="1" dirty="0" err="1">
                <a:latin typeface="Arial"/>
                <a:cs typeface="Arial"/>
              </a:rPr>
              <a:t>Population</a:t>
            </a:r>
            <a:r>
              <a:rPr lang="cs-CZ" sz="1600" b="1" dirty="0">
                <a:latin typeface="Arial"/>
                <a:cs typeface="Arial"/>
              </a:rPr>
              <a:t> per </a:t>
            </a:r>
            <a:r>
              <a:rPr lang="cs-CZ" sz="1600" b="1" dirty="0" err="1">
                <a:latin typeface="Arial"/>
                <a:cs typeface="Arial"/>
              </a:rPr>
              <a:t>county</a:t>
            </a:r>
            <a:endParaRPr lang="cs-CZ" sz="1600" b="1" dirty="0">
              <a:latin typeface="Arial"/>
              <a:cs typeface="Arial"/>
            </a:endParaRPr>
          </a:p>
          <a:p>
            <a:pPr marL="856615" lvl="2" indent="-170815">
              <a:buFont typeface="Wingdings" panose="020B0604020202020204" pitchFamily="34" charset="0"/>
              <a:buChar char="§"/>
            </a:pPr>
            <a:r>
              <a:rPr lang="cs-CZ" sz="1300" dirty="0">
                <a:latin typeface="Arial"/>
                <a:cs typeface="Arial"/>
              </a:rPr>
              <a:t>Obsahuje: stát, </a:t>
            </a:r>
            <a:r>
              <a:rPr lang="cs-CZ" sz="1300" dirty="0" err="1">
                <a:latin typeface="Arial"/>
                <a:cs typeface="Arial"/>
              </a:rPr>
              <a:t>county</a:t>
            </a:r>
            <a:r>
              <a:rPr lang="cs-CZ" sz="1300" dirty="0">
                <a:latin typeface="Arial"/>
                <a:cs typeface="Arial"/>
              </a:rPr>
              <a:t>, odhad populace, počet žen, počet mužů, počet dle věku (rozděleno na věkové skupiny), věkový medián, rasové složení atd.</a:t>
            </a:r>
          </a:p>
          <a:p>
            <a:pPr marL="856615" lvl="2" indent="-170815">
              <a:buFont typeface="Wingdings" panose="020B0604020202020204" pitchFamily="34" charset="0"/>
              <a:buChar char="§"/>
            </a:pPr>
            <a:r>
              <a:rPr lang="cs-CZ" sz="1300" b="1" dirty="0">
                <a:latin typeface="Arial"/>
                <a:cs typeface="Arial"/>
              </a:rPr>
              <a:t>Celkem 80 sloupců </a:t>
            </a:r>
            <a:r>
              <a:rPr lang="cs-CZ" sz="1300" dirty="0">
                <a:latin typeface="Arial"/>
                <a:cs typeface="Arial"/>
              </a:rPr>
              <a:t>a </a:t>
            </a:r>
            <a:r>
              <a:rPr lang="cs-CZ" sz="1300" b="1" dirty="0">
                <a:latin typeface="Arial"/>
                <a:cs typeface="Arial"/>
              </a:rPr>
              <a:t>358 417 řádků </a:t>
            </a:r>
            <a:r>
              <a:rPr lang="cs-CZ" sz="1300" dirty="0">
                <a:latin typeface="Arial"/>
                <a:cs typeface="Arial"/>
              </a:rPr>
              <a:t>(protože je to od roku 2020 do 2024)</a:t>
            </a:r>
            <a:endParaRPr lang="cs-CZ" sz="1300" dirty="0"/>
          </a:p>
          <a:p>
            <a:pPr marL="856615" lvl="2" indent="-170815">
              <a:buFont typeface="Wingdings" panose="020B0604020202020204" pitchFamily="34" charset="0"/>
              <a:buChar char="§"/>
            </a:pPr>
            <a:r>
              <a:rPr lang="cs-CZ" sz="1300" b="1" dirty="0">
                <a:latin typeface="Arial"/>
                <a:cs typeface="Arial"/>
              </a:rPr>
              <a:t>Zdroj: </a:t>
            </a:r>
            <a:r>
              <a:rPr lang="cs-CZ" sz="1300" dirty="0">
                <a:latin typeface="Arial"/>
                <a:cs typeface="Arial"/>
                <a:hlinkClick r:id="rId3"/>
              </a:rPr>
              <a:t>https://www.census.gov/data/tables/time-series/demo/popest/2020s-counties-detail.html</a:t>
            </a:r>
            <a:endParaRPr lang="cs-CZ" sz="1300" dirty="0">
              <a:latin typeface="Arial"/>
              <a:cs typeface="Arial"/>
            </a:endParaRPr>
          </a:p>
          <a:p>
            <a:pPr marL="856615" lvl="2" indent="-170815">
              <a:buFont typeface="Wingdings" panose="020B0604020202020204" pitchFamily="34" charset="0"/>
              <a:buChar char="§"/>
            </a:pPr>
            <a:r>
              <a:rPr lang="cs-CZ" sz="1300" dirty="0">
                <a:latin typeface="Arial"/>
                <a:cs typeface="Arial"/>
              </a:rPr>
              <a:t>Vztah k prvnímu </a:t>
            </a:r>
            <a:r>
              <a:rPr lang="cs-CZ" sz="1300" dirty="0" err="1">
                <a:latin typeface="Arial"/>
                <a:cs typeface="Arial"/>
              </a:rPr>
              <a:t>datasetu</a:t>
            </a:r>
            <a:r>
              <a:rPr lang="cs-CZ" sz="1300" dirty="0">
                <a:latin typeface="Arial"/>
                <a:cs typeface="Arial"/>
              </a:rPr>
              <a:t> je 1:N (1 </a:t>
            </a:r>
            <a:r>
              <a:rPr lang="cs-CZ" sz="1300" dirty="0" err="1">
                <a:latin typeface="Arial"/>
                <a:cs typeface="Arial"/>
              </a:rPr>
              <a:t>county</a:t>
            </a:r>
            <a:r>
              <a:rPr lang="cs-CZ" sz="1300" dirty="0">
                <a:latin typeface="Arial"/>
                <a:cs typeface="Arial"/>
              </a:rPr>
              <a:t> má mnoho záznamů), spojí se podle hodnoty FIPS</a:t>
            </a:r>
          </a:p>
          <a:p>
            <a:pPr marL="513724" lvl="1" indent="-170815">
              <a:buFont typeface="Wingdings" panose="020B0604020202020204" pitchFamily="34" charset="0"/>
              <a:buChar char="§"/>
            </a:pPr>
            <a:r>
              <a:rPr lang="cs-CZ" sz="1600" b="1" dirty="0" err="1">
                <a:latin typeface="Arial"/>
                <a:cs typeface="Arial"/>
              </a:rPr>
              <a:t>Poverty</a:t>
            </a:r>
            <a:r>
              <a:rPr lang="cs-CZ" sz="1600" b="1" dirty="0">
                <a:latin typeface="Arial"/>
                <a:cs typeface="Arial"/>
              </a:rPr>
              <a:t> and </a:t>
            </a:r>
            <a:r>
              <a:rPr lang="cs-CZ" sz="1600" b="1" dirty="0" err="1">
                <a:latin typeface="Arial"/>
                <a:cs typeface="Arial"/>
              </a:rPr>
              <a:t>Income</a:t>
            </a:r>
            <a:r>
              <a:rPr lang="cs-CZ" sz="1600" b="1" dirty="0">
                <a:latin typeface="Arial"/>
                <a:cs typeface="Arial"/>
              </a:rPr>
              <a:t> per </a:t>
            </a:r>
            <a:r>
              <a:rPr lang="cs-CZ" sz="1600" b="1" dirty="0" err="1">
                <a:latin typeface="Arial"/>
                <a:cs typeface="Arial"/>
              </a:rPr>
              <a:t>county</a:t>
            </a:r>
            <a:endParaRPr lang="cs-CZ" sz="1600" b="1" dirty="0">
              <a:latin typeface="Arial"/>
              <a:cs typeface="Arial"/>
            </a:endParaRPr>
          </a:p>
          <a:p>
            <a:pPr marL="856615" lvl="2" indent="-170815">
              <a:buFont typeface="Wingdings" panose="020B0604020202020204" pitchFamily="34" charset="0"/>
              <a:buChar char="§"/>
            </a:pPr>
            <a:r>
              <a:rPr lang="cs-CZ" sz="1300" dirty="0">
                <a:latin typeface="Arial"/>
                <a:cs typeface="Arial"/>
              </a:rPr>
              <a:t>Obsahuje informace o chudobě a příjmu domácností per </a:t>
            </a:r>
            <a:r>
              <a:rPr lang="cs-CZ" sz="1300" dirty="0" err="1">
                <a:latin typeface="Arial"/>
                <a:cs typeface="Arial"/>
              </a:rPr>
              <a:t>county</a:t>
            </a:r>
            <a:endParaRPr lang="cs-CZ" sz="1300" dirty="0">
              <a:latin typeface="Arial"/>
              <a:cs typeface="Arial"/>
            </a:endParaRPr>
          </a:p>
          <a:p>
            <a:pPr marL="856615" lvl="2" indent="-170815">
              <a:buFont typeface="Wingdings" panose="020B0604020202020204" pitchFamily="34" charset="0"/>
              <a:buChar char="§"/>
            </a:pPr>
            <a:r>
              <a:rPr lang="cs-CZ" sz="1300" b="1" dirty="0">
                <a:latin typeface="Arial"/>
                <a:cs typeface="Arial"/>
              </a:rPr>
              <a:t>Celkem 31 sloupců </a:t>
            </a:r>
            <a:r>
              <a:rPr lang="cs-CZ" sz="1300" dirty="0">
                <a:latin typeface="Arial"/>
                <a:cs typeface="Arial"/>
              </a:rPr>
              <a:t>a </a:t>
            </a:r>
            <a:r>
              <a:rPr lang="cs-CZ" sz="1300" b="1" dirty="0">
                <a:latin typeface="Arial"/>
                <a:cs typeface="Arial"/>
              </a:rPr>
              <a:t>3195 řádků</a:t>
            </a:r>
          </a:p>
          <a:p>
            <a:pPr marL="856615" lvl="2" indent="-170815">
              <a:buFont typeface="Wingdings" panose="020B0604020202020204" pitchFamily="34" charset="0"/>
              <a:buChar char="§"/>
            </a:pPr>
            <a:r>
              <a:rPr lang="cs-CZ" sz="1300" b="1" dirty="0">
                <a:latin typeface="Arial"/>
                <a:cs typeface="Arial"/>
              </a:rPr>
              <a:t>Zdroj</a:t>
            </a:r>
            <a:r>
              <a:rPr lang="cs-CZ" sz="1300" dirty="0">
                <a:latin typeface="Arial"/>
                <a:cs typeface="Arial"/>
              </a:rPr>
              <a:t>: </a:t>
            </a:r>
            <a:r>
              <a:rPr lang="cs-CZ" sz="1300" dirty="0">
                <a:latin typeface="Arial"/>
                <a:cs typeface="Arial"/>
                <a:hlinkClick r:id="rId4"/>
              </a:rPr>
              <a:t>https://www.census.gov/data/datasets/2020/demo/saipe/2020-state-and-county.html</a:t>
            </a:r>
            <a:r>
              <a:rPr lang="cs-CZ" sz="1300" dirty="0">
                <a:latin typeface="Arial"/>
                <a:cs typeface="Arial"/>
              </a:rPr>
              <a:t> </a:t>
            </a:r>
          </a:p>
          <a:p>
            <a:pPr marL="856615" lvl="2" indent="-170815">
              <a:buFont typeface="Wingdings" panose="020B0604020202020204" pitchFamily="34" charset="0"/>
              <a:buChar char="§"/>
            </a:pPr>
            <a:r>
              <a:rPr lang="cs-CZ" sz="1300" dirty="0">
                <a:latin typeface="Arial"/>
                <a:cs typeface="Arial"/>
              </a:rPr>
              <a:t>Vztah k prvnímu </a:t>
            </a:r>
            <a:r>
              <a:rPr lang="cs-CZ" sz="1300" dirty="0" err="1">
                <a:latin typeface="Arial"/>
                <a:cs typeface="Arial"/>
              </a:rPr>
              <a:t>datasetu</a:t>
            </a:r>
            <a:r>
              <a:rPr lang="cs-CZ" sz="1300" dirty="0">
                <a:latin typeface="Arial"/>
                <a:cs typeface="Arial"/>
              </a:rPr>
              <a:t> je 1:N (1 </a:t>
            </a:r>
            <a:r>
              <a:rPr lang="cs-CZ" sz="1300" dirty="0" err="1">
                <a:latin typeface="Arial"/>
                <a:cs typeface="Arial"/>
              </a:rPr>
              <a:t>county</a:t>
            </a:r>
            <a:r>
              <a:rPr lang="cs-CZ" sz="1300" dirty="0">
                <a:latin typeface="Arial"/>
                <a:cs typeface="Arial"/>
              </a:rPr>
              <a:t> má mnoho záznamů), spojí se podle hodnoty FIPS</a:t>
            </a:r>
          </a:p>
          <a:p>
            <a:pPr marL="856615" lvl="2" indent="-170815">
              <a:buFont typeface="Wingdings" panose="020B0604020202020204" pitchFamily="34" charset="0"/>
              <a:buChar char="§"/>
            </a:pPr>
            <a:endParaRPr lang="cs-CZ" sz="1400" dirty="0">
              <a:latin typeface="Arial"/>
              <a:cs typeface="Arial"/>
            </a:endParaRPr>
          </a:p>
          <a:p>
            <a:pPr marL="685800" lvl="2" indent="0">
              <a:buNone/>
            </a:pPr>
            <a:endParaRPr lang="cs-CZ" sz="1400" dirty="0">
              <a:latin typeface="Arial"/>
              <a:cs typeface="Arial"/>
            </a:endParaRPr>
          </a:p>
        </p:txBody>
      </p:sp>
    </p:spTree>
    <p:extLst>
      <p:ext uri="{BB962C8B-B14F-4D97-AF65-F5344CB8AC3E}">
        <p14:creationId xmlns:p14="http://schemas.microsoft.com/office/powerpoint/2010/main" val="3607085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7BF2E-2AB9-A8FB-03C5-8728F901554D}"/>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FB742DEB-8846-2D0E-09BA-ABCD9C5FB67F}"/>
              </a:ext>
            </a:extLst>
          </p:cNvPr>
          <p:cNvSpPr>
            <a:spLocks noGrp="1"/>
          </p:cNvSpPr>
          <p:nvPr>
            <p:ph type="title"/>
          </p:nvPr>
        </p:nvSpPr>
        <p:spPr>
          <a:xfrm>
            <a:off x="537210" y="1065726"/>
            <a:ext cx="7779544" cy="689952"/>
          </a:xfrm>
        </p:spPr>
        <p:txBody>
          <a:bodyPr/>
          <a:lstStyle/>
          <a:p>
            <a:r>
              <a:rPr lang="cs-CZ" dirty="0"/>
              <a:t>Cíle analýzy</a:t>
            </a:r>
          </a:p>
        </p:txBody>
      </p:sp>
      <p:sp>
        <p:nvSpPr>
          <p:cNvPr id="9" name="TextBox 8">
            <a:extLst>
              <a:ext uri="{FF2B5EF4-FFF2-40B4-BE49-F238E27FC236}">
                <a16:creationId xmlns:a16="http://schemas.microsoft.com/office/drawing/2014/main" id="{40AF1D6E-1F15-197F-7479-327244AD88E3}"/>
              </a:ext>
            </a:extLst>
          </p:cNvPr>
          <p:cNvSpPr txBox="1"/>
          <p:nvPr/>
        </p:nvSpPr>
        <p:spPr>
          <a:xfrm>
            <a:off x="731520" y="2052858"/>
            <a:ext cx="7680960" cy="4524315"/>
          </a:xfrm>
          <a:prstGeom prst="rect">
            <a:avLst/>
          </a:prstGeom>
          <a:noFill/>
        </p:spPr>
        <p:txBody>
          <a:bodyPr wrap="square" rtlCol="0">
            <a:spAutoFit/>
          </a:bodyPr>
          <a:lstStyle/>
          <a:p>
            <a:pPr marL="342900" lvl="0" indent="-342900" eaLnBrk="0" fontAlgn="base" hangingPunct="0">
              <a:spcBef>
                <a:spcPct val="0"/>
              </a:spcBef>
              <a:spcAft>
                <a:spcPct val="0"/>
              </a:spcAft>
              <a:buFont typeface="+mj-lt"/>
              <a:buAutoNum type="arabicPeriod"/>
            </a:pPr>
            <a:r>
              <a:rPr lang="en-CZ" altLang="en-CZ" b="1" dirty="0">
                <a:latin typeface="Arial" panose="020B0604020202020204" pitchFamily="34" charset="0"/>
              </a:rPr>
              <a:t>Zjistit, jak demografické složení okresů (populace, věková struktura, rasové zastoupení, pohlaví)</a:t>
            </a:r>
            <a:r>
              <a:rPr lang="en-CZ" altLang="en-CZ" dirty="0">
                <a:latin typeface="Arial" panose="020B0604020202020204" pitchFamily="34" charset="0"/>
              </a:rPr>
              <a:t> ovlivňovalo počet potvrzených případů a úmrtí na COVID-19 v roce 2020.</a:t>
            </a:r>
          </a:p>
          <a:p>
            <a:pPr marL="342900" lvl="0" indent="-342900" eaLnBrk="0" fontAlgn="base" hangingPunct="0">
              <a:spcBef>
                <a:spcPct val="0"/>
              </a:spcBef>
              <a:spcAft>
                <a:spcPct val="0"/>
              </a:spcAft>
              <a:buFont typeface="+mj-lt"/>
              <a:buAutoNum type="arabicPeriod"/>
            </a:pPr>
            <a:endParaRPr lang="en-CZ" altLang="en-CZ"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r>
              <a:rPr lang="en-CZ" altLang="en-CZ" b="1" dirty="0">
                <a:latin typeface="Arial" panose="020B0604020202020204" pitchFamily="34" charset="0"/>
              </a:rPr>
              <a:t>Analyzovat vztah mezi socioekonomickými faktory (míra chudoby, mediánový příjem)</a:t>
            </a:r>
            <a:r>
              <a:rPr lang="en-CZ" altLang="en-CZ" dirty="0">
                <a:latin typeface="Arial" panose="020B0604020202020204" pitchFamily="34" charset="0"/>
              </a:rPr>
              <a:t> a dopady pandemie, tj. jak se lišila úmrtnost a nakaženost podle ekonomické situace regionu.</a:t>
            </a:r>
          </a:p>
          <a:p>
            <a:pPr marL="342900" lvl="0" indent="-342900" eaLnBrk="0" fontAlgn="base" hangingPunct="0">
              <a:spcBef>
                <a:spcPct val="0"/>
              </a:spcBef>
              <a:spcAft>
                <a:spcPct val="0"/>
              </a:spcAft>
              <a:buFont typeface="+mj-lt"/>
              <a:buAutoNum type="arabicPeriod"/>
            </a:pPr>
            <a:endParaRPr lang="en-CZ" altLang="en-CZ"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r>
              <a:rPr lang="en-CZ" altLang="en-CZ" b="1" dirty="0">
                <a:latin typeface="Arial" panose="020B0604020202020204" pitchFamily="34" charset="0"/>
              </a:rPr>
              <a:t>Porovnat regionální rozdíly</a:t>
            </a:r>
            <a:r>
              <a:rPr lang="en-CZ" altLang="en-CZ" dirty="0">
                <a:latin typeface="Arial" panose="020B0604020202020204" pitchFamily="34" charset="0"/>
              </a:rPr>
              <a:t> v průběhu pandemie napříč státy a okresy USA – například identifikovat oblasti s nejvyššími relativními počty úmrtí po zohlednění populace.</a:t>
            </a:r>
          </a:p>
          <a:p>
            <a:pPr marL="342900" lvl="0" indent="-342900" eaLnBrk="0" fontAlgn="base" hangingPunct="0">
              <a:spcBef>
                <a:spcPct val="0"/>
              </a:spcBef>
              <a:spcAft>
                <a:spcPct val="0"/>
              </a:spcAft>
              <a:buFont typeface="+mj-lt"/>
              <a:buAutoNum type="arabicPeriod"/>
            </a:pPr>
            <a:endParaRPr lang="en-CZ" altLang="en-CZ"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r>
              <a:rPr lang="en-CZ" altLang="en-CZ" b="1" dirty="0">
                <a:latin typeface="Arial" panose="020B0604020202020204" pitchFamily="34" charset="0"/>
              </a:rPr>
              <a:t>Identifikovat měsíce s nejvíce případy.</a:t>
            </a:r>
          </a:p>
          <a:p>
            <a:pPr marL="342900" lvl="0" indent="-342900" eaLnBrk="0" fontAlgn="base" hangingPunct="0">
              <a:spcBef>
                <a:spcPct val="0"/>
              </a:spcBef>
              <a:spcAft>
                <a:spcPct val="0"/>
              </a:spcAft>
              <a:buFont typeface="+mj-lt"/>
              <a:buAutoNum type="arabicPeriod"/>
            </a:pPr>
            <a:endParaRPr lang="en-CZ" altLang="en-CZ" dirty="0">
              <a:latin typeface="Arial" panose="020B0604020202020204" pitchFamily="34" charset="0"/>
            </a:endParaRPr>
          </a:p>
          <a:p>
            <a:pPr lvl="0" eaLnBrk="0" fontAlgn="base" hangingPunct="0">
              <a:spcBef>
                <a:spcPct val="0"/>
              </a:spcBef>
              <a:spcAft>
                <a:spcPct val="0"/>
              </a:spcAft>
            </a:pPr>
            <a:endParaRPr lang="en-CZ" altLang="en-CZ" dirty="0">
              <a:latin typeface="Arial" panose="020B0604020202020204" pitchFamily="34" charset="0"/>
            </a:endParaRPr>
          </a:p>
          <a:p>
            <a:pPr marL="285750" indent="-285750">
              <a:buFont typeface="Arial" panose="020B0604020202020204" pitchFamily="34" charset="0"/>
              <a:buChar char="•"/>
            </a:pPr>
            <a:endParaRPr lang="en-CZ" dirty="0"/>
          </a:p>
        </p:txBody>
      </p:sp>
    </p:spTree>
    <p:extLst>
      <p:ext uri="{BB962C8B-B14F-4D97-AF65-F5344CB8AC3E}">
        <p14:creationId xmlns:p14="http://schemas.microsoft.com/office/powerpoint/2010/main" val="2088849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50660-EE0F-3255-6AF0-442908384D87}"/>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DDDC37E9-85DD-2231-4FBA-B97601DCC9DB}"/>
              </a:ext>
            </a:extLst>
          </p:cNvPr>
          <p:cNvSpPr>
            <a:spLocks noGrp="1"/>
          </p:cNvSpPr>
          <p:nvPr>
            <p:ph type="title"/>
          </p:nvPr>
        </p:nvSpPr>
        <p:spPr/>
        <p:txBody>
          <a:bodyPr/>
          <a:lstStyle/>
          <a:p>
            <a:r>
              <a:rPr lang="cs-CZ" dirty="0">
                <a:latin typeface="Arial"/>
                <a:cs typeface="Arial"/>
              </a:rPr>
              <a:t>Způsob řešení otázek pro data science</a:t>
            </a:r>
            <a:endParaRPr lang="cs-CZ" dirty="0"/>
          </a:p>
        </p:txBody>
      </p:sp>
      <p:sp>
        <p:nvSpPr>
          <p:cNvPr id="3" name="Zástupný obsah 2">
            <a:extLst>
              <a:ext uri="{FF2B5EF4-FFF2-40B4-BE49-F238E27FC236}">
                <a16:creationId xmlns:a16="http://schemas.microsoft.com/office/drawing/2014/main" id="{C179EC6F-21E7-0F86-D493-56C9068D6A16}"/>
              </a:ext>
            </a:extLst>
          </p:cNvPr>
          <p:cNvSpPr>
            <a:spLocks noGrp="1"/>
          </p:cNvSpPr>
          <p:nvPr>
            <p:ph idx="1"/>
          </p:nvPr>
        </p:nvSpPr>
        <p:spPr>
          <a:xfrm>
            <a:off x="525780" y="1789968"/>
            <a:ext cx="7882414" cy="4627457"/>
          </a:xfrm>
        </p:spPr>
        <p:txBody>
          <a:bodyPr vert="horz" lIns="91440" tIns="45720" rIns="91440" bIns="45720" rtlCol="0" anchor="t">
            <a:normAutofit/>
          </a:bodyPr>
          <a:lstStyle/>
          <a:p>
            <a:pPr marL="170815" indent="-170815"/>
            <a:r>
              <a:rPr lang="cs-CZ" sz="2400" dirty="0">
                <a:latin typeface="Arial"/>
                <a:cs typeface="Arial"/>
              </a:rPr>
              <a:t>Analýza bude prováděna v nástroji </a:t>
            </a:r>
            <a:r>
              <a:rPr lang="cs-CZ" sz="2400" b="1" dirty="0">
                <a:latin typeface="Arial"/>
                <a:cs typeface="Arial"/>
              </a:rPr>
              <a:t>Python pomocí balíčku </a:t>
            </a:r>
            <a:r>
              <a:rPr lang="cs-CZ" sz="2400" b="1" dirty="0" err="1">
                <a:latin typeface="Arial"/>
                <a:cs typeface="Arial"/>
              </a:rPr>
              <a:t>CleverMiner</a:t>
            </a:r>
            <a:endParaRPr lang="cs-CZ" sz="2400" b="1" dirty="0"/>
          </a:p>
          <a:p>
            <a:pPr marL="170815" indent="-170815"/>
            <a:r>
              <a:rPr lang="cs-CZ" sz="2400" dirty="0">
                <a:latin typeface="Arial"/>
                <a:cs typeface="Arial"/>
              </a:rPr>
              <a:t>BI část bude prováděna v nástroji </a:t>
            </a:r>
            <a:r>
              <a:rPr lang="cs-CZ" sz="2400" b="1" dirty="0" err="1">
                <a:latin typeface="Arial"/>
                <a:cs typeface="Arial"/>
              </a:rPr>
              <a:t>PowerBI</a:t>
            </a:r>
            <a:endParaRPr lang="cs-CZ" sz="2400" b="1" dirty="0">
              <a:latin typeface="Arial"/>
              <a:cs typeface="Arial"/>
            </a:endParaRPr>
          </a:p>
          <a:p>
            <a:pPr marL="170815" indent="-170815"/>
            <a:r>
              <a:rPr lang="cs-CZ" sz="2400" dirty="0">
                <a:latin typeface="Arial"/>
                <a:cs typeface="Arial"/>
              </a:rPr>
              <a:t>Data se uloží a vyčistí pomocí </a:t>
            </a:r>
            <a:r>
              <a:rPr lang="cs-CZ" sz="2400" b="1" dirty="0">
                <a:latin typeface="Arial"/>
                <a:cs typeface="Arial"/>
              </a:rPr>
              <a:t>Google</a:t>
            </a:r>
            <a:r>
              <a:rPr lang="cs-CZ" sz="2400" dirty="0">
                <a:latin typeface="Arial"/>
                <a:cs typeface="Arial"/>
              </a:rPr>
              <a:t> </a:t>
            </a:r>
            <a:r>
              <a:rPr lang="cs-CZ" sz="2400" b="1" dirty="0" err="1">
                <a:latin typeface="Arial"/>
                <a:cs typeface="Arial"/>
              </a:rPr>
              <a:t>BigQuery</a:t>
            </a:r>
            <a:endParaRPr lang="cs-CZ" sz="2400" b="1" dirty="0"/>
          </a:p>
        </p:txBody>
      </p:sp>
    </p:spTree>
    <p:extLst>
      <p:ext uri="{BB962C8B-B14F-4D97-AF65-F5344CB8AC3E}">
        <p14:creationId xmlns:p14="http://schemas.microsoft.com/office/powerpoint/2010/main" val="1287521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E972D-EB62-691D-793C-08D7FBE2F543}"/>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4AE99613-DA00-FF00-8088-0EA0F8769EE7}"/>
              </a:ext>
            </a:extLst>
          </p:cNvPr>
          <p:cNvSpPr>
            <a:spLocks noGrp="1"/>
          </p:cNvSpPr>
          <p:nvPr>
            <p:ph type="title"/>
          </p:nvPr>
        </p:nvSpPr>
        <p:spPr/>
        <p:txBody>
          <a:bodyPr/>
          <a:lstStyle/>
          <a:p>
            <a:r>
              <a:rPr lang="cs-CZ" dirty="0"/>
              <a:t>Rámcové profily dat</a:t>
            </a:r>
          </a:p>
        </p:txBody>
      </p:sp>
      <p:sp>
        <p:nvSpPr>
          <p:cNvPr id="3" name="Zástupný obsah 2">
            <a:extLst>
              <a:ext uri="{FF2B5EF4-FFF2-40B4-BE49-F238E27FC236}">
                <a16:creationId xmlns:a16="http://schemas.microsoft.com/office/drawing/2014/main" id="{21CB2CC3-386F-A283-82BC-619B348FD737}"/>
              </a:ext>
            </a:extLst>
          </p:cNvPr>
          <p:cNvSpPr>
            <a:spLocks noGrp="1"/>
          </p:cNvSpPr>
          <p:nvPr>
            <p:ph idx="1"/>
          </p:nvPr>
        </p:nvSpPr>
        <p:spPr>
          <a:xfrm>
            <a:off x="525780" y="1789968"/>
            <a:ext cx="7882414" cy="4627457"/>
          </a:xfrm>
        </p:spPr>
        <p:txBody>
          <a:bodyPr>
            <a:normAutofit/>
          </a:bodyPr>
          <a:lstStyle/>
          <a:p>
            <a:r>
              <a:rPr lang="cs-CZ" sz="2400" dirty="0"/>
              <a:t>Na slidu č. 7 je tabulka s rámcovými profily dat z </a:t>
            </a:r>
            <a:r>
              <a:rPr lang="cs-CZ" sz="2400" dirty="0" err="1"/>
              <a:t>datasetu</a:t>
            </a:r>
            <a:r>
              <a:rPr lang="cs-CZ" sz="2400" dirty="0"/>
              <a:t> </a:t>
            </a:r>
            <a:r>
              <a:rPr lang="cs-CZ" sz="2400" dirty="0" err="1"/>
              <a:t>Poverty</a:t>
            </a:r>
            <a:r>
              <a:rPr lang="cs-CZ" sz="2400" dirty="0"/>
              <a:t> and </a:t>
            </a:r>
            <a:r>
              <a:rPr lang="cs-CZ" sz="2400" dirty="0" err="1"/>
              <a:t>income</a:t>
            </a:r>
            <a:r>
              <a:rPr lang="cs-CZ" sz="2400" dirty="0"/>
              <a:t> per </a:t>
            </a:r>
            <a:r>
              <a:rPr lang="cs-CZ" sz="2400" dirty="0" err="1"/>
              <a:t>county</a:t>
            </a:r>
            <a:endParaRPr lang="cs-CZ" sz="2400" dirty="0"/>
          </a:p>
          <a:p>
            <a:r>
              <a:rPr lang="cs-CZ" sz="2400" dirty="0"/>
              <a:t>Na slidu č. 8, 9, 10 je tabulka s rámcovými profily dat z </a:t>
            </a:r>
            <a:r>
              <a:rPr lang="cs-CZ" sz="2400" dirty="0" err="1"/>
              <a:t>Population</a:t>
            </a:r>
            <a:r>
              <a:rPr lang="cs-CZ" sz="2400" dirty="0"/>
              <a:t> per </a:t>
            </a:r>
            <a:r>
              <a:rPr lang="cs-CZ" sz="2400" dirty="0" err="1"/>
              <a:t>county</a:t>
            </a:r>
            <a:endParaRPr lang="cs-CZ" sz="2400" dirty="0"/>
          </a:p>
          <a:p>
            <a:r>
              <a:rPr lang="cs-CZ" sz="2400" dirty="0"/>
              <a:t>Na slidu č. 11 je tabulka s rámcovými profily dat z Covid-19 </a:t>
            </a:r>
            <a:r>
              <a:rPr lang="cs-CZ" sz="2400" dirty="0" err="1"/>
              <a:t>cases</a:t>
            </a:r>
            <a:endParaRPr lang="cs-CZ" sz="2400" b="1" dirty="0"/>
          </a:p>
          <a:p>
            <a:endParaRPr lang="cs-CZ" sz="2400" b="1" dirty="0"/>
          </a:p>
          <a:p>
            <a:endParaRPr lang="cs-CZ" sz="2400" dirty="0"/>
          </a:p>
          <a:p>
            <a:endParaRPr lang="cs-CZ" sz="2400" b="1" dirty="0"/>
          </a:p>
          <a:p>
            <a:endParaRPr lang="cs-CZ" sz="2400" dirty="0"/>
          </a:p>
        </p:txBody>
      </p:sp>
    </p:spTree>
    <p:extLst>
      <p:ext uri="{BB962C8B-B14F-4D97-AF65-F5344CB8AC3E}">
        <p14:creationId xmlns:p14="http://schemas.microsoft.com/office/powerpoint/2010/main" val="2181782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5E40A-CBB6-C57F-BB21-D37C3EAE2063}"/>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4D114C7-32BD-87C7-5557-065745F32F67}"/>
              </a:ext>
            </a:extLst>
          </p:cNvPr>
          <p:cNvGraphicFramePr>
            <a:graphicFrameLocks noGrp="1"/>
          </p:cNvGraphicFramePr>
          <p:nvPr>
            <p:ph sz="half" idx="1"/>
          </p:nvPr>
        </p:nvGraphicFramePr>
        <p:xfrm>
          <a:off x="392430" y="1727720"/>
          <a:ext cx="8206740" cy="2514357"/>
        </p:xfrm>
        <a:graphic>
          <a:graphicData uri="http://schemas.openxmlformats.org/drawingml/2006/table">
            <a:tbl>
              <a:tblPr>
                <a:tableStyleId>{93296810-A885-4BE3-A3E7-6D5BEEA58F35}</a:tableStyleId>
              </a:tblPr>
              <a:tblGrid>
                <a:gridCol w="2051685">
                  <a:extLst>
                    <a:ext uri="{9D8B030D-6E8A-4147-A177-3AD203B41FA5}">
                      <a16:colId xmlns:a16="http://schemas.microsoft.com/office/drawing/2014/main" val="1373983262"/>
                    </a:ext>
                  </a:extLst>
                </a:gridCol>
                <a:gridCol w="2051685">
                  <a:extLst>
                    <a:ext uri="{9D8B030D-6E8A-4147-A177-3AD203B41FA5}">
                      <a16:colId xmlns:a16="http://schemas.microsoft.com/office/drawing/2014/main" val="241933154"/>
                    </a:ext>
                  </a:extLst>
                </a:gridCol>
                <a:gridCol w="2051685">
                  <a:extLst>
                    <a:ext uri="{9D8B030D-6E8A-4147-A177-3AD203B41FA5}">
                      <a16:colId xmlns:a16="http://schemas.microsoft.com/office/drawing/2014/main" val="690252127"/>
                    </a:ext>
                  </a:extLst>
                </a:gridCol>
                <a:gridCol w="2051685">
                  <a:extLst>
                    <a:ext uri="{9D8B030D-6E8A-4147-A177-3AD203B41FA5}">
                      <a16:colId xmlns:a16="http://schemas.microsoft.com/office/drawing/2014/main" val="3175008998"/>
                    </a:ext>
                  </a:extLst>
                </a:gridCol>
              </a:tblGrid>
              <a:tr h="183987">
                <a:tc>
                  <a:txBody>
                    <a:bodyPr/>
                    <a:lstStyle/>
                    <a:p>
                      <a:r>
                        <a:rPr lang="en-GB" sz="800" b="1" dirty="0" err="1"/>
                        <a:t>Typ</a:t>
                      </a:r>
                      <a:r>
                        <a:rPr lang="en-GB" sz="800" b="1" dirty="0"/>
                        <a:t> </a:t>
                      </a:r>
                      <a:r>
                        <a:rPr lang="en-GB" sz="800" b="1" dirty="0" err="1"/>
                        <a:t>proměnné</a:t>
                      </a:r>
                      <a:endParaRPr lang="en-GB"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b="1" dirty="0" err="1"/>
                        <a:t>Celkový</a:t>
                      </a:r>
                      <a:r>
                        <a:rPr lang="en-GB" sz="800" b="1" dirty="0"/>
                        <a:t> </a:t>
                      </a:r>
                      <a:r>
                        <a:rPr lang="en-GB" sz="800" b="1" dirty="0" err="1"/>
                        <a:t>počet</a:t>
                      </a:r>
                      <a:r>
                        <a:rPr lang="en-GB" sz="800" b="1" dirty="0"/>
                        <a:t> </a:t>
                      </a:r>
                      <a:r>
                        <a:rPr lang="en-GB" sz="800" b="1" dirty="0" err="1"/>
                        <a:t>proměnných</a:t>
                      </a:r>
                      <a:endParaRPr lang="en-GB"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b="1" dirty="0" err="1"/>
                        <a:t>Proměnná</a:t>
                      </a:r>
                      <a:endParaRPr lang="en-GB"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b="1"/>
                        <a:t>Počet kategorií / unikátních hodnot</a:t>
                      </a:r>
                      <a:endParaRPr lang="en-GB"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6478598"/>
                  </a:ext>
                </a:extLst>
              </a:tr>
              <a:tr h="131577">
                <a:tc>
                  <a:txBody>
                    <a:bodyPr/>
                    <a:lstStyle/>
                    <a:p>
                      <a:r>
                        <a:rPr lang="en-GB" sz="800" b="1"/>
                        <a:t>Kategorické</a:t>
                      </a:r>
                      <a:endParaRPr lang="en-GB"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800"/>
                        <a:t>16</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dirty="0"/>
                        <a:t>State FIPS code</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800" dirty="0"/>
                        <a:t>56</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034404"/>
                  </a:ext>
                </a:extLst>
              </a:tr>
              <a:tr h="131577">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dirty="0"/>
                        <a:t>County FIPS code</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800" dirty="0"/>
                        <a:t>327</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51789"/>
                  </a:ext>
                </a:extLst>
              </a:tr>
              <a:tr h="131577">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dirty="0"/>
                        <a:t>Postal Code</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800" dirty="0"/>
                        <a:t>52</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6504842"/>
                  </a:ext>
                </a:extLst>
              </a:tr>
              <a:tr h="131577">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dirty="0"/>
                        <a:t>Name</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800" dirty="0"/>
                        <a:t>3195</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239109"/>
                  </a:ext>
                </a:extLst>
              </a:tr>
              <a:tr h="131577">
                <a:tc>
                  <a:txBody>
                    <a:bodyPr/>
                    <a:lstStyle/>
                    <a:p>
                      <a:r>
                        <a:rPr lang="en-GB" sz="800" b="1" dirty="0" err="1"/>
                        <a:t>Spojité</a:t>
                      </a:r>
                      <a:endParaRPr lang="en-GB"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800" dirty="0"/>
                        <a:t>11</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dirty="0"/>
                        <a:t>Poverty Estimate, All Ages</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4829105"/>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dirty="0"/>
                        <a:t>90% CI Lower Bound</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3847032"/>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dirty="0"/>
                        <a:t>90% CI Upper Bound</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9044954"/>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dirty="0"/>
                        <a:t>Poverty Percent, All Ages</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3647965"/>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dirty="0"/>
                        <a:t>Poverty Estimate, Age 0–17</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1933474"/>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dirty="0"/>
                        <a:t>Poverty Percent, Age 0–17</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5212072"/>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dirty="0"/>
                        <a:t>Poverty Estimate, Age 5–17 in Families</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4950792"/>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dirty="0"/>
                        <a:t>Poverty Percent, Age 5–17 in Families</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7545044"/>
                  </a:ext>
                </a:extLst>
              </a:tr>
              <a:tr h="131577">
                <a:tc>
                  <a:txBody>
                    <a:bodyPr/>
                    <a:lstStyle/>
                    <a:p>
                      <a:endParaRPr lang="en-GB"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dirty="0"/>
                        <a:t>Median Household Income</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4611198"/>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dirty="0"/>
                        <a:t>Poverty Estimate, Age 0–4</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1047946"/>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dirty="0"/>
                        <a:t>Poverty Percent, Age 0–4</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8814107"/>
                  </a:ext>
                </a:extLst>
              </a:tr>
            </a:tbl>
          </a:graphicData>
        </a:graphic>
      </p:graphicFrame>
      <p:sp>
        <p:nvSpPr>
          <p:cNvPr id="3" name="TextBox 2">
            <a:extLst>
              <a:ext uri="{FF2B5EF4-FFF2-40B4-BE49-F238E27FC236}">
                <a16:creationId xmlns:a16="http://schemas.microsoft.com/office/drawing/2014/main" id="{3846060E-C725-0CA8-B23B-1F0459A94E13}"/>
              </a:ext>
            </a:extLst>
          </p:cNvPr>
          <p:cNvSpPr txBox="1"/>
          <p:nvPr/>
        </p:nvSpPr>
        <p:spPr>
          <a:xfrm>
            <a:off x="296092" y="1010194"/>
            <a:ext cx="3788228" cy="400110"/>
          </a:xfrm>
          <a:prstGeom prst="rect">
            <a:avLst/>
          </a:prstGeom>
          <a:noFill/>
        </p:spPr>
        <p:txBody>
          <a:bodyPr wrap="square" rtlCol="0">
            <a:spAutoFit/>
          </a:bodyPr>
          <a:lstStyle/>
          <a:p>
            <a:r>
              <a:rPr lang="en-CZ" sz="2000" b="1" dirty="0"/>
              <a:t>Poverty and income per county</a:t>
            </a:r>
          </a:p>
        </p:txBody>
      </p:sp>
    </p:spTree>
    <p:extLst>
      <p:ext uri="{BB962C8B-B14F-4D97-AF65-F5344CB8AC3E}">
        <p14:creationId xmlns:p14="http://schemas.microsoft.com/office/powerpoint/2010/main" val="1386513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7F7C7-0584-C745-A16B-06EC0F133BB5}"/>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4E7CEF5C-293C-532A-2279-E83CF2C95B34}"/>
              </a:ext>
            </a:extLst>
          </p:cNvPr>
          <p:cNvGraphicFramePr>
            <a:graphicFrameLocks noGrp="1"/>
          </p:cNvGraphicFramePr>
          <p:nvPr>
            <p:ph sz="half" idx="1"/>
          </p:nvPr>
        </p:nvGraphicFramePr>
        <p:xfrm>
          <a:off x="468630" y="926531"/>
          <a:ext cx="8206740" cy="4485333"/>
        </p:xfrm>
        <a:graphic>
          <a:graphicData uri="http://schemas.openxmlformats.org/drawingml/2006/table">
            <a:tbl>
              <a:tblPr>
                <a:tableStyleId>{93296810-A885-4BE3-A3E7-6D5BEEA58F35}</a:tableStyleId>
              </a:tblPr>
              <a:tblGrid>
                <a:gridCol w="2051685">
                  <a:extLst>
                    <a:ext uri="{9D8B030D-6E8A-4147-A177-3AD203B41FA5}">
                      <a16:colId xmlns:a16="http://schemas.microsoft.com/office/drawing/2014/main" val="1373983262"/>
                    </a:ext>
                  </a:extLst>
                </a:gridCol>
                <a:gridCol w="2051685">
                  <a:extLst>
                    <a:ext uri="{9D8B030D-6E8A-4147-A177-3AD203B41FA5}">
                      <a16:colId xmlns:a16="http://schemas.microsoft.com/office/drawing/2014/main" val="241933154"/>
                    </a:ext>
                  </a:extLst>
                </a:gridCol>
                <a:gridCol w="2051685">
                  <a:extLst>
                    <a:ext uri="{9D8B030D-6E8A-4147-A177-3AD203B41FA5}">
                      <a16:colId xmlns:a16="http://schemas.microsoft.com/office/drawing/2014/main" val="690252127"/>
                    </a:ext>
                  </a:extLst>
                </a:gridCol>
                <a:gridCol w="2051685">
                  <a:extLst>
                    <a:ext uri="{9D8B030D-6E8A-4147-A177-3AD203B41FA5}">
                      <a16:colId xmlns:a16="http://schemas.microsoft.com/office/drawing/2014/main" val="3175008998"/>
                    </a:ext>
                  </a:extLst>
                </a:gridCol>
              </a:tblGrid>
              <a:tr h="183987">
                <a:tc>
                  <a:txBody>
                    <a:bodyPr/>
                    <a:lstStyle/>
                    <a:p>
                      <a:r>
                        <a:rPr lang="en-GB" sz="800" b="1" dirty="0" err="1"/>
                        <a:t>Typ</a:t>
                      </a:r>
                      <a:r>
                        <a:rPr lang="en-GB" sz="800" b="1" dirty="0"/>
                        <a:t> </a:t>
                      </a:r>
                      <a:r>
                        <a:rPr lang="en-GB" sz="800" b="1" dirty="0" err="1"/>
                        <a:t>proměnné</a:t>
                      </a:r>
                      <a:endParaRPr lang="en-GB"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b="1" dirty="0" err="1"/>
                        <a:t>Celkový</a:t>
                      </a:r>
                      <a:r>
                        <a:rPr lang="en-GB" sz="800" b="1" dirty="0"/>
                        <a:t> </a:t>
                      </a:r>
                      <a:r>
                        <a:rPr lang="en-GB" sz="800" b="1" dirty="0" err="1"/>
                        <a:t>počet</a:t>
                      </a:r>
                      <a:r>
                        <a:rPr lang="en-GB" sz="800" b="1" dirty="0"/>
                        <a:t> </a:t>
                      </a:r>
                      <a:r>
                        <a:rPr lang="en-GB" sz="800" b="1" dirty="0" err="1"/>
                        <a:t>proměnných</a:t>
                      </a:r>
                      <a:endParaRPr lang="en-GB"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b="1" dirty="0" err="1"/>
                        <a:t>Proměnná</a:t>
                      </a:r>
                      <a:endParaRPr lang="en-GB"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800" b="1"/>
                        <a:t>Počet kategorií / unikátních hodnot</a:t>
                      </a:r>
                      <a:endParaRPr lang="en-GB"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6478598"/>
                  </a:ext>
                </a:extLst>
              </a:tr>
              <a:tr h="131577">
                <a:tc>
                  <a:txBody>
                    <a:bodyPr/>
                    <a:lstStyle/>
                    <a:p>
                      <a:r>
                        <a:rPr lang="en-GB" sz="800" b="1"/>
                        <a:t>Kategorické</a:t>
                      </a:r>
                      <a:endParaRPr lang="en-GB"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800" dirty="0"/>
                        <a:t>6</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900" dirty="0"/>
                        <a:t>SUMLEV</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800" dirty="0"/>
                        <a:t>1</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034404"/>
                  </a:ext>
                </a:extLst>
              </a:tr>
              <a:tr h="131577">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900" dirty="0"/>
                        <a:t>State</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800" dirty="0"/>
                        <a:t>51</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51789"/>
                  </a:ext>
                </a:extLst>
              </a:tr>
              <a:tr h="131577">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900" dirty="0"/>
                        <a:t>County</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800" b="0" dirty="0"/>
                        <a:t>1883</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6504842"/>
                  </a:ext>
                </a:extLst>
              </a:tr>
              <a:tr h="131577">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900" dirty="0"/>
                        <a:t>State name</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800" dirty="0"/>
                        <a:t>50</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239109"/>
                  </a:ext>
                </a:extLst>
              </a:tr>
              <a:tr h="131577">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900" dirty="0"/>
                        <a:t>County Name</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800" b="0" dirty="0"/>
                        <a:t>1883</a:t>
                      </a:r>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3847032"/>
                  </a:ext>
                </a:extLst>
              </a:tr>
              <a:tr h="131577">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900" dirty="0"/>
                        <a:t>Age group</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800" dirty="0"/>
                        <a:t>19</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4421504"/>
                  </a:ext>
                </a:extLst>
              </a:tr>
              <a:tr h="131577">
                <a:tc>
                  <a:txBody>
                    <a:bodyPr/>
                    <a:lstStyle/>
                    <a:p>
                      <a:r>
                        <a:rPr lang="en-CZ" sz="800" b="1" dirty="0"/>
                        <a:t>Časové</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800" dirty="0"/>
                        <a:t>1</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900" dirty="0"/>
                        <a:t>Year</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9044954"/>
                  </a:ext>
                </a:extLst>
              </a:tr>
              <a:tr h="131577">
                <a:tc>
                  <a:txBody>
                    <a:bodyPr/>
                    <a:lstStyle/>
                    <a:p>
                      <a:r>
                        <a:rPr lang="en-CZ" sz="800" b="1" dirty="0"/>
                        <a:t>Spojité</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800" dirty="0"/>
                        <a:t>73</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TOT_POP</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3647965"/>
                  </a:ext>
                </a:extLst>
              </a:tr>
              <a:tr h="0">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TOT_MALE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3495297"/>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TOT_FEMALE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4554753"/>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WA_MALE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3597979"/>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WA_FEMALE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5662781"/>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BA_MALE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5398217"/>
                  </a:ext>
                </a:extLst>
              </a:tr>
              <a:tr h="131577">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BA_FEMALE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7497523"/>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IA_MALE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7761015"/>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IA_FEMALE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9639191"/>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AA_MALE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6049896"/>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AA_FEMALE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1314319"/>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NA_MALE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505689"/>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a:solidFill>
                            <a:srgbClr val="000000"/>
                          </a:solidFill>
                          <a:effectLst/>
                          <a:latin typeface="Calibri" panose="020F0502020204030204" pitchFamily="34" charset="0"/>
                        </a:rPr>
                        <a:t>NA_FEMALE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3310429"/>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a:solidFill>
                            <a:srgbClr val="000000"/>
                          </a:solidFill>
                          <a:effectLst/>
                          <a:latin typeface="Calibri" panose="020F0502020204030204" pitchFamily="34" charset="0"/>
                        </a:rPr>
                        <a:t>TOM_MALE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2259230"/>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a:solidFill>
                            <a:srgbClr val="000000"/>
                          </a:solidFill>
                          <a:effectLst/>
                          <a:latin typeface="Calibri" panose="020F0502020204030204" pitchFamily="34" charset="0"/>
                        </a:rPr>
                        <a:t>TOM_FEMALE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676639"/>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WAC_MALE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4120302"/>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WAC_FEMALE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1291025"/>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a:solidFill>
                            <a:srgbClr val="000000"/>
                          </a:solidFill>
                          <a:effectLst/>
                          <a:latin typeface="Calibri" panose="020F0502020204030204" pitchFamily="34" charset="0"/>
                        </a:rPr>
                        <a:t>BAC_MALE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3962449"/>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BAC_FEMALE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3639325"/>
                  </a:ext>
                </a:extLst>
              </a:tr>
              <a:tr h="131577">
                <a:tc>
                  <a:txBody>
                    <a:bodyPr/>
                    <a:lstStyle/>
                    <a:p>
                      <a:endParaRPr lang="en-CZ" sz="8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IAC_MALE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8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056073"/>
                  </a:ext>
                </a:extLst>
              </a:tr>
            </a:tbl>
          </a:graphicData>
        </a:graphic>
      </p:graphicFrame>
      <p:sp>
        <p:nvSpPr>
          <p:cNvPr id="3" name="TextBox 2">
            <a:extLst>
              <a:ext uri="{FF2B5EF4-FFF2-40B4-BE49-F238E27FC236}">
                <a16:creationId xmlns:a16="http://schemas.microsoft.com/office/drawing/2014/main" id="{F2121487-AA45-1CB1-0682-7D818ADFEF24}"/>
              </a:ext>
            </a:extLst>
          </p:cNvPr>
          <p:cNvSpPr txBox="1"/>
          <p:nvPr/>
        </p:nvSpPr>
        <p:spPr>
          <a:xfrm>
            <a:off x="2412819" y="348343"/>
            <a:ext cx="3788228" cy="400110"/>
          </a:xfrm>
          <a:prstGeom prst="rect">
            <a:avLst/>
          </a:prstGeom>
          <a:noFill/>
        </p:spPr>
        <p:txBody>
          <a:bodyPr wrap="square" rtlCol="0">
            <a:spAutoFit/>
          </a:bodyPr>
          <a:lstStyle/>
          <a:p>
            <a:r>
              <a:rPr lang="en-CZ" sz="2000" b="1" dirty="0"/>
              <a:t>Population per county</a:t>
            </a:r>
          </a:p>
        </p:txBody>
      </p:sp>
    </p:spTree>
    <p:extLst>
      <p:ext uri="{BB962C8B-B14F-4D97-AF65-F5344CB8AC3E}">
        <p14:creationId xmlns:p14="http://schemas.microsoft.com/office/powerpoint/2010/main" val="2431639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CF852-AD31-9D31-D536-4A29F5EA02B6}"/>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F922097D-DC36-8458-5448-2D9AD8C5FDBC}"/>
              </a:ext>
            </a:extLst>
          </p:cNvPr>
          <p:cNvGraphicFramePr>
            <a:graphicFrameLocks noGrp="1"/>
          </p:cNvGraphicFramePr>
          <p:nvPr>
            <p:ph sz="half" idx="1"/>
          </p:nvPr>
        </p:nvGraphicFramePr>
        <p:xfrm>
          <a:off x="468630" y="1214064"/>
          <a:ext cx="8206740" cy="5301927"/>
        </p:xfrm>
        <a:graphic>
          <a:graphicData uri="http://schemas.openxmlformats.org/drawingml/2006/table">
            <a:tbl>
              <a:tblPr>
                <a:tableStyleId>{93296810-A885-4BE3-A3E7-6D5BEEA58F35}</a:tableStyleId>
              </a:tblPr>
              <a:tblGrid>
                <a:gridCol w="2051685">
                  <a:extLst>
                    <a:ext uri="{9D8B030D-6E8A-4147-A177-3AD203B41FA5}">
                      <a16:colId xmlns:a16="http://schemas.microsoft.com/office/drawing/2014/main" val="1373983262"/>
                    </a:ext>
                  </a:extLst>
                </a:gridCol>
                <a:gridCol w="2051685">
                  <a:extLst>
                    <a:ext uri="{9D8B030D-6E8A-4147-A177-3AD203B41FA5}">
                      <a16:colId xmlns:a16="http://schemas.microsoft.com/office/drawing/2014/main" val="241933154"/>
                    </a:ext>
                  </a:extLst>
                </a:gridCol>
                <a:gridCol w="2051685">
                  <a:extLst>
                    <a:ext uri="{9D8B030D-6E8A-4147-A177-3AD203B41FA5}">
                      <a16:colId xmlns:a16="http://schemas.microsoft.com/office/drawing/2014/main" val="690252127"/>
                    </a:ext>
                  </a:extLst>
                </a:gridCol>
                <a:gridCol w="2051685">
                  <a:extLst>
                    <a:ext uri="{9D8B030D-6E8A-4147-A177-3AD203B41FA5}">
                      <a16:colId xmlns:a16="http://schemas.microsoft.com/office/drawing/2014/main" val="3175008998"/>
                    </a:ext>
                  </a:extLst>
                </a:gridCol>
              </a:tblGrid>
              <a:tr h="183987">
                <a:tc>
                  <a:txBody>
                    <a:bodyPr/>
                    <a:lstStyle/>
                    <a:p>
                      <a:r>
                        <a:rPr lang="en-GB" sz="900" b="1" dirty="0" err="1"/>
                        <a:t>Typ</a:t>
                      </a:r>
                      <a:r>
                        <a:rPr lang="en-GB" sz="900" b="1" dirty="0"/>
                        <a:t> </a:t>
                      </a:r>
                      <a:r>
                        <a:rPr lang="en-GB" sz="900" b="1" dirty="0" err="1"/>
                        <a:t>proměnné</a:t>
                      </a:r>
                      <a:endParaRPr lang="en-GB"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900" b="1" dirty="0" err="1"/>
                        <a:t>Celkový</a:t>
                      </a:r>
                      <a:r>
                        <a:rPr lang="en-GB" sz="900" b="1" dirty="0"/>
                        <a:t> </a:t>
                      </a:r>
                      <a:r>
                        <a:rPr lang="en-GB" sz="900" b="1" dirty="0" err="1"/>
                        <a:t>počet</a:t>
                      </a:r>
                      <a:r>
                        <a:rPr lang="en-GB" sz="900" b="1" dirty="0"/>
                        <a:t> </a:t>
                      </a:r>
                      <a:r>
                        <a:rPr lang="en-GB" sz="900" b="1" dirty="0" err="1"/>
                        <a:t>proměnných</a:t>
                      </a:r>
                      <a:endParaRPr lang="en-GB"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900" b="1" dirty="0" err="1"/>
                        <a:t>Proměnná</a:t>
                      </a:r>
                      <a:endParaRPr lang="en-GB"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900" b="1"/>
                        <a:t>Počet kategorií / unikátních hodnot</a:t>
                      </a:r>
                      <a:endParaRPr lang="en-GB"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6478598"/>
                  </a:ext>
                </a:extLst>
              </a:tr>
              <a:tr h="131577">
                <a:tc>
                  <a:txBody>
                    <a:bodyPr/>
                    <a:lstStyle/>
                    <a:p>
                      <a:r>
                        <a:rPr lang="en-CZ" sz="900" dirty="0"/>
                        <a:t>Spojité</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900" dirty="0"/>
                        <a:t>73</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AAC_MALE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034404"/>
                  </a:ext>
                </a:extLst>
              </a:tr>
              <a:tr h="131577">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AAC_FEMALE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51789"/>
                  </a:ext>
                </a:extLst>
              </a:tr>
              <a:tr h="131577">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NAC_MALE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6504842"/>
                  </a:ext>
                </a:extLst>
              </a:tr>
              <a:tr h="131577">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NAC_FEMALE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239109"/>
                  </a:ext>
                </a:extLst>
              </a:tr>
              <a:tr h="131577">
                <a:tc>
                  <a:txBody>
                    <a:bodyPr/>
                    <a:lstStyle/>
                    <a:p>
                      <a:endParaRPr lang="en-GB"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4829105"/>
                  </a:ext>
                </a:extLst>
              </a:tr>
              <a:tr h="131577">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3847032"/>
                  </a:ext>
                </a:extLst>
              </a:tr>
              <a:tr h="131577">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NHWA_MALE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9044954"/>
                  </a:ext>
                </a:extLst>
              </a:tr>
              <a:tr h="131577">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NHWA_FEMALE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3647965"/>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NHBA_MALE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3495297"/>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NHBA_FEMALE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4554753"/>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a:solidFill>
                            <a:srgbClr val="000000"/>
                          </a:solidFill>
                          <a:effectLst/>
                          <a:latin typeface="Calibri" panose="020F0502020204030204" pitchFamily="34" charset="0"/>
                        </a:rPr>
                        <a:t>NHIA_MALE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3597979"/>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NHIA_FEMALE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5662781"/>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NHAA_MALE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5398217"/>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a:solidFill>
                            <a:srgbClr val="000000"/>
                          </a:solidFill>
                          <a:effectLst/>
                          <a:latin typeface="Calibri" panose="020F0502020204030204" pitchFamily="34" charset="0"/>
                        </a:rPr>
                        <a:t>NHAA_FEMALE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7497523"/>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a:solidFill>
                            <a:srgbClr val="000000"/>
                          </a:solidFill>
                          <a:effectLst/>
                          <a:latin typeface="Calibri" panose="020F0502020204030204" pitchFamily="34" charset="0"/>
                        </a:rPr>
                        <a:t>NHNA_MALE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7761015"/>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NHNA_FEMALE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9639191"/>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NHTOM_MALE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6049896"/>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a:solidFill>
                            <a:srgbClr val="000000"/>
                          </a:solidFill>
                          <a:effectLst/>
                          <a:latin typeface="Calibri" panose="020F0502020204030204" pitchFamily="34" charset="0"/>
                        </a:rPr>
                        <a:t>NHTOM_FEMALE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1314319"/>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a:solidFill>
                            <a:srgbClr val="000000"/>
                          </a:solidFill>
                          <a:effectLst/>
                          <a:latin typeface="Calibri" panose="020F0502020204030204" pitchFamily="34" charset="0"/>
                        </a:rPr>
                        <a:t>NHWAC_MALE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505689"/>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NHWAC_FEMALE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3310429"/>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NHBAC_MALE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2259230"/>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NHBAC_FEMALE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676639"/>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NHIAC_MALE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4120302"/>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NHIAC_FEMALE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1291025"/>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NHAAC_MALE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3962449"/>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NHAAC_FEMALE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3639325"/>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NHNAC_MALE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056073"/>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NHNAC_FEMALE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0517352"/>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0878868"/>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9294582"/>
                  </a:ext>
                </a:extLst>
              </a:tr>
            </a:tbl>
          </a:graphicData>
        </a:graphic>
      </p:graphicFrame>
      <p:sp>
        <p:nvSpPr>
          <p:cNvPr id="4" name="TextBox 3">
            <a:extLst>
              <a:ext uri="{FF2B5EF4-FFF2-40B4-BE49-F238E27FC236}">
                <a16:creationId xmlns:a16="http://schemas.microsoft.com/office/drawing/2014/main" id="{95563B62-7334-7708-7B2B-D613584E4E0C}"/>
              </a:ext>
            </a:extLst>
          </p:cNvPr>
          <p:cNvSpPr txBox="1"/>
          <p:nvPr/>
        </p:nvSpPr>
        <p:spPr>
          <a:xfrm>
            <a:off x="2423160" y="342009"/>
            <a:ext cx="4619896" cy="369332"/>
          </a:xfrm>
          <a:prstGeom prst="rect">
            <a:avLst/>
          </a:prstGeom>
          <a:noFill/>
        </p:spPr>
        <p:txBody>
          <a:bodyPr wrap="square">
            <a:spAutoFit/>
          </a:bodyPr>
          <a:lstStyle/>
          <a:p>
            <a:r>
              <a:rPr lang="en-CZ" sz="1800" b="1" dirty="0"/>
              <a:t>Population per county</a:t>
            </a:r>
          </a:p>
        </p:txBody>
      </p:sp>
    </p:spTree>
    <p:extLst>
      <p:ext uri="{BB962C8B-B14F-4D97-AF65-F5344CB8AC3E}">
        <p14:creationId xmlns:p14="http://schemas.microsoft.com/office/powerpoint/2010/main" val="2948324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EDA6A-A36D-A4AA-9E04-0C86302452D2}"/>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35F01FFD-9E6C-91FA-E13E-654519538BF6}"/>
              </a:ext>
            </a:extLst>
          </p:cNvPr>
          <p:cNvGraphicFramePr>
            <a:graphicFrameLocks noGrp="1"/>
          </p:cNvGraphicFramePr>
          <p:nvPr>
            <p:ph sz="half" idx="1"/>
          </p:nvPr>
        </p:nvGraphicFramePr>
        <p:xfrm>
          <a:off x="468630" y="1335985"/>
          <a:ext cx="8206740" cy="3937143"/>
        </p:xfrm>
        <a:graphic>
          <a:graphicData uri="http://schemas.openxmlformats.org/drawingml/2006/table">
            <a:tbl>
              <a:tblPr>
                <a:tableStyleId>{93296810-A885-4BE3-A3E7-6D5BEEA58F35}</a:tableStyleId>
              </a:tblPr>
              <a:tblGrid>
                <a:gridCol w="2051685">
                  <a:extLst>
                    <a:ext uri="{9D8B030D-6E8A-4147-A177-3AD203B41FA5}">
                      <a16:colId xmlns:a16="http://schemas.microsoft.com/office/drawing/2014/main" val="1373983262"/>
                    </a:ext>
                  </a:extLst>
                </a:gridCol>
                <a:gridCol w="2051685">
                  <a:extLst>
                    <a:ext uri="{9D8B030D-6E8A-4147-A177-3AD203B41FA5}">
                      <a16:colId xmlns:a16="http://schemas.microsoft.com/office/drawing/2014/main" val="241933154"/>
                    </a:ext>
                  </a:extLst>
                </a:gridCol>
                <a:gridCol w="2051685">
                  <a:extLst>
                    <a:ext uri="{9D8B030D-6E8A-4147-A177-3AD203B41FA5}">
                      <a16:colId xmlns:a16="http://schemas.microsoft.com/office/drawing/2014/main" val="690252127"/>
                    </a:ext>
                  </a:extLst>
                </a:gridCol>
                <a:gridCol w="2051685">
                  <a:extLst>
                    <a:ext uri="{9D8B030D-6E8A-4147-A177-3AD203B41FA5}">
                      <a16:colId xmlns:a16="http://schemas.microsoft.com/office/drawing/2014/main" val="3175008998"/>
                    </a:ext>
                  </a:extLst>
                </a:gridCol>
              </a:tblGrid>
              <a:tr h="183987">
                <a:tc>
                  <a:txBody>
                    <a:bodyPr/>
                    <a:lstStyle/>
                    <a:p>
                      <a:r>
                        <a:rPr lang="en-GB" sz="900" b="1" dirty="0" err="1"/>
                        <a:t>Typ</a:t>
                      </a:r>
                      <a:r>
                        <a:rPr lang="en-GB" sz="900" b="1" dirty="0"/>
                        <a:t> </a:t>
                      </a:r>
                      <a:r>
                        <a:rPr lang="en-GB" sz="900" b="1" dirty="0" err="1"/>
                        <a:t>proměnné</a:t>
                      </a:r>
                      <a:endParaRPr lang="en-GB"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900" b="1" dirty="0" err="1"/>
                        <a:t>Celkový</a:t>
                      </a:r>
                      <a:r>
                        <a:rPr lang="en-GB" sz="900" b="1" dirty="0"/>
                        <a:t> </a:t>
                      </a:r>
                      <a:r>
                        <a:rPr lang="en-GB" sz="900" b="1" dirty="0" err="1"/>
                        <a:t>počet</a:t>
                      </a:r>
                      <a:r>
                        <a:rPr lang="en-GB" sz="900" b="1" dirty="0"/>
                        <a:t> </a:t>
                      </a:r>
                      <a:r>
                        <a:rPr lang="en-GB" sz="900" b="1" dirty="0" err="1"/>
                        <a:t>proměnných</a:t>
                      </a:r>
                      <a:endParaRPr lang="en-GB"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900" b="1" dirty="0" err="1"/>
                        <a:t>Proměnná</a:t>
                      </a:r>
                      <a:endParaRPr lang="en-GB"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900" b="1"/>
                        <a:t>Počet kategorií / unikátních hodnot</a:t>
                      </a:r>
                      <a:endParaRPr lang="en-GB"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6478598"/>
                  </a:ext>
                </a:extLst>
              </a:tr>
              <a:tr h="131577">
                <a:tc>
                  <a:txBody>
                    <a:bodyPr/>
                    <a:lstStyle/>
                    <a:p>
                      <a:r>
                        <a:rPr lang="en-CZ" sz="900" dirty="0"/>
                        <a:t>Spojité</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900" dirty="0"/>
                        <a:t>73</a:t>
                      </a:r>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HWA_MALE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034404"/>
                  </a:ext>
                </a:extLst>
              </a:tr>
              <a:tr h="131577">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HWA_FEMALE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51789"/>
                  </a:ext>
                </a:extLst>
              </a:tr>
              <a:tr h="131577">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HBA_MALE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6504842"/>
                  </a:ext>
                </a:extLst>
              </a:tr>
              <a:tr h="131577">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HBA_FEMALE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239109"/>
                  </a:ext>
                </a:extLst>
              </a:tr>
              <a:tr h="131577">
                <a:tc>
                  <a:txBody>
                    <a:bodyPr/>
                    <a:lstStyle/>
                    <a:p>
                      <a:endParaRPr lang="en-GB"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HIA_MALE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4829105"/>
                  </a:ext>
                </a:extLst>
              </a:tr>
              <a:tr h="131577">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HIA_FEMALE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3847032"/>
                  </a:ext>
                </a:extLst>
              </a:tr>
              <a:tr h="131577">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HAA_MALE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9044954"/>
                  </a:ext>
                </a:extLst>
              </a:tr>
              <a:tr h="131577">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HAA_FEMALE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3647965"/>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HNA_MALE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3495297"/>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HNA_FEMALE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4554753"/>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HTOM_MALE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3597979"/>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HTOM_FEMALE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5662781"/>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HWAC_MALE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5398217"/>
                  </a:ext>
                </a:extLst>
              </a:tr>
              <a:tr h="131577">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HWAC_FEMALE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7497523"/>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HBAC_MALE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7761015"/>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HBAC_FEMALE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9639191"/>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HIAC_MALE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6049896"/>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a:solidFill>
                            <a:srgbClr val="000000"/>
                          </a:solidFill>
                          <a:effectLst/>
                          <a:latin typeface="Calibri" panose="020F0502020204030204" pitchFamily="34" charset="0"/>
                        </a:rPr>
                        <a:t>HIAC_FEMALE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1314319"/>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a:solidFill>
                            <a:srgbClr val="000000"/>
                          </a:solidFill>
                          <a:effectLst/>
                          <a:latin typeface="Calibri" panose="020F0502020204030204" pitchFamily="34" charset="0"/>
                        </a:rPr>
                        <a:t>HAAC_MALE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505689"/>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a:solidFill>
                            <a:srgbClr val="000000"/>
                          </a:solidFill>
                          <a:effectLst/>
                          <a:latin typeface="Calibri" panose="020F0502020204030204" pitchFamily="34" charset="0"/>
                        </a:rPr>
                        <a:t>HAAC_FEMALE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3310429"/>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a:solidFill>
                            <a:srgbClr val="000000"/>
                          </a:solidFill>
                          <a:effectLst/>
                          <a:latin typeface="Calibri" panose="020F0502020204030204" pitchFamily="34" charset="0"/>
                        </a:rPr>
                        <a:t>HNAC_MALE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2259230"/>
                  </a:ext>
                </a:extLst>
              </a:tr>
              <a:tr h="131577">
                <a:tc>
                  <a:txBody>
                    <a:bodyPr/>
                    <a:lstStyle/>
                    <a:p>
                      <a:endParaRPr lang="en-CZ" sz="90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900" b="0" i="0" u="none" strike="noStrike" dirty="0">
                          <a:solidFill>
                            <a:srgbClr val="000000"/>
                          </a:solidFill>
                          <a:effectLst/>
                          <a:latin typeface="Calibri" panose="020F0502020204030204" pitchFamily="34" charset="0"/>
                        </a:rPr>
                        <a:t>HNAC_FEMALE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900" dirty="0"/>
                    </a:p>
                  </a:txBody>
                  <a:tcPr marL="33437" marR="33437" marT="16719" marB="167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676639"/>
                  </a:ext>
                </a:extLst>
              </a:tr>
            </a:tbl>
          </a:graphicData>
        </a:graphic>
      </p:graphicFrame>
      <p:sp>
        <p:nvSpPr>
          <p:cNvPr id="3" name="TextBox 2">
            <a:extLst>
              <a:ext uri="{FF2B5EF4-FFF2-40B4-BE49-F238E27FC236}">
                <a16:creationId xmlns:a16="http://schemas.microsoft.com/office/drawing/2014/main" id="{CF5F9C64-6360-886A-A873-821B9B37131E}"/>
              </a:ext>
            </a:extLst>
          </p:cNvPr>
          <p:cNvSpPr txBox="1"/>
          <p:nvPr/>
        </p:nvSpPr>
        <p:spPr>
          <a:xfrm>
            <a:off x="2379617" y="359620"/>
            <a:ext cx="4619896" cy="369332"/>
          </a:xfrm>
          <a:prstGeom prst="rect">
            <a:avLst/>
          </a:prstGeom>
          <a:noFill/>
        </p:spPr>
        <p:txBody>
          <a:bodyPr wrap="square">
            <a:spAutoFit/>
          </a:bodyPr>
          <a:lstStyle/>
          <a:p>
            <a:r>
              <a:rPr lang="en-CZ" sz="1800" b="1" dirty="0"/>
              <a:t>Population per county</a:t>
            </a:r>
          </a:p>
        </p:txBody>
      </p:sp>
    </p:spTree>
    <p:extLst>
      <p:ext uri="{BB962C8B-B14F-4D97-AF65-F5344CB8AC3E}">
        <p14:creationId xmlns:p14="http://schemas.microsoft.com/office/powerpoint/2010/main" val="788286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6A030-7887-ED67-05B6-EB661F2D8814}"/>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3813BC43-CF66-B55D-FF68-057A0E7B38E5}"/>
              </a:ext>
            </a:extLst>
          </p:cNvPr>
          <p:cNvGraphicFramePr>
            <a:graphicFrameLocks noGrp="1"/>
          </p:cNvGraphicFramePr>
          <p:nvPr>
            <p:ph sz="half" idx="1"/>
          </p:nvPr>
        </p:nvGraphicFramePr>
        <p:xfrm>
          <a:off x="1160462" y="1747927"/>
          <a:ext cx="6506888" cy="2027354"/>
        </p:xfrm>
        <a:graphic>
          <a:graphicData uri="http://schemas.openxmlformats.org/drawingml/2006/table">
            <a:tbl>
              <a:tblPr>
                <a:tableStyleId>{93296810-A885-4BE3-A3E7-6D5BEEA58F35}</a:tableStyleId>
              </a:tblPr>
              <a:tblGrid>
                <a:gridCol w="1626722">
                  <a:extLst>
                    <a:ext uri="{9D8B030D-6E8A-4147-A177-3AD203B41FA5}">
                      <a16:colId xmlns:a16="http://schemas.microsoft.com/office/drawing/2014/main" val="1663568629"/>
                    </a:ext>
                  </a:extLst>
                </a:gridCol>
                <a:gridCol w="1626722">
                  <a:extLst>
                    <a:ext uri="{9D8B030D-6E8A-4147-A177-3AD203B41FA5}">
                      <a16:colId xmlns:a16="http://schemas.microsoft.com/office/drawing/2014/main" val="2443429873"/>
                    </a:ext>
                  </a:extLst>
                </a:gridCol>
                <a:gridCol w="1626722">
                  <a:extLst>
                    <a:ext uri="{9D8B030D-6E8A-4147-A177-3AD203B41FA5}">
                      <a16:colId xmlns:a16="http://schemas.microsoft.com/office/drawing/2014/main" val="2679819711"/>
                    </a:ext>
                  </a:extLst>
                </a:gridCol>
                <a:gridCol w="1626722">
                  <a:extLst>
                    <a:ext uri="{9D8B030D-6E8A-4147-A177-3AD203B41FA5}">
                      <a16:colId xmlns:a16="http://schemas.microsoft.com/office/drawing/2014/main" val="2681212961"/>
                    </a:ext>
                  </a:extLst>
                </a:gridCol>
              </a:tblGrid>
              <a:tr h="473150">
                <a:tc>
                  <a:txBody>
                    <a:bodyPr/>
                    <a:lstStyle/>
                    <a:p>
                      <a:r>
                        <a:rPr lang="en-GB" sz="1400" b="1" dirty="0" err="1"/>
                        <a:t>Kategorie</a:t>
                      </a:r>
                      <a:endParaRPr lang="en-GB" sz="1400" b="1" dirty="0"/>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b="1" dirty="0" err="1"/>
                        <a:t>Celkový</a:t>
                      </a:r>
                      <a:r>
                        <a:rPr lang="en-GB" sz="1400" b="1" dirty="0"/>
                        <a:t> </a:t>
                      </a:r>
                      <a:r>
                        <a:rPr lang="en-GB" sz="1400" b="1" dirty="0" err="1"/>
                        <a:t>počet</a:t>
                      </a:r>
                      <a:r>
                        <a:rPr lang="en-GB" sz="1400" b="1" dirty="0"/>
                        <a:t> </a:t>
                      </a:r>
                      <a:r>
                        <a:rPr lang="en-GB" sz="1400" b="1" dirty="0" err="1"/>
                        <a:t>proměnných</a:t>
                      </a:r>
                      <a:endParaRPr lang="en-GB" sz="1400" b="1" dirty="0"/>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b="1" dirty="0" err="1"/>
                        <a:t>Proměnná</a:t>
                      </a:r>
                      <a:endParaRPr lang="en-GB" sz="1400" dirty="0"/>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b="1" dirty="0" err="1"/>
                        <a:t>Počet</a:t>
                      </a:r>
                      <a:r>
                        <a:rPr lang="en-GB" sz="1400" b="1" dirty="0"/>
                        <a:t> </a:t>
                      </a:r>
                      <a:r>
                        <a:rPr lang="en-GB" sz="1400" b="1" dirty="0" err="1"/>
                        <a:t>unikátních</a:t>
                      </a:r>
                      <a:r>
                        <a:rPr lang="en-GB" sz="1400" b="1" dirty="0"/>
                        <a:t> </a:t>
                      </a:r>
                      <a:r>
                        <a:rPr lang="en-GB" sz="1400" b="1" dirty="0" err="1"/>
                        <a:t>kategorií</a:t>
                      </a:r>
                      <a:r>
                        <a:rPr lang="en-GB" sz="1400" b="1" dirty="0"/>
                        <a:t> / </a:t>
                      </a:r>
                      <a:r>
                        <a:rPr lang="en-GB" sz="1400" b="1" dirty="0" err="1"/>
                        <a:t>hodnot</a:t>
                      </a:r>
                      <a:endParaRPr lang="en-GB" sz="1400" dirty="0"/>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0655365"/>
                  </a:ext>
                </a:extLst>
              </a:tr>
              <a:tr h="254756">
                <a:tc>
                  <a:txBody>
                    <a:bodyPr/>
                    <a:lstStyle/>
                    <a:p>
                      <a:r>
                        <a:rPr lang="en-GB" sz="1400" b="1"/>
                        <a:t>Kategorické</a:t>
                      </a:r>
                      <a:endParaRPr lang="en-GB" sz="1400"/>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t>3</a:t>
                      </a:r>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t>County</a:t>
                      </a:r>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1400" dirty="0"/>
                        <a:t>3273</a:t>
                      </a:r>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1398862"/>
                  </a:ext>
                </a:extLst>
              </a:tr>
              <a:tr h="254756">
                <a:tc>
                  <a:txBody>
                    <a:bodyPr/>
                    <a:lstStyle/>
                    <a:p>
                      <a:endParaRPr lang="en-CZ" sz="1400"/>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GB" sz="1400" dirty="0"/>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t>State</a:t>
                      </a:r>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Z" sz="1400" dirty="0"/>
                        <a:t>50</a:t>
                      </a:r>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7116071"/>
                  </a:ext>
                </a:extLst>
              </a:tr>
              <a:tr h="254756">
                <a:tc>
                  <a:txBody>
                    <a:bodyPr/>
                    <a:lstStyle/>
                    <a:p>
                      <a:endParaRPr lang="en-CZ" sz="1400"/>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GB" sz="1400"/>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t>FIPS Code</a:t>
                      </a:r>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CZ" sz="1400" dirty="0"/>
                        <a:t>3273</a:t>
                      </a:r>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9233097"/>
                  </a:ext>
                </a:extLst>
              </a:tr>
              <a:tr h="254756">
                <a:tc>
                  <a:txBody>
                    <a:bodyPr/>
                    <a:lstStyle/>
                    <a:p>
                      <a:r>
                        <a:rPr lang="en-GB" sz="1400" b="1" dirty="0" err="1"/>
                        <a:t>Spojité</a:t>
                      </a:r>
                      <a:r>
                        <a:rPr lang="en-GB" sz="1400" b="1" dirty="0"/>
                        <a:t> </a:t>
                      </a:r>
                      <a:r>
                        <a:rPr lang="en-GB" sz="1400" b="1" dirty="0" err="1"/>
                        <a:t>hodnoty</a:t>
                      </a:r>
                      <a:endParaRPr lang="en-GB" sz="1400" dirty="0"/>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t>2</a:t>
                      </a:r>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t>Cases</a:t>
                      </a:r>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1400" dirty="0"/>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5795876"/>
                  </a:ext>
                </a:extLst>
              </a:tr>
              <a:tr h="254756">
                <a:tc>
                  <a:txBody>
                    <a:bodyPr/>
                    <a:lstStyle/>
                    <a:p>
                      <a:endParaRPr lang="en-CZ" sz="1400"/>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GB" sz="1400"/>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t>Deaths</a:t>
                      </a:r>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1400" dirty="0"/>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7700521"/>
                  </a:ext>
                </a:extLst>
              </a:tr>
              <a:tr h="254756">
                <a:tc>
                  <a:txBody>
                    <a:bodyPr/>
                    <a:lstStyle/>
                    <a:p>
                      <a:r>
                        <a:rPr lang="en-CZ" sz="1400" b="1" dirty="0"/>
                        <a:t>Časové</a:t>
                      </a:r>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GB" sz="1400"/>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t>Date</a:t>
                      </a:r>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Z" sz="1400" dirty="0"/>
                    </a:p>
                  </a:txBody>
                  <a:tcPr marL="45673" marR="45673" marT="22837" marB="2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9428847"/>
                  </a:ext>
                </a:extLst>
              </a:tr>
            </a:tbl>
          </a:graphicData>
        </a:graphic>
      </p:graphicFrame>
      <p:sp>
        <p:nvSpPr>
          <p:cNvPr id="2" name="TextBox 1">
            <a:extLst>
              <a:ext uri="{FF2B5EF4-FFF2-40B4-BE49-F238E27FC236}">
                <a16:creationId xmlns:a16="http://schemas.microsoft.com/office/drawing/2014/main" id="{77405F10-690C-5437-23D4-5BA43365E5DC}"/>
              </a:ext>
            </a:extLst>
          </p:cNvPr>
          <p:cNvSpPr txBox="1"/>
          <p:nvPr/>
        </p:nvSpPr>
        <p:spPr>
          <a:xfrm>
            <a:off x="1160462" y="960120"/>
            <a:ext cx="5548948" cy="646331"/>
          </a:xfrm>
          <a:prstGeom prst="rect">
            <a:avLst/>
          </a:prstGeom>
          <a:noFill/>
        </p:spPr>
        <p:txBody>
          <a:bodyPr wrap="square" rtlCol="0">
            <a:spAutoFit/>
          </a:bodyPr>
          <a:lstStyle/>
          <a:p>
            <a:r>
              <a:rPr lang="cs-CZ" b="1" dirty="0">
                <a:latin typeface="Arial"/>
                <a:cs typeface="Arial"/>
              </a:rPr>
              <a:t>US </a:t>
            </a:r>
            <a:r>
              <a:rPr lang="cs-CZ" b="1" dirty="0" err="1">
                <a:latin typeface="Arial"/>
                <a:cs typeface="Arial"/>
              </a:rPr>
              <a:t>Counties</a:t>
            </a:r>
            <a:r>
              <a:rPr lang="cs-CZ" b="1" dirty="0">
                <a:latin typeface="Arial"/>
                <a:cs typeface="Arial"/>
              </a:rPr>
              <a:t> Covid-19 </a:t>
            </a:r>
            <a:r>
              <a:rPr lang="cs-CZ" b="1" dirty="0" err="1">
                <a:latin typeface="Arial"/>
                <a:cs typeface="Arial"/>
              </a:rPr>
              <a:t>daily</a:t>
            </a:r>
            <a:r>
              <a:rPr lang="cs-CZ" b="1" dirty="0">
                <a:latin typeface="Arial"/>
                <a:cs typeface="Arial"/>
              </a:rPr>
              <a:t>, </a:t>
            </a:r>
            <a:r>
              <a:rPr lang="cs-CZ" b="1" dirty="0" err="1">
                <a:latin typeface="Arial"/>
                <a:cs typeface="Arial"/>
              </a:rPr>
              <a:t>year</a:t>
            </a:r>
            <a:r>
              <a:rPr lang="cs-CZ" b="1" dirty="0">
                <a:latin typeface="Arial"/>
                <a:cs typeface="Arial"/>
              </a:rPr>
              <a:t> 2020</a:t>
            </a:r>
          </a:p>
          <a:p>
            <a:endParaRPr lang="en-CZ" dirty="0"/>
          </a:p>
        </p:txBody>
      </p:sp>
    </p:spTree>
    <p:extLst>
      <p:ext uri="{BB962C8B-B14F-4D97-AF65-F5344CB8AC3E}">
        <p14:creationId xmlns:p14="http://schemas.microsoft.com/office/powerpoint/2010/main" val="2729890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D7B45DB-115D-13E1-3598-91C2ED0403DE}"/>
              </a:ext>
            </a:extLst>
          </p:cNvPr>
          <p:cNvSpPr>
            <a:spLocks noGrp="1"/>
          </p:cNvSpPr>
          <p:nvPr>
            <p:ph type="title"/>
          </p:nvPr>
        </p:nvSpPr>
        <p:spPr>
          <a:xfrm>
            <a:off x="0" y="2443624"/>
            <a:ext cx="9144000" cy="2884156"/>
          </a:xfrm>
        </p:spPr>
        <p:txBody>
          <a:bodyPr>
            <a:normAutofit/>
          </a:bodyPr>
          <a:lstStyle/>
          <a:p>
            <a:pPr algn="ctr"/>
            <a:r>
              <a:rPr lang="cs-CZ" sz="7200" dirty="0" err="1"/>
              <a:t>PowerBI</a:t>
            </a:r>
            <a:r>
              <a:rPr lang="cs-CZ" sz="7200" dirty="0"/>
              <a:t> část</a:t>
            </a:r>
          </a:p>
        </p:txBody>
      </p:sp>
    </p:spTree>
    <p:extLst>
      <p:ext uri="{BB962C8B-B14F-4D97-AF65-F5344CB8AC3E}">
        <p14:creationId xmlns:p14="http://schemas.microsoft.com/office/powerpoint/2010/main" val="2361564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949A3D3-058D-522B-C798-779DB8DAF945}"/>
              </a:ext>
            </a:extLst>
          </p:cNvPr>
          <p:cNvSpPr>
            <a:spLocks noGrp="1"/>
          </p:cNvSpPr>
          <p:nvPr>
            <p:ph type="title"/>
          </p:nvPr>
        </p:nvSpPr>
        <p:spPr>
          <a:xfrm>
            <a:off x="628650" y="1100016"/>
            <a:ext cx="7779544" cy="689952"/>
          </a:xfrm>
        </p:spPr>
        <p:txBody>
          <a:bodyPr anchor="t">
            <a:normAutofit/>
          </a:bodyPr>
          <a:lstStyle/>
          <a:p>
            <a:r>
              <a:rPr lang="cs-CZ" dirty="0"/>
              <a:t>Datový model – vlastní diagram</a:t>
            </a:r>
            <a:endParaRPr lang="en-US" dirty="0"/>
          </a:p>
        </p:txBody>
      </p:sp>
      <p:pic>
        <p:nvPicPr>
          <p:cNvPr id="5" name="Zástupný obsah 4" descr="Obsah obrázku text, diagram, snímek obrazovky, číslo&#10;&#10;Obsah generovaný pomocí AI může být nesprávný.">
            <a:extLst>
              <a:ext uri="{FF2B5EF4-FFF2-40B4-BE49-F238E27FC236}">
                <a16:creationId xmlns:a16="http://schemas.microsoft.com/office/drawing/2014/main" id="{5EE30622-E61E-BB14-4195-E2C4A39974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5226" y="1924055"/>
            <a:ext cx="6886391" cy="4493370"/>
          </a:xfrm>
          <a:noFill/>
        </p:spPr>
      </p:pic>
      <p:sp>
        <p:nvSpPr>
          <p:cNvPr id="6" name="TextovéPole 5">
            <a:extLst>
              <a:ext uri="{FF2B5EF4-FFF2-40B4-BE49-F238E27FC236}">
                <a16:creationId xmlns:a16="http://schemas.microsoft.com/office/drawing/2014/main" id="{D7FB31A7-3C2F-8B73-99F0-68742DAFEE79}"/>
              </a:ext>
            </a:extLst>
          </p:cNvPr>
          <p:cNvSpPr txBox="1"/>
          <p:nvPr/>
        </p:nvSpPr>
        <p:spPr>
          <a:xfrm>
            <a:off x="430411" y="6162104"/>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cs-CZ" dirty="0">
                <a:ea typeface="Calibri"/>
                <a:cs typeface="Calibri"/>
              </a:rPr>
              <a:t>Zdroj: Autor, 2026</a:t>
            </a:r>
            <a:endParaRPr lang="cs-CZ" dirty="0"/>
          </a:p>
        </p:txBody>
      </p:sp>
    </p:spTree>
    <p:extLst>
      <p:ext uri="{BB962C8B-B14F-4D97-AF65-F5344CB8AC3E}">
        <p14:creationId xmlns:p14="http://schemas.microsoft.com/office/powerpoint/2010/main" val="2550549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3CA9E-E2EC-3E60-F643-39E20915B4A8}"/>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EF05E228-022B-98D6-AEDC-169019558917}"/>
              </a:ext>
            </a:extLst>
          </p:cNvPr>
          <p:cNvSpPr>
            <a:spLocks noGrp="1"/>
          </p:cNvSpPr>
          <p:nvPr>
            <p:ph type="title"/>
          </p:nvPr>
        </p:nvSpPr>
        <p:spPr>
          <a:xfrm>
            <a:off x="628650" y="835520"/>
            <a:ext cx="7779544" cy="689952"/>
          </a:xfrm>
        </p:spPr>
        <p:txBody>
          <a:bodyPr>
            <a:normAutofit fontScale="90000"/>
          </a:bodyPr>
          <a:lstStyle/>
          <a:p>
            <a:r>
              <a:rPr lang="cs-CZ" dirty="0">
                <a:latin typeface="Arial"/>
                <a:cs typeface="Arial"/>
              </a:rPr>
              <a:t>Návrh datového modelu v </a:t>
            </a:r>
            <a:r>
              <a:rPr lang="cs-CZ" dirty="0" err="1">
                <a:latin typeface="Arial"/>
                <a:cs typeface="Arial"/>
              </a:rPr>
              <a:t>PowerBI</a:t>
            </a:r>
            <a:r>
              <a:rPr lang="cs-CZ" dirty="0">
                <a:latin typeface="Arial"/>
                <a:cs typeface="Arial"/>
              </a:rPr>
              <a:t> - Entity </a:t>
            </a:r>
            <a:r>
              <a:rPr lang="cs-CZ" dirty="0" err="1">
                <a:latin typeface="Arial"/>
                <a:cs typeface="Arial"/>
              </a:rPr>
              <a:t>Relationship</a:t>
            </a:r>
            <a:r>
              <a:rPr lang="cs-CZ" dirty="0">
                <a:latin typeface="Arial"/>
                <a:cs typeface="Arial"/>
              </a:rPr>
              <a:t> Diagram (ERD)</a:t>
            </a:r>
            <a:endParaRPr lang="cs-CZ" dirty="0"/>
          </a:p>
        </p:txBody>
      </p:sp>
      <p:sp>
        <p:nvSpPr>
          <p:cNvPr id="4" name="TextovéPole 3">
            <a:extLst>
              <a:ext uri="{FF2B5EF4-FFF2-40B4-BE49-F238E27FC236}">
                <a16:creationId xmlns:a16="http://schemas.microsoft.com/office/drawing/2014/main" id="{3186B88E-2C99-06E6-F2F5-22E47A67B329}"/>
              </a:ext>
            </a:extLst>
          </p:cNvPr>
          <p:cNvSpPr txBox="1"/>
          <p:nvPr/>
        </p:nvSpPr>
        <p:spPr>
          <a:xfrm>
            <a:off x="7128710" y="6497053"/>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cs-CZ" dirty="0">
                <a:ea typeface="Calibri"/>
                <a:cs typeface="Calibri"/>
              </a:rPr>
              <a:t>Zdroj: Autor, 2026</a:t>
            </a:r>
            <a:endParaRPr lang="cs-CZ" dirty="0"/>
          </a:p>
        </p:txBody>
      </p:sp>
      <p:pic>
        <p:nvPicPr>
          <p:cNvPr id="6" name="Obrázek 5">
            <a:extLst>
              <a:ext uri="{FF2B5EF4-FFF2-40B4-BE49-F238E27FC236}">
                <a16:creationId xmlns:a16="http://schemas.microsoft.com/office/drawing/2014/main" id="{22839676-ED09-A4B4-EE2D-664FD25FB421}"/>
              </a:ext>
            </a:extLst>
          </p:cNvPr>
          <p:cNvPicPr>
            <a:picLocks noChangeAspect="1"/>
          </p:cNvPicPr>
          <p:nvPr/>
        </p:nvPicPr>
        <p:blipFill>
          <a:blip r:embed="rId2"/>
          <a:stretch>
            <a:fillRect/>
          </a:stretch>
        </p:blipFill>
        <p:spPr>
          <a:xfrm>
            <a:off x="1240971" y="1600267"/>
            <a:ext cx="6662057" cy="4821990"/>
          </a:xfrm>
          <a:prstGeom prst="rect">
            <a:avLst/>
          </a:prstGeom>
        </p:spPr>
      </p:pic>
    </p:spTree>
    <p:extLst>
      <p:ext uri="{BB962C8B-B14F-4D97-AF65-F5344CB8AC3E}">
        <p14:creationId xmlns:p14="http://schemas.microsoft.com/office/powerpoint/2010/main" val="2670353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06CC4-DB73-D989-A990-8D2EDCFA4324}"/>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900216F3-193C-4660-8F6D-E2DFD6390BD0}"/>
              </a:ext>
            </a:extLst>
          </p:cNvPr>
          <p:cNvSpPr>
            <a:spLocks noGrp="1"/>
          </p:cNvSpPr>
          <p:nvPr>
            <p:ph type="title"/>
          </p:nvPr>
        </p:nvSpPr>
        <p:spPr>
          <a:xfrm>
            <a:off x="563336" y="695399"/>
            <a:ext cx="7779544" cy="689952"/>
          </a:xfrm>
        </p:spPr>
        <p:txBody>
          <a:bodyPr>
            <a:normAutofit fontScale="90000"/>
          </a:bodyPr>
          <a:lstStyle/>
          <a:p>
            <a:r>
              <a:rPr lang="cs-CZ" dirty="0">
                <a:latin typeface="Arial"/>
                <a:cs typeface="Arial"/>
              </a:rPr>
              <a:t>Návrh datového modelu v </a:t>
            </a:r>
            <a:r>
              <a:rPr lang="cs-CZ" dirty="0" err="1">
                <a:latin typeface="Arial"/>
                <a:cs typeface="Arial"/>
              </a:rPr>
              <a:t>PowerBI</a:t>
            </a:r>
            <a:r>
              <a:rPr lang="cs-CZ" dirty="0">
                <a:latin typeface="Arial"/>
                <a:cs typeface="Arial"/>
              </a:rPr>
              <a:t> – </a:t>
            </a:r>
            <a:r>
              <a:rPr lang="cs-CZ" dirty="0" err="1">
                <a:latin typeface="Arial"/>
                <a:cs typeface="Arial"/>
              </a:rPr>
              <a:t>Relationship</a:t>
            </a:r>
            <a:r>
              <a:rPr lang="cs-CZ" dirty="0">
                <a:latin typeface="Arial"/>
                <a:cs typeface="Arial"/>
              </a:rPr>
              <a:t> </a:t>
            </a:r>
            <a:r>
              <a:rPr lang="cs-CZ" dirty="0" err="1">
                <a:latin typeface="Arial"/>
                <a:cs typeface="Arial"/>
              </a:rPr>
              <a:t>details</a:t>
            </a:r>
            <a:endParaRPr lang="cs-CZ" dirty="0"/>
          </a:p>
        </p:txBody>
      </p:sp>
      <p:sp>
        <p:nvSpPr>
          <p:cNvPr id="4" name="TextovéPole 3">
            <a:extLst>
              <a:ext uri="{FF2B5EF4-FFF2-40B4-BE49-F238E27FC236}">
                <a16:creationId xmlns:a16="http://schemas.microsoft.com/office/drawing/2014/main" id="{D68B7DBF-9562-48AB-D20A-A1A7BB83E7EC}"/>
              </a:ext>
            </a:extLst>
          </p:cNvPr>
          <p:cNvSpPr txBox="1"/>
          <p:nvPr/>
        </p:nvSpPr>
        <p:spPr>
          <a:xfrm>
            <a:off x="430411" y="6162104"/>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cs-CZ" dirty="0">
                <a:ea typeface="Calibri"/>
                <a:cs typeface="Calibri"/>
              </a:rPr>
              <a:t>Zdroj: Autor, 2026</a:t>
            </a:r>
            <a:endParaRPr lang="cs-CZ" dirty="0"/>
          </a:p>
        </p:txBody>
      </p:sp>
      <p:pic>
        <p:nvPicPr>
          <p:cNvPr id="7" name="Zástupný obsah 6">
            <a:extLst>
              <a:ext uri="{FF2B5EF4-FFF2-40B4-BE49-F238E27FC236}">
                <a16:creationId xmlns:a16="http://schemas.microsoft.com/office/drawing/2014/main" id="{7B6DCA40-9B8E-9312-2B25-5CADDA8562F1}"/>
              </a:ext>
            </a:extLst>
          </p:cNvPr>
          <p:cNvPicPr>
            <a:picLocks noGrp="1" noChangeAspect="1"/>
          </p:cNvPicPr>
          <p:nvPr>
            <p:ph idx="1"/>
          </p:nvPr>
        </p:nvPicPr>
        <p:blipFill>
          <a:blip r:embed="rId2"/>
          <a:stretch>
            <a:fillRect/>
          </a:stretch>
        </p:blipFill>
        <p:spPr>
          <a:xfrm>
            <a:off x="107055" y="1457950"/>
            <a:ext cx="4515480" cy="3287645"/>
          </a:xfrm>
          <a:prstGeom prst="rect">
            <a:avLst/>
          </a:prstGeom>
        </p:spPr>
      </p:pic>
      <p:pic>
        <p:nvPicPr>
          <p:cNvPr id="8" name="Obrázek 7">
            <a:extLst>
              <a:ext uri="{FF2B5EF4-FFF2-40B4-BE49-F238E27FC236}">
                <a16:creationId xmlns:a16="http://schemas.microsoft.com/office/drawing/2014/main" id="{F48F2F03-83D1-CA58-21FD-CD48C6AC6360}"/>
              </a:ext>
            </a:extLst>
          </p:cNvPr>
          <p:cNvPicPr>
            <a:picLocks noChangeAspect="1"/>
          </p:cNvPicPr>
          <p:nvPr/>
        </p:nvPicPr>
        <p:blipFill>
          <a:blip r:embed="rId3"/>
          <a:stretch>
            <a:fillRect/>
          </a:stretch>
        </p:blipFill>
        <p:spPr>
          <a:xfrm>
            <a:off x="4518422" y="1385351"/>
            <a:ext cx="4192787" cy="2625911"/>
          </a:xfrm>
          <a:prstGeom prst="rect">
            <a:avLst/>
          </a:prstGeom>
        </p:spPr>
      </p:pic>
      <p:pic>
        <p:nvPicPr>
          <p:cNvPr id="9" name="Obrázek 8">
            <a:extLst>
              <a:ext uri="{FF2B5EF4-FFF2-40B4-BE49-F238E27FC236}">
                <a16:creationId xmlns:a16="http://schemas.microsoft.com/office/drawing/2014/main" id="{2B980E19-5E63-60B8-4075-82E58C67DB00}"/>
              </a:ext>
            </a:extLst>
          </p:cNvPr>
          <p:cNvPicPr>
            <a:picLocks noChangeAspect="1"/>
          </p:cNvPicPr>
          <p:nvPr/>
        </p:nvPicPr>
        <p:blipFill>
          <a:blip r:embed="rId4"/>
          <a:stretch>
            <a:fillRect/>
          </a:stretch>
        </p:blipFill>
        <p:spPr>
          <a:xfrm>
            <a:off x="4572000" y="3997331"/>
            <a:ext cx="4414410" cy="2513654"/>
          </a:xfrm>
          <a:prstGeom prst="rect">
            <a:avLst/>
          </a:prstGeom>
        </p:spPr>
      </p:pic>
    </p:spTree>
    <p:extLst>
      <p:ext uri="{BB962C8B-B14F-4D97-AF65-F5344CB8AC3E}">
        <p14:creationId xmlns:p14="http://schemas.microsoft.com/office/powerpoint/2010/main" val="2711665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2DCB2-96B0-2BA7-09AC-F6427E6237D0}"/>
            </a:ext>
          </a:extLst>
        </p:cNvPr>
        <p:cNvGrpSpPr/>
        <p:nvPr/>
      </p:nvGrpSpPr>
      <p:grpSpPr>
        <a:xfrm>
          <a:off x="0" y="0"/>
          <a:ext cx="0" cy="0"/>
          <a:chOff x="0" y="0"/>
          <a:chExt cx="0" cy="0"/>
        </a:xfrm>
      </p:grpSpPr>
      <p:sp>
        <p:nvSpPr>
          <p:cNvPr id="6" name="TextovéPole 5">
            <a:extLst>
              <a:ext uri="{FF2B5EF4-FFF2-40B4-BE49-F238E27FC236}">
                <a16:creationId xmlns:a16="http://schemas.microsoft.com/office/drawing/2014/main" id="{4621EA0E-7552-B891-04F2-72510189A5D4}"/>
              </a:ext>
            </a:extLst>
          </p:cNvPr>
          <p:cNvSpPr txBox="1"/>
          <p:nvPr/>
        </p:nvSpPr>
        <p:spPr>
          <a:xfrm>
            <a:off x="6400800" y="6128506"/>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cs-CZ" dirty="0">
                <a:ea typeface="Calibri"/>
                <a:cs typeface="Calibri"/>
              </a:rPr>
              <a:t>Zdroj: Autor, 2026</a:t>
            </a:r>
            <a:endParaRPr lang="cs-CZ" dirty="0"/>
          </a:p>
        </p:txBody>
      </p:sp>
      <p:pic>
        <p:nvPicPr>
          <p:cNvPr id="13" name="Obrázek 12" descr="Obsah obrázku text, diagram, Plán, design&#10;&#10;Obsah generovaný pomocí AI může být nesprávný.">
            <a:extLst>
              <a:ext uri="{FF2B5EF4-FFF2-40B4-BE49-F238E27FC236}">
                <a16:creationId xmlns:a16="http://schemas.microsoft.com/office/drawing/2014/main" id="{21480900-123F-C9A9-8899-61A1A793EA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87" y="947411"/>
            <a:ext cx="9011625" cy="5235227"/>
          </a:xfrm>
          <a:prstGeom prst="rect">
            <a:avLst/>
          </a:prstGeom>
        </p:spPr>
      </p:pic>
      <p:sp>
        <p:nvSpPr>
          <p:cNvPr id="14" name="Nadpis 1">
            <a:extLst>
              <a:ext uri="{FF2B5EF4-FFF2-40B4-BE49-F238E27FC236}">
                <a16:creationId xmlns:a16="http://schemas.microsoft.com/office/drawing/2014/main" id="{09400C08-BA4B-03A3-6666-E6239E45FEFF}"/>
              </a:ext>
            </a:extLst>
          </p:cNvPr>
          <p:cNvSpPr>
            <a:spLocks noGrp="1"/>
          </p:cNvSpPr>
          <p:nvPr>
            <p:ph type="title"/>
          </p:nvPr>
        </p:nvSpPr>
        <p:spPr>
          <a:xfrm>
            <a:off x="2462967" y="177904"/>
            <a:ext cx="4661807" cy="769507"/>
          </a:xfrm>
        </p:spPr>
        <p:txBody>
          <a:bodyPr>
            <a:normAutofit/>
          </a:bodyPr>
          <a:lstStyle/>
          <a:p>
            <a:r>
              <a:rPr lang="cs-CZ" dirty="0">
                <a:latin typeface="Arial"/>
                <a:cs typeface="Arial"/>
              </a:rPr>
              <a:t>Architektura řešení</a:t>
            </a:r>
            <a:endParaRPr lang="cs-CZ" dirty="0"/>
          </a:p>
        </p:txBody>
      </p:sp>
    </p:spTree>
    <p:extLst>
      <p:ext uri="{BB962C8B-B14F-4D97-AF65-F5344CB8AC3E}">
        <p14:creationId xmlns:p14="http://schemas.microsoft.com/office/powerpoint/2010/main" val="161895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CCABD-CBF5-5F80-DDED-A076BDCCCC41}"/>
            </a:ext>
          </a:extLst>
        </p:cNvPr>
        <p:cNvGrpSpPr/>
        <p:nvPr/>
      </p:nvGrpSpPr>
      <p:grpSpPr>
        <a:xfrm>
          <a:off x="0" y="0"/>
          <a:ext cx="0" cy="0"/>
          <a:chOff x="0" y="0"/>
          <a:chExt cx="0" cy="0"/>
        </a:xfrm>
      </p:grpSpPr>
      <p:sp>
        <p:nvSpPr>
          <p:cNvPr id="5" name="Zástupný obsah 2">
            <a:extLst>
              <a:ext uri="{FF2B5EF4-FFF2-40B4-BE49-F238E27FC236}">
                <a16:creationId xmlns:a16="http://schemas.microsoft.com/office/drawing/2014/main" id="{D64A49A2-6ABA-F7D3-31DD-B67F538789A2}"/>
              </a:ext>
            </a:extLst>
          </p:cNvPr>
          <p:cNvSpPr>
            <a:spLocks noGrp="1"/>
          </p:cNvSpPr>
          <p:nvPr>
            <p:ph idx="1"/>
          </p:nvPr>
        </p:nvSpPr>
        <p:spPr>
          <a:xfrm>
            <a:off x="525780" y="1789968"/>
            <a:ext cx="7882414" cy="4627457"/>
          </a:xfrm>
        </p:spPr>
        <p:txBody>
          <a:bodyPr vert="horz" lIns="91440" tIns="45720" rIns="91440" bIns="45720" rtlCol="0" anchor="t">
            <a:normAutofit/>
          </a:bodyPr>
          <a:lstStyle/>
          <a:p>
            <a:pPr marL="170815" indent="-170815"/>
            <a:endParaRPr lang="cs-CZ" sz="2000" b="1" dirty="0">
              <a:latin typeface="Arial"/>
              <a:cs typeface="Arial"/>
            </a:endParaRPr>
          </a:p>
          <a:p>
            <a:pPr marL="170815" indent="-170815"/>
            <a:endParaRPr lang="cs-CZ" sz="2000" dirty="0"/>
          </a:p>
          <a:p>
            <a:pPr marL="170815" indent="-170815"/>
            <a:endParaRPr lang="cs-CZ" sz="2400" dirty="0"/>
          </a:p>
          <a:p>
            <a:pPr marL="513715" lvl="1" indent="-170815">
              <a:buFont typeface="Courier New" panose="020B0604020202020204" pitchFamily="34" charset="0"/>
              <a:buChar char="o"/>
            </a:pPr>
            <a:endParaRPr lang="cs-CZ" sz="2100" dirty="0"/>
          </a:p>
          <a:p>
            <a:pPr marL="513715" lvl="1" indent="-170815">
              <a:buFont typeface="Courier New" panose="020B0604020202020204" pitchFamily="34" charset="0"/>
              <a:buChar char="o"/>
            </a:pPr>
            <a:endParaRPr lang="cs-CZ" sz="2100" dirty="0"/>
          </a:p>
          <a:p>
            <a:pPr marL="170815" indent="-170815"/>
            <a:endParaRPr lang="cs-CZ" sz="2400" b="1" dirty="0"/>
          </a:p>
          <a:p>
            <a:pPr marL="170815" indent="-170815"/>
            <a:endParaRPr lang="cs-CZ" sz="2400" b="1" dirty="0"/>
          </a:p>
        </p:txBody>
      </p:sp>
      <p:sp>
        <p:nvSpPr>
          <p:cNvPr id="6" name="TextovéPole 5">
            <a:extLst>
              <a:ext uri="{FF2B5EF4-FFF2-40B4-BE49-F238E27FC236}">
                <a16:creationId xmlns:a16="http://schemas.microsoft.com/office/drawing/2014/main" id="{3C664D37-2A63-C814-AD6F-BC27E4DE066A}"/>
              </a:ext>
            </a:extLst>
          </p:cNvPr>
          <p:cNvSpPr txBox="1"/>
          <p:nvPr/>
        </p:nvSpPr>
        <p:spPr>
          <a:xfrm>
            <a:off x="6400800" y="623454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cs-CZ" dirty="0">
                <a:ea typeface="Calibri"/>
                <a:cs typeface="Calibri"/>
              </a:rPr>
              <a:t>Zdroj: Autor, 2026</a:t>
            </a:r>
            <a:endParaRPr lang="cs-CZ" dirty="0"/>
          </a:p>
        </p:txBody>
      </p:sp>
      <p:sp>
        <p:nvSpPr>
          <p:cNvPr id="17" name="Nadpis 1">
            <a:extLst>
              <a:ext uri="{FF2B5EF4-FFF2-40B4-BE49-F238E27FC236}">
                <a16:creationId xmlns:a16="http://schemas.microsoft.com/office/drawing/2014/main" id="{2790246C-3A14-1EC1-353A-4881A1E365B6}"/>
              </a:ext>
            </a:extLst>
          </p:cNvPr>
          <p:cNvSpPr txBox="1">
            <a:spLocks/>
          </p:cNvSpPr>
          <p:nvPr/>
        </p:nvSpPr>
        <p:spPr>
          <a:xfrm>
            <a:off x="2540722" y="295789"/>
            <a:ext cx="4661807" cy="769507"/>
          </a:xfrm>
          <a:prstGeom prst="rect">
            <a:avLst/>
          </a:prstGeom>
        </p:spPr>
        <p:txBody>
          <a:bodyPr vert="horz" lIns="91440" tIns="45720" rIns="91440" bIns="45720" rtlCol="0" anchor="t">
            <a:normAutofit/>
          </a:bodyPr>
          <a:lstStyle>
            <a:lvl1pPr algn="l" defTabSz="685783" rtl="0" eaLnBrk="1" latinLnBrk="0" hangingPunct="1">
              <a:lnSpc>
                <a:spcPct val="90000"/>
              </a:lnSpc>
              <a:spcBef>
                <a:spcPct val="0"/>
              </a:spcBef>
              <a:buNone/>
              <a:defRPr sz="3000" kern="1200">
                <a:solidFill>
                  <a:srgbClr val="009881"/>
                </a:solidFill>
                <a:latin typeface="Arial" panose="020B0604020202020204" pitchFamily="34" charset="0"/>
                <a:ea typeface="+mj-ea"/>
                <a:cs typeface="Arial" panose="020B0604020202020204" pitchFamily="34" charset="0"/>
              </a:defRPr>
            </a:lvl1pPr>
          </a:lstStyle>
          <a:p>
            <a:r>
              <a:rPr lang="cs-CZ" dirty="0">
                <a:latin typeface="Arial"/>
                <a:cs typeface="Arial"/>
              </a:rPr>
              <a:t>Datová pumpa </a:t>
            </a:r>
            <a:endParaRPr lang="cs-CZ" dirty="0"/>
          </a:p>
        </p:txBody>
      </p:sp>
      <p:pic>
        <p:nvPicPr>
          <p:cNvPr id="3" name="Picture 2" descr="A diagram of a company&#10;&#10;AI-generated content may be incorrect.">
            <a:extLst>
              <a:ext uri="{FF2B5EF4-FFF2-40B4-BE49-F238E27FC236}">
                <a16:creationId xmlns:a16="http://schemas.microsoft.com/office/drawing/2014/main" id="{2F82E39F-32B2-C480-FB8A-01DE920FEA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071" y="1065296"/>
            <a:ext cx="8845858" cy="4627457"/>
          </a:xfrm>
          <a:prstGeom prst="rect">
            <a:avLst/>
          </a:prstGeom>
        </p:spPr>
      </p:pic>
    </p:spTree>
    <p:extLst>
      <p:ext uri="{BB962C8B-B14F-4D97-AF65-F5344CB8AC3E}">
        <p14:creationId xmlns:p14="http://schemas.microsoft.com/office/powerpoint/2010/main" val="3208512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D7905-1B95-AE31-4C39-5A786E08FA9D}"/>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C4D6EC2D-B9E7-96CB-4556-CE7A451A290D}"/>
              </a:ext>
            </a:extLst>
          </p:cNvPr>
          <p:cNvSpPr>
            <a:spLocks noGrp="1"/>
          </p:cNvSpPr>
          <p:nvPr>
            <p:ph type="title"/>
          </p:nvPr>
        </p:nvSpPr>
        <p:spPr/>
        <p:txBody>
          <a:bodyPr/>
          <a:lstStyle/>
          <a:p>
            <a:r>
              <a:rPr lang="cs-CZ" dirty="0">
                <a:latin typeface="Arial"/>
                <a:cs typeface="Arial"/>
              </a:rPr>
              <a:t>Popis vrstev architektury – 1/2</a:t>
            </a:r>
            <a:endParaRPr lang="cs-CZ" dirty="0"/>
          </a:p>
        </p:txBody>
      </p:sp>
      <p:sp>
        <p:nvSpPr>
          <p:cNvPr id="5" name="Zástupný obsah 2">
            <a:extLst>
              <a:ext uri="{FF2B5EF4-FFF2-40B4-BE49-F238E27FC236}">
                <a16:creationId xmlns:a16="http://schemas.microsoft.com/office/drawing/2014/main" id="{FB158A2A-38F5-C23E-CE8E-0462C3A3994C}"/>
              </a:ext>
            </a:extLst>
          </p:cNvPr>
          <p:cNvSpPr>
            <a:spLocks noGrp="1"/>
          </p:cNvSpPr>
          <p:nvPr>
            <p:ph idx="1"/>
          </p:nvPr>
        </p:nvSpPr>
        <p:spPr>
          <a:xfrm>
            <a:off x="525780" y="1789968"/>
            <a:ext cx="7882414" cy="4627457"/>
          </a:xfrm>
        </p:spPr>
        <p:txBody>
          <a:bodyPr vert="horz" lIns="91440" tIns="45720" rIns="91440" bIns="45720" rtlCol="0" anchor="t">
            <a:normAutofit/>
          </a:bodyPr>
          <a:lstStyle/>
          <a:p>
            <a:r>
              <a:rPr lang="cs-CZ" sz="1400" b="1" dirty="0"/>
              <a:t>LAYER 1: RAW DATA</a:t>
            </a:r>
            <a:endParaRPr lang="cs-CZ" sz="1400" dirty="0"/>
          </a:p>
          <a:p>
            <a:r>
              <a:rPr lang="cs-CZ" sz="1400" b="1" dirty="0"/>
              <a:t>Zdroj:</a:t>
            </a:r>
            <a:r>
              <a:rPr lang="cs-CZ" sz="1400" dirty="0"/>
              <a:t> </a:t>
            </a:r>
            <a:r>
              <a:rPr lang="cs-CZ" sz="1400" dirty="0" err="1"/>
              <a:t>Datasest</a:t>
            </a:r>
            <a:r>
              <a:rPr lang="cs-CZ" sz="1400" dirty="0"/>
              <a:t> Google </a:t>
            </a:r>
            <a:r>
              <a:rPr lang="cs-CZ" sz="1400" dirty="0" err="1"/>
              <a:t>BigQuery</a:t>
            </a:r>
            <a:r>
              <a:rPr lang="cs-CZ" sz="1400" dirty="0"/>
              <a:t> (COVID-19 Public Data, Census </a:t>
            </a:r>
            <a:r>
              <a:rPr lang="cs-CZ" sz="1400" dirty="0" err="1"/>
              <a:t>Bureau</a:t>
            </a:r>
            <a:r>
              <a:rPr lang="cs-CZ" sz="1400" dirty="0"/>
              <a:t>)</a:t>
            </a:r>
          </a:p>
          <a:p>
            <a:r>
              <a:rPr lang="cs-CZ" sz="1400" b="1" dirty="0"/>
              <a:t>Formát:</a:t>
            </a:r>
            <a:r>
              <a:rPr lang="cs-CZ" sz="1400" dirty="0"/>
              <a:t> Denní časové řady a demografické tabulky</a:t>
            </a:r>
          </a:p>
          <a:p>
            <a:r>
              <a:rPr lang="cs-CZ" sz="1400" b="1" dirty="0"/>
              <a:t>Tabulky:</a:t>
            </a:r>
            <a:endParaRPr lang="cs-CZ" sz="1400" dirty="0"/>
          </a:p>
          <a:p>
            <a:pPr lvl="1"/>
            <a:r>
              <a:rPr lang="cs-CZ" sz="1400" dirty="0"/>
              <a:t>covid_19_cases: Denní záznamy o nákaze a úmrtích (kumulativní data, miliony řádků).</a:t>
            </a:r>
          </a:p>
          <a:p>
            <a:pPr lvl="1"/>
            <a:r>
              <a:rPr lang="cs-CZ" sz="1400" dirty="0" err="1"/>
              <a:t>population</a:t>
            </a:r>
            <a:r>
              <a:rPr lang="cs-CZ" sz="1400" dirty="0"/>
              <a:t>: Detailní demografická data o populaci (věkové skupiny, pohlaví).</a:t>
            </a:r>
          </a:p>
          <a:p>
            <a:pPr lvl="1"/>
            <a:r>
              <a:rPr lang="cs-CZ" sz="1400" dirty="0" err="1"/>
              <a:t>poverty_and_income</a:t>
            </a:r>
            <a:r>
              <a:rPr lang="cs-CZ" sz="1400" dirty="0"/>
              <a:t>: Odhady příjmů a chudoby na úrovni okresů.</a:t>
            </a:r>
          </a:p>
          <a:p>
            <a:pPr marL="513715" lvl="1" indent="-170815">
              <a:buFont typeface="Courier New" panose="020B0604020202020204" pitchFamily="34" charset="0"/>
              <a:buChar char="o"/>
            </a:pPr>
            <a:endParaRPr lang="cs-CZ" sz="1400" dirty="0">
              <a:latin typeface="Arial"/>
              <a:cs typeface="Arial"/>
            </a:endParaRPr>
          </a:p>
          <a:p>
            <a:r>
              <a:rPr lang="cs-CZ" sz="1400" b="1" dirty="0"/>
              <a:t>LAYER 2: CLEANED DATA</a:t>
            </a:r>
            <a:endParaRPr lang="cs-CZ" sz="1400" dirty="0"/>
          </a:p>
          <a:p>
            <a:r>
              <a:rPr lang="cs-CZ" sz="1400" b="1" dirty="0"/>
              <a:t>Nástroj:</a:t>
            </a:r>
            <a:r>
              <a:rPr lang="cs-CZ" sz="1400" dirty="0"/>
              <a:t> </a:t>
            </a:r>
            <a:r>
              <a:rPr lang="cs-CZ" sz="1400" dirty="0" err="1"/>
              <a:t>BigQuery</a:t>
            </a:r>
            <a:r>
              <a:rPr lang="cs-CZ" sz="1400" dirty="0"/>
              <a:t> SQL</a:t>
            </a:r>
          </a:p>
          <a:p>
            <a:r>
              <a:rPr lang="cs-CZ" sz="1400" b="1" dirty="0"/>
              <a:t>Počet transformací:</a:t>
            </a:r>
            <a:r>
              <a:rPr lang="cs-CZ" sz="1400" dirty="0"/>
              <a:t> 3 hlavní SQL skripty</a:t>
            </a:r>
          </a:p>
          <a:p>
            <a:r>
              <a:rPr lang="cs-CZ" sz="1400" b="1" dirty="0"/>
              <a:t>Klíčové transformace:</a:t>
            </a:r>
            <a:endParaRPr lang="cs-CZ" sz="1400" dirty="0"/>
          </a:p>
          <a:p>
            <a:pPr lvl="1"/>
            <a:r>
              <a:rPr lang="cs-CZ" sz="1400" b="1" dirty="0"/>
              <a:t>Time </a:t>
            </a:r>
            <a:r>
              <a:rPr lang="cs-CZ" sz="1400" b="1" dirty="0" err="1"/>
              <a:t>Filtering</a:t>
            </a:r>
            <a:r>
              <a:rPr lang="cs-CZ" sz="1400" b="1" dirty="0"/>
              <a:t>:</a:t>
            </a:r>
            <a:r>
              <a:rPr lang="cs-CZ" sz="1400" dirty="0"/>
              <a:t> Filtrace dat pouze na rok 2020 (</a:t>
            </a:r>
            <a:r>
              <a:rPr lang="cs-CZ" sz="1400" dirty="0" err="1"/>
              <a:t>Year</a:t>
            </a:r>
            <a:r>
              <a:rPr lang="cs-CZ" sz="1400" dirty="0"/>
              <a:t> = 2020).</a:t>
            </a:r>
          </a:p>
          <a:p>
            <a:pPr lvl="1"/>
            <a:r>
              <a:rPr lang="cs-CZ" sz="1400" b="1" dirty="0"/>
              <a:t>FIPS </a:t>
            </a:r>
            <a:r>
              <a:rPr lang="cs-CZ" sz="1400" b="1" dirty="0" err="1"/>
              <a:t>Standardization</a:t>
            </a:r>
            <a:r>
              <a:rPr lang="cs-CZ" sz="1400" b="1" dirty="0"/>
              <a:t>:</a:t>
            </a:r>
            <a:r>
              <a:rPr lang="cs-CZ" sz="1400" dirty="0"/>
              <a:t> Konverze geografických kódů z čísla na text (1001 → "01001" ) pro zajištění konzistence spojení.</a:t>
            </a:r>
          </a:p>
          <a:p>
            <a:pPr marL="170815" indent="-170815"/>
            <a:endParaRPr lang="cs-CZ" sz="2000" dirty="0"/>
          </a:p>
          <a:p>
            <a:pPr marL="170815" indent="-170815"/>
            <a:endParaRPr lang="cs-CZ" sz="2400" dirty="0"/>
          </a:p>
          <a:p>
            <a:pPr marL="513715" lvl="1" indent="-170815">
              <a:buFont typeface="Courier New" panose="020B0604020202020204" pitchFamily="34" charset="0"/>
              <a:buChar char="o"/>
            </a:pPr>
            <a:endParaRPr lang="cs-CZ" sz="2100" dirty="0"/>
          </a:p>
          <a:p>
            <a:pPr marL="513715" lvl="1" indent="-170815">
              <a:buFont typeface="Courier New" panose="020B0604020202020204" pitchFamily="34" charset="0"/>
              <a:buChar char="o"/>
            </a:pPr>
            <a:endParaRPr lang="cs-CZ" sz="2100" dirty="0"/>
          </a:p>
          <a:p>
            <a:pPr marL="170815" indent="-170815"/>
            <a:endParaRPr lang="cs-CZ" sz="2400" b="1" dirty="0"/>
          </a:p>
          <a:p>
            <a:pPr marL="170815" indent="-170815"/>
            <a:endParaRPr lang="cs-CZ" sz="2400" b="1" dirty="0"/>
          </a:p>
        </p:txBody>
      </p:sp>
    </p:spTree>
    <p:extLst>
      <p:ext uri="{BB962C8B-B14F-4D97-AF65-F5344CB8AC3E}">
        <p14:creationId xmlns:p14="http://schemas.microsoft.com/office/powerpoint/2010/main" val="218622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4E2FC-9D69-5932-62FE-7CDA7CB4BCBA}"/>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2BEC7BFF-43CF-16F9-249A-7F8747EBFD73}"/>
              </a:ext>
            </a:extLst>
          </p:cNvPr>
          <p:cNvSpPr>
            <a:spLocks noGrp="1"/>
          </p:cNvSpPr>
          <p:nvPr>
            <p:ph type="title"/>
          </p:nvPr>
        </p:nvSpPr>
        <p:spPr/>
        <p:txBody>
          <a:bodyPr/>
          <a:lstStyle/>
          <a:p>
            <a:r>
              <a:rPr lang="cs-CZ" dirty="0">
                <a:latin typeface="Arial"/>
                <a:cs typeface="Arial"/>
              </a:rPr>
              <a:t>Popis vrstev architektury – 2/2</a:t>
            </a:r>
            <a:endParaRPr lang="cs-CZ" dirty="0"/>
          </a:p>
        </p:txBody>
      </p:sp>
      <p:sp>
        <p:nvSpPr>
          <p:cNvPr id="5" name="Zástupný obsah 2">
            <a:extLst>
              <a:ext uri="{FF2B5EF4-FFF2-40B4-BE49-F238E27FC236}">
                <a16:creationId xmlns:a16="http://schemas.microsoft.com/office/drawing/2014/main" id="{32A233AC-4C52-8DDC-7ECB-DD990573FD2D}"/>
              </a:ext>
            </a:extLst>
          </p:cNvPr>
          <p:cNvSpPr>
            <a:spLocks noGrp="1"/>
          </p:cNvSpPr>
          <p:nvPr>
            <p:ph idx="1"/>
          </p:nvPr>
        </p:nvSpPr>
        <p:spPr>
          <a:xfrm>
            <a:off x="525780" y="1789968"/>
            <a:ext cx="7882414" cy="4627457"/>
          </a:xfrm>
        </p:spPr>
        <p:txBody>
          <a:bodyPr vert="horz" lIns="91440" tIns="45720" rIns="91440" bIns="45720" rtlCol="0" anchor="t">
            <a:noAutofit/>
          </a:bodyPr>
          <a:lstStyle/>
          <a:p>
            <a:r>
              <a:rPr lang="cs-CZ" sz="1400" b="1" dirty="0"/>
              <a:t>LAYER 3: ANALYTICAL DATA (</a:t>
            </a:r>
            <a:r>
              <a:rPr lang="cs-CZ" sz="1400" b="1" dirty="0" err="1"/>
              <a:t>Power</a:t>
            </a:r>
            <a:r>
              <a:rPr lang="cs-CZ" sz="1400" b="1" dirty="0"/>
              <a:t> BI Data Model)</a:t>
            </a:r>
            <a:endParaRPr lang="cs-CZ" sz="1400" dirty="0"/>
          </a:p>
          <a:p>
            <a:r>
              <a:rPr lang="cs-CZ" sz="1400" b="1" dirty="0"/>
              <a:t>Nástroj:</a:t>
            </a:r>
            <a:r>
              <a:rPr lang="cs-CZ" sz="1400" dirty="0"/>
              <a:t> Microsoft </a:t>
            </a:r>
            <a:r>
              <a:rPr lang="cs-CZ" sz="1400" dirty="0" err="1"/>
              <a:t>Power</a:t>
            </a:r>
            <a:r>
              <a:rPr lang="cs-CZ" sz="1400" dirty="0"/>
              <a:t> BI (</a:t>
            </a:r>
            <a:r>
              <a:rPr lang="cs-CZ" sz="1400" dirty="0" err="1"/>
              <a:t>Semantic</a:t>
            </a:r>
            <a:r>
              <a:rPr lang="cs-CZ" sz="1400" dirty="0"/>
              <a:t> Model)</a:t>
            </a:r>
          </a:p>
          <a:p>
            <a:r>
              <a:rPr lang="cs-CZ" sz="1400" b="1" dirty="0"/>
              <a:t>Data </a:t>
            </a:r>
            <a:r>
              <a:rPr lang="cs-CZ" sz="1400" b="1" dirty="0" err="1"/>
              <a:t>Integration</a:t>
            </a:r>
            <a:r>
              <a:rPr lang="cs-CZ" sz="1400" b="1" dirty="0"/>
              <a:t>:</a:t>
            </a:r>
            <a:r>
              <a:rPr lang="cs-CZ" sz="1400" dirty="0"/>
              <a:t> Propojení ~3 000+ okresů (US </a:t>
            </a:r>
            <a:r>
              <a:rPr lang="cs-CZ" sz="1400" dirty="0" err="1"/>
              <a:t>Counties</a:t>
            </a:r>
            <a:r>
              <a:rPr lang="cs-CZ" sz="1400" dirty="0"/>
              <a:t>).</a:t>
            </a:r>
          </a:p>
          <a:p>
            <a:r>
              <a:rPr lang="cs-CZ" sz="1400" b="1" dirty="0"/>
              <a:t>Klíčové transformace:</a:t>
            </a:r>
            <a:endParaRPr lang="cs-CZ" sz="1400" dirty="0"/>
          </a:p>
          <a:p>
            <a:pPr lvl="1"/>
            <a:r>
              <a:rPr lang="cs-CZ" sz="1400" b="1" dirty="0"/>
              <a:t>Star </a:t>
            </a:r>
            <a:r>
              <a:rPr lang="cs-CZ" sz="1400" b="1" dirty="0" err="1"/>
              <a:t>Schema</a:t>
            </a:r>
            <a:r>
              <a:rPr lang="cs-CZ" sz="1400" b="1" dirty="0"/>
              <a:t>:</a:t>
            </a:r>
            <a:r>
              <a:rPr lang="cs-CZ" sz="1400" dirty="0"/>
              <a:t> Vytvoření modelu, kde tabulka </a:t>
            </a:r>
            <a:r>
              <a:rPr lang="cs-CZ" sz="1400" dirty="0" err="1"/>
              <a:t>Poverty</a:t>
            </a:r>
            <a:r>
              <a:rPr lang="cs-CZ" sz="1400" dirty="0"/>
              <a:t> slouží jako centrální dimenze (</a:t>
            </a:r>
            <a:r>
              <a:rPr lang="cs-CZ" sz="1400" dirty="0" err="1"/>
              <a:t>Bridge</a:t>
            </a:r>
            <a:r>
              <a:rPr lang="cs-CZ" sz="1400" dirty="0"/>
              <a:t> Table).</a:t>
            </a:r>
          </a:p>
          <a:p>
            <a:pPr lvl="1"/>
            <a:r>
              <a:rPr lang="cs-CZ" sz="1400" b="1" dirty="0" err="1"/>
              <a:t>Relationships</a:t>
            </a:r>
            <a:r>
              <a:rPr lang="cs-CZ" sz="1400" b="1" dirty="0"/>
              <a:t>:</a:t>
            </a:r>
            <a:r>
              <a:rPr lang="cs-CZ" sz="1400" dirty="0"/>
              <a:t> Vazba 1:N mezi centrální tabulkou a zbylými tabulkami (Covid, </a:t>
            </a:r>
            <a:r>
              <a:rPr lang="cs-CZ" sz="1400" dirty="0" err="1"/>
              <a:t>Population</a:t>
            </a:r>
            <a:r>
              <a:rPr lang="cs-CZ" sz="1400" dirty="0"/>
              <a:t>).</a:t>
            </a:r>
          </a:p>
          <a:p>
            <a:pPr lvl="1"/>
            <a:r>
              <a:rPr lang="cs-CZ" sz="1400" b="1" dirty="0" err="1"/>
              <a:t>Calculated</a:t>
            </a:r>
            <a:r>
              <a:rPr lang="cs-CZ" sz="1400" b="1" dirty="0"/>
              <a:t> </a:t>
            </a:r>
            <a:r>
              <a:rPr lang="cs-CZ" sz="1400" b="1" dirty="0" err="1"/>
              <a:t>Metrics</a:t>
            </a:r>
            <a:r>
              <a:rPr lang="cs-CZ" sz="1400" b="1" dirty="0"/>
              <a:t> (DAX) – např. </a:t>
            </a:r>
            <a:r>
              <a:rPr lang="cs-CZ" sz="1400" b="1" dirty="0" err="1"/>
              <a:t>deaths</a:t>
            </a:r>
            <a:r>
              <a:rPr lang="cs-CZ" sz="1400" b="1" dirty="0"/>
              <a:t> per 100k, </a:t>
            </a:r>
            <a:r>
              <a:rPr lang="cs-CZ" sz="1400" b="1" dirty="0" err="1"/>
              <a:t>deaths</a:t>
            </a:r>
            <a:r>
              <a:rPr lang="cs-CZ" sz="1400" b="1" dirty="0"/>
              <a:t> </a:t>
            </a:r>
            <a:r>
              <a:rPr lang="cs-CZ" sz="1400" b="1" dirty="0" err="1"/>
              <a:t>daily</a:t>
            </a:r>
            <a:r>
              <a:rPr lang="cs-CZ" sz="1400" b="1" dirty="0"/>
              <a:t> atd</a:t>
            </a:r>
          </a:p>
          <a:p>
            <a:pPr lvl="1"/>
            <a:r>
              <a:rPr lang="cs-CZ" sz="1400" b="1" dirty="0"/>
              <a:t>Výstupní tabulky:</a:t>
            </a:r>
            <a:endParaRPr lang="cs-CZ" sz="1400" dirty="0"/>
          </a:p>
          <a:p>
            <a:pPr lvl="1"/>
            <a:r>
              <a:rPr lang="cs-CZ" sz="1400" dirty="0" err="1"/>
              <a:t>Covid_cases_cleaned</a:t>
            </a:r>
            <a:r>
              <a:rPr lang="cs-CZ" sz="1400" dirty="0"/>
              <a:t>– Denní a roční statistiky nákazy.</a:t>
            </a:r>
          </a:p>
          <a:p>
            <a:pPr lvl="1"/>
            <a:r>
              <a:rPr lang="cs-CZ" sz="1400" dirty="0" err="1"/>
              <a:t>Population_cleaned</a:t>
            </a:r>
            <a:r>
              <a:rPr lang="cs-CZ" sz="1400" dirty="0"/>
              <a:t>– Demografické složení.</a:t>
            </a:r>
          </a:p>
          <a:p>
            <a:pPr lvl="1"/>
            <a:r>
              <a:rPr lang="cs-CZ" sz="1400" dirty="0" err="1"/>
              <a:t>Poverty_and_income_cleaned</a:t>
            </a:r>
            <a:r>
              <a:rPr lang="cs-CZ" sz="1400" dirty="0"/>
              <a:t>– Socioekonomické atributy okresů.</a:t>
            </a:r>
          </a:p>
          <a:p>
            <a:pPr marL="856615" lvl="2" indent="-170815">
              <a:buFont typeface="Wingdings" panose="020B0604020202020204" pitchFamily="34" charset="0"/>
              <a:buChar char="§"/>
            </a:pPr>
            <a:endParaRPr lang="cs-CZ" sz="1400" dirty="0">
              <a:latin typeface="Arial"/>
              <a:cs typeface="Arial"/>
            </a:endParaRPr>
          </a:p>
          <a:p>
            <a:pPr marL="170815" indent="-170815"/>
            <a:endParaRPr lang="cs-CZ" sz="1200" dirty="0"/>
          </a:p>
          <a:p>
            <a:pPr marL="170815" indent="-170815"/>
            <a:endParaRPr lang="cs-CZ" sz="1200" dirty="0"/>
          </a:p>
          <a:p>
            <a:pPr marL="513715" lvl="1" indent="-170815">
              <a:buFont typeface="Courier New" panose="020B0604020202020204" pitchFamily="34" charset="0"/>
              <a:buChar char="o"/>
            </a:pPr>
            <a:endParaRPr lang="cs-CZ" sz="1200" dirty="0"/>
          </a:p>
          <a:p>
            <a:pPr marL="513715" lvl="1" indent="-170815">
              <a:buFont typeface="Courier New" panose="020B0604020202020204" pitchFamily="34" charset="0"/>
              <a:buChar char="o"/>
            </a:pPr>
            <a:endParaRPr lang="cs-CZ" sz="1200" dirty="0"/>
          </a:p>
          <a:p>
            <a:pPr marL="170815" indent="-170815"/>
            <a:endParaRPr lang="cs-CZ" sz="1200" b="1" dirty="0"/>
          </a:p>
          <a:p>
            <a:pPr marL="170815" indent="-170815"/>
            <a:endParaRPr lang="cs-CZ" sz="1200" b="1" dirty="0"/>
          </a:p>
        </p:txBody>
      </p:sp>
    </p:spTree>
    <p:extLst>
      <p:ext uri="{BB962C8B-B14F-4D97-AF65-F5344CB8AC3E}">
        <p14:creationId xmlns:p14="http://schemas.microsoft.com/office/powerpoint/2010/main" val="1704497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1AABB-A12A-A293-2E2D-89A63799FF1A}"/>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1ABAFCAC-6C55-3243-4A8E-9AB19932E770}"/>
              </a:ext>
            </a:extLst>
          </p:cNvPr>
          <p:cNvSpPr>
            <a:spLocks noGrp="1"/>
          </p:cNvSpPr>
          <p:nvPr>
            <p:ph type="title"/>
          </p:nvPr>
        </p:nvSpPr>
        <p:spPr>
          <a:xfrm>
            <a:off x="581419" y="1100016"/>
            <a:ext cx="7883452" cy="623829"/>
          </a:xfrm>
        </p:spPr>
        <p:txBody>
          <a:bodyPr vert="horz" lIns="91440" tIns="45720" rIns="91440" bIns="45720" rtlCol="0" anchor="t">
            <a:noAutofit/>
          </a:bodyPr>
          <a:lstStyle/>
          <a:p>
            <a:r>
              <a:rPr lang="cs-CZ" sz="2400" dirty="0" err="1">
                <a:latin typeface="Arial"/>
                <a:cs typeface="Arial"/>
              </a:rPr>
              <a:t>Workflow</a:t>
            </a:r>
            <a:r>
              <a:rPr lang="cs-CZ" sz="2400" dirty="0">
                <a:latin typeface="Arial"/>
                <a:cs typeface="Arial"/>
              </a:rPr>
              <a:t> zpracování dat - ETL </a:t>
            </a:r>
            <a:r>
              <a:rPr lang="cs-CZ" sz="2400" dirty="0" err="1">
                <a:latin typeface="Arial"/>
                <a:cs typeface="Arial"/>
              </a:rPr>
              <a:t>Pipeline</a:t>
            </a:r>
            <a:r>
              <a:rPr lang="cs-CZ" sz="2400" dirty="0">
                <a:latin typeface="Arial"/>
                <a:cs typeface="Arial"/>
              </a:rPr>
              <a:t> (detailní kroky)</a:t>
            </a:r>
            <a:endParaRPr lang="cs-CZ" dirty="0"/>
          </a:p>
        </p:txBody>
      </p:sp>
      <p:sp>
        <p:nvSpPr>
          <p:cNvPr id="5" name="Zástupný obsah 2">
            <a:extLst>
              <a:ext uri="{FF2B5EF4-FFF2-40B4-BE49-F238E27FC236}">
                <a16:creationId xmlns:a16="http://schemas.microsoft.com/office/drawing/2014/main" id="{6518DCCA-CDBE-12A8-FB07-2A636CBB090A}"/>
              </a:ext>
            </a:extLst>
          </p:cNvPr>
          <p:cNvSpPr>
            <a:spLocks noGrp="1"/>
          </p:cNvSpPr>
          <p:nvPr>
            <p:ph idx="1"/>
          </p:nvPr>
        </p:nvSpPr>
        <p:spPr>
          <a:xfrm>
            <a:off x="573011" y="1865538"/>
            <a:ext cx="7882414" cy="4627457"/>
          </a:xfrm>
        </p:spPr>
        <p:txBody>
          <a:bodyPr vert="horz" lIns="91440" tIns="45720" rIns="91440" bIns="45720" rtlCol="0" anchor="t">
            <a:noAutofit/>
          </a:bodyPr>
          <a:lstStyle/>
          <a:p>
            <a:pPr marL="170815" indent="-170815"/>
            <a:r>
              <a:rPr lang="cs-CZ" sz="1800" dirty="0">
                <a:latin typeface="Arial"/>
                <a:cs typeface="Arial"/>
              </a:rPr>
              <a:t>Na následujících snímkách budou vypsány jednotlivé kódy, které byly použity pro čištění dat</a:t>
            </a:r>
          </a:p>
          <a:p>
            <a:pPr marL="170815" indent="-170815"/>
            <a:r>
              <a:rPr lang="cs-CZ" sz="1800" dirty="0">
                <a:latin typeface="Arial"/>
                <a:ea typeface="Verdana"/>
                <a:cs typeface="Arial"/>
              </a:rPr>
              <a:t>Jelikož jsou některé z nich příliš dlouhé a nevejdou se na slide, budou v kompletní podobě přiloženy jako příloha</a:t>
            </a:r>
            <a:endParaRPr lang="en-US" sz="1200" dirty="0">
              <a:latin typeface="Consolas"/>
              <a:ea typeface="Verdana"/>
              <a:cs typeface="Arial"/>
            </a:endParaRPr>
          </a:p>
          <a:p>
            <a:pPr marL="170815" indent="-170815">
              <a:buNone/>
            </a:pPr>
            <a:endParaRPr lang="cs-CZ" sz="1200" dirty="0">
              <a:latin typeface="Consolas"/>
              <a:ea typeface="Verdana"/>
              <a:cs typeface="Arial"/>
            </a:endParaRPr>
          </a:p>
          <a:p>
            <a:pPr marL="170815" indent="-170815"/>
            <a:endParaRPr lang="cs-CZ" sz="1800" dirty="0">
              <a:ea typeface="Verdana"/>
            </a:endParaRPr>
          </a:p>
          <a:p>
            <a:pPr marL="170815" indent="-170815"/>
            <a:endParaRPr lang="cs-CZ" sz="2000" dirty="0"/>
          </a:p>
          <a:p>
            <a:pPr marL="170815" indent="-170815"/>
            <a:endParaRPr lang="cs-CZ" sz="2400" dirty="0"/>
          </a:p>
          <a:p>
            <a:pPr marL="513715" lvl="1" indent="-170815">
              <a:buFont typeface="Courier New" panose="020B0604020202020204" pitchFamily="34" charset="0"/>
              <a:buChar char="o"/>
            </a:pPr>
            <a:endParaRPr lang="cs-CZ" sz="2100" dirty="0"/>
          </a:p>
          <a:p>
            <a:pPr marL="513715" lvl="1" indent="-170815">
              <a:buFont typeface="Courier New" panose="020B0604020202020204" pitchFamily="34" charset="0"/>
              <a:buChar char="o"/>
            </a:pPr>
            <a:endParaRPr lang="cs-CZ" sz="2100" dirty="0"/>
          </a:p>
          <a:p>
            <a:pPr marL="170815" indent="-170815"/>
            <a:endParaRPr lang="cs-CZ" sz="2400" b="1" dirty="0"/>
          </a:p>
          <a:p>
            <a:pPr marL="170815" indent="-170815"/>
            <a:endParaRPr lang="cs-CZ" sz="2400" b="1" dirty="0"/>
          </a:p>
        </p:txBody>
      </p:sp>
    </p:spTree>
    <p:extLst>
      <p:ext uri="{BB962C8B-B14F-4D97-AF65-F5344CB8AC3E}">
        <p14:creationId xmlns:p14="http://schemas.microsoft.com/office/powerpoint/2010/main" val="78195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E49E0-766A-1D96-B283-DB4D801D8869}"/>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3DC0FF42-EB81-A36D-292B-FF84665A3D2F}"/>
              </a:ext>
            </a:extLst>
          </p:cNvPr>
          <p:cNvSpPr>
            <a:spLocks noGrp="1"/>
          </p:cNvSpPr>
          <p:nvPr>
            <p:ph type="title"/>
          </p:nvPr>
        </p:nvSpPr>
        <p:spPr>
          <a:xfrm>
            <a:off x="581419" y="1100016"/>
            <a:ext cx="7883452" cy="623829"/>
          </a:xfrm>
        </p:spPr>
        <p:txBody>
          <a:bodyPr vert="horz" lIns="91440" tIns="45720" rIns="91440" bIns="45720" rtlCol="0" anchor="t">
            <a:noAutofit/>
          </a:bodyPr>
          <a:lstStyle/>
          <a:p>
            <a:r>
              <a:rPr lang="cs-CZ" sz="2400" dirty="0" err="1">
                <a:latin typeface="Arial"/>
                <a:cs typeface="Arial"/>
              </a:rPr>
              <a:t>Workflow</a:t>
            </a:r>
            <a:r>
              <a:rPr lang="cs-CZ" sz="2400" dirty="0">
                <a:latin typeface="Arial"/>
                <a:cs typeface="Arial"/>
              </a:rPr>
              <a:t> zpracování dat - ETL </a:t>
            </a:r>
            <a:r>
              <a:rPr lang="cs-CZ" sz="2400" dirty="0" err="1">
                <a:latin typeface="Arial"/>
                <a:cs typeface="Arial"/>
              </a:rPr>
              <a:t>Pipeline</a:t>
            </a:r>
            <a:r>
              <a:rPr lang="cs-CZ" sz="2400" dirty="0">
                <a:latin typeface="Arial"/>
                <a:cs typeface="Arial"/>
              </a:rPr>
              <a:t> (detailní kroky)</a:t>
            </a:r>
            <a:endParaRPr lang="cs-CZ" dirty="0"/>
          </a:p>
        </p:txBody>
      </p:sp>
      <p:sp>
        <p:nvSpPr>
          <p:cNvPr id="5" name="Zástupný obsah 2">
            <a:extLst>
              <a:ext uri="{FF2B5EF4-FFF2-40B4-BE49-F238E27FC236}">
                <a16:creationId xmlns:a16="http://schemas.microsoft.com/office/drawing/2014/main" id="{0E8A8DF2-D19B-0560-1568-139BF791E551}"/>
              </a:ext>
            </a:extLst>
          </p:cNvPr>
          <p:cNvSpPr>
            <a:spLocks noGrp="1"/>
          </p:cNvSpPr>
          <p:nvPr>
            <p:ph idx="1"/>
          </p:nvPr>
        </p:nvSpPr>
        <p:spPr>
          <a:xfrm>
            <a:off x="573011" y="1865538"/>
            <a:ext cx="7882414" cy="4627457"/>
          </a:xfrm>
        </p:spPr>
        <p:txBody>
          <a:bodyPr vert="horz" lIns="91440" tIns="45720" rIns="91440" bIns="45720" rtlCol="0" anchor="t">
            <a:noAutofit/>
          </a:bodyPr>
          <a:lstStyle/>
          <a:p>
            <a:pPr marL="170815" indent="-170815"/>
            <a:r>
              <a:rPr lang="cs-CZ" sz="1800" b="1" dirty="0">
                <a:latin typeface="Arial"/>
                <a:cs typeface="Arial"/>
              </a:rPr>
              <a:t>Čištění covid </a:t>
            </a:r>
            <a:r>
              <a:rPr lang="cs-CZ" sz="1800" b="1" dirty="0" err="1">
                <a:latin typeface="Arial"/>
                <a:cs typeface="Arial"/>
              </a:rPr>
              <a:t>cases</a:t>
            </a:r>
            <a:endParaRPr lang="cs-CZ" sz="1800" b="1" dirty="0"/>
          </a:p>
          <a:p>
            <a:pPr marL="170815" indent="-170815">
              <a:buNone/>
            </a:pPr>
            <a:endParaRPr lang="cs-CZ" sz="1600" dirty="0">
              <a:latin typeface="Consolas"/>
            </a:endParaRPr>
          </a:p>
          <a:p>
            <a:pPr marL="170815" indent="-170815">
              <a:buNone/>
            </a:pPr>
            <a:r>
              <a:rPr lang="en-US" sz="1200" dirty="0">
                <a:latin typeface="Consolas"/>
                <a:ea typeface="Verdana"/>
                <a:cs typeface="Arial"/>
              </a:rPr>
              <a:t>CREATE OR REPLACE TABLE `silver-lead-484519-r7.CovidCases.Covid_cases_cleaned` AS</a:t>
            </a:r>
          </a:p>
          <a:p>
            <a:pPr marL="170815" indent="-170815">
              <a:buNone/>
            </a:pPr>
            <a:r>
              <a:rPr lang="en-US" sz="1200" dirty="0">
                <a:latin typeface="Consolas"/>
                <a:ea typeface="Verdana"/>
                <a:cs typeface="Arial"/>
              </a:rPr>
              <a:t>SELECT</a:t>
            </a:r>
          </a:p>
          <a:p>
            <a:pPr marL="170815" indent="-170815">
              <a:buNone/>
            </a:pPr>
            <a:r>
              <a:rPr lang="en-US" sz="1200" dirty="0">
                <a:latin typeface="Consolas"/>
                <a:ea typeface="Verdana"/>
                <a:cs typeface="Arial"/>
              </a:rPr>
              <a:t>  date,</a:t>
            </a:r>
          </a:p>
          <a:p>
            <a:pPr marL="170815" indent="-170815">
              <a:buNone/>
            </a:pPr>
            <a:r>
              <a:rPr lang="en-US" sz="1200" dirty="0">
                <a:latin typeface="Consolas"/>
                <a:ea typeface="Verdana"/>
                <a:cs typeface="Arial"/>
              </a:rPr>
              <a:t>  county,</a:t>
            </a:r>
          </a:p>
          <a:p>
            <a:pPr marL="170815" indent="-170815">
              <a:buNone/>
            </a:pPr>
            <a:r>
              <a:rPr lang="en-US" sz="1200" dirty="0">
                <a:latin typeface="Consolas"/>
                <a:ea typeface="Verdana"/>
                <a:cs typeface="Arial"/>
              </a:rPr>
              <a:t>  state,</a:t>
            </a:r>
          </a:p>
          <a:p>
            <a:pPr marL="170815" indent="-170815">
              <a:buNone/>
            </a:pPr>
            <a:r>
              <a:rPr lang="en-US" sz="1200" dirty="0">
                <a:latin typeface="Consolas"/>
                <a:ea typeface="Verdana"/>
                <a:cs typeface="Arial"/>
              </a:rPr>
              <a:t>  LPAD(CAST(</a:t>
            </a:r>
            <a:r>
              <a:rPr lang="en-US" sz="1200" dirty="0" err="1">
                <a:latin typeface="Consolas"/>
                <a:ea typeface="Verdana"/>
                <a:cs typeface="Arial"/>
              </a:rPr>
              <a:t>fips</a:t>
            </a:r>
            <a:r>
              <a:rPr lang="en-US" sz="1200" dirty="0">
                <a:latin typeface="Consolas"/>
                <a:ea typeface="Verdana"/>
                <a:cs typeface="Arial"/>
              </a:rPr>
              <a:t> AS STRING), 5, '0') AS </a:t>
            </a:r>
            <a:r>
              <a:rPr lang="en-US" sz="1200" dirty="0" err="1">
                <a:latin typeface="Consolas"/>
                <a:ea typeface="Verdana"/>
                <a:cs typeface="Arial"/>
              </a:rPr>
              <a:t>fips</a:t>
            </a:r>
            <a:r>
              <a:rPr lang="en-US" sz="1200" dirty="0">
                <a:latin typeface="Consolas"/>
                <a:ea typeface="Verdana"/>
                <a:cs typeface="Arial"/>
              </a:rPr>
              <a:t>,</a:t>
            </a:r>
          </a:p>
          <a:p>
            <a:pPr marL="170815" indent="-170815">
              <a:buNone/>
            </a:pPr>
            <a:r>
              <a:rPr lang="en-US" sz="1200" dirty="0">
                <a:latin typeface="Consolas"/>
                <a:ea typeface="Verdana"/>
                <a:cs typeface="Arial"/>
              </a:rPr>
              <a:t>  </a:t>
            </a:r>
            <a:r>
              <a:rPr lang="en-US" sz="1200" dirty="0" err="1">
                <a:latin typeface="Consolas"/>
                <a:ea typeface="Verdana"/>
                <a:cs typeface="Arial"/>
              </a:rPr>
              <a:t>cas</a:t>
            </a:r>
            <a:r>
              <a:rPr lang="cs-CZ" sz="1200" dirty="0">
                <a:latin typeface="Consolas"/>
                <a:ea typeface="Verdana"/>
                <a:cs typeface="Arial"/>
              </a:rPr>
              <a:t>e</a:t>
            </a:r>
            <a:r>
              <a:rPr lang="en-US" sz="1200" dirty="0">
                <a:latin typeface="Consolas"/>
                <a:ea typeface="Verdana"/>
                <a:cs typeface="Arial"/>
              </a:rPr>
              <a:t>s,</a:t>
            </a:r>
          </a:p>
          <a:p>
            <a:pPr marL="170815" indent="-170815">
              <a:buNone/>
            </a:pPr>
            <a:r>
              <a:rPr lang="en-US" sz="1200" dirty="0">
                <a:latin typeface="Consolas"/>
                <a:ea typeface="Verdana"/>
                <a:cs typeface="Arial"/>
              </a:rPr>
              <a:t>  deaths</a:t>
            </a:r>
          </a:p>
          <a:p>
            <a:pPr marL="170815" indent="-170815">
              <a:buNone/>
            </a:pPr>
            <a:r>
              <a:rPr lang="en-US" sz="1200" dirty="0">
                <a:latin typeface="Consolas"/>
                <a:ea typeface="Verdana"/>
                <a:cs typeface="Arial"/>
              </a:rPr>
              <a:t>FROM `silver-lead-484519-r7.CovidCases.Covid Cases`;</a:t>
            </a:r>
          </a:p>
          <a:p>
            <a:pPr marL="170815" indent="-170815">
              <a:buNone/>
            </a:pPr>
            <a:endParaRPr lang="cs-CZ" sz="1200" dirty="0">
              <a:latin typeface="Consolas"/>
              <a:ea typeface="Verdana"/>
              <a:cs typeface="Arial"/>
            </a:endParaRPr>
          </a:p>
          <a:p>
            <a:pPr marL="170815" indent="-170815"/>
            <a:endParaRPr lang="cs-CZ" sz="1800" dirty="0">
              <a:ea typeface="Verdana"/>
            </a:endParaRPr>
          </a:p>
          <a:p>
            <a:pPr marL="170815" indent="-170815"/>
            <a:endParaRPr lang="cs-CZ" sz="2000" dirty="0"/>
          </a:p>
          <a:p>
            <a:pPr marL="170815" indent="-170815"/>
            <a:endParaRPr lang="cs-CZ" sz="2400" dirty="0"/>
          </a:p>
          <a:p>
            <a:pPr marL="513715" lvl="1" indent="-170815">
              <a:buFont typeface="Courier New" panose="020B0604020202020204" pitchFamily="34" charset="0"/>
              <a:buChar char="o"/>
            </a:pPr>
            <a:endParaRPr lang="cs-CZ" sz="2100" dirty="0"/>
          </a:p>
          <a:p>
            <a:pPr marL="513715" lvl="1" indent="-170815">
              <a:buFont typeface="Courier New" panose="020B0604020202020204" pitchFamily="34" charset="0"/>
              <a:buChar char="o"/>
            </a:pPr>
            <a:endParaRPr lang="cs-CZ" sz="2100" dirty="0"/>
          </a:p>
          <a:p>
            <a:pPr marL="170815" indent="-170815"/>
            <a:endParaRPr lang="cs-CZ" sz="2400" b="1" dirty="0"/>
          </a:p>
          <a:p>
            <a:pPr marL="170815" indent="-170815"/>
            <a:endParaRPr lang="cs-CZ" sz="2400" b="1" dirty="0"/>
          </a:p>
        </p:txBody>
      </p:sp>
    </p:spTree>
    <p:extLst>
      <p:ext uri="{BB962C8B-B14F-4D97-AF65-F5344CB8AC3E}">
        <p14:creationId xmlns:p14="http://schemas.microsoft.com/office/powerpoint/2010/main" val="710634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64F44-13E2-A7FC-6595-E186656C3F65}"/>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ECFC47B2-AAE5-0B90-CA64-C1FB12448CB4}"/>
              </a:ext>
            </a:extLst>
          </p:cNvPr>
          <p:cNvSpPr>
            <a:spLocks noGrp="1"/>
          </p:cNvSpPr>
          <p:nvPr>
            <p:ph type="title"/>
          </p:nvPr>
        </p:nvSpPr>
        <p:spPr>
          <a:xfrm>
            <a:off x="581419" y="1100016"/>
            <a:ext cx="7883452" cy="623829"/>
          </a:xfrm>
        </p:spPr>
        <p:txBody>
          <a:bodyPr vert="horz" lIns="91440" tIns="45720" rIns="91440" bIns="45720" rtlCol="0" anchor="t">
            <a:noAutofit/>
          </a:bodyPr>
          <a:lstStyle/>
          <a:p>
            <a:r>
              <a:rPr lang="cs-CZ" sz="2400" dirty="0" err="1">
                <a:latin typeface="Arial"/>
                <a:cs typeface="Arial"/>
              </a:rPr>
              <a:t>Workflow</a:t>
            </a:r>
            <a:r>
              <a:rPr lang="cs-CZ" sz="2400" dirty="0">
                <a:latin typeface="Arial"/>
                <a:cs typeface="Arial"/>
              </a:rPr>
              <a:t> zpracování dat - ETL </a:t>
            </a:r>
            <a:r>
              <a:rPr lang="cs-CZ" sz="2400" dirty="0" err="1">
                <a:latin typeface="Arial"/>
                <a:cs typeface="Arial"/>
              </a:rPr>
              <a:t>Pipeline</a:t>
            </a:r>
            <a:r>
              <a:rPr lang="cs-CZ" sz="2400" dirty="0">
                <a:latin typeface="Arial"/>
                <a:cs typeface="Arial"/>
              </a:rPr>
              <a:t> </a:t>
            </a:r>
            <a:endParaRPr lang="cs-CZ" dirty="0"/>
          </a:p>
        </p:txBody>
      </p:sp>
      <p:sp>
        <p:nvSpPr>
          <p:cNvPr id="5" name="Zástupný obsah 2">
            <a:extLst>
              <a:ext uri="{FF2B5EF4-FFF2-40B4-BE49-F238E27FC236}">
                <a16:creationId xmlns:a16="http://schemas.microsoft.com/office/drawing/2014/main" id="{B2FDDC8E-7F1A-8D84-7239-62DCFB46E6C0}"/>
              </a:ext>
            </a:extLst>
          </p:cNvPr>
          <p:cNvSpPr>
            <a:spLocks noGrp="1"/>
          </p:cNvSpPr>
          <p:nvPr>
            <p:ph idx="1"/>
          </p:nvPr>
        </p:nvSpPr>
        <p:spPr>
          <a:xfrm>
            <a:off x="582457" y="1893530"/>
            <a:ext cx="7882414" cy="4627457"/>
          </a:xfrm>
        </p:spPr>
        <p:txBody>
          <a:bodyPr vert="horz" lIns="91440" tIns="45720" rIns="91440" bIns="45720" rtlCol="0" anchor="t">
            <a:noAutofit/>
          </a:bodyPr>
          <a:lstStyle/>
          <a:p>
            <a:pPr marL="170815" indent="-170815"/>
            <a:r>
              <a:rPr lang="cs-CZ" sz="1800" b="1" dirty="0">
                <a:latin typeface="Arial"/>
                <a:cs typeface="Arial"/>
              </a:rPr>
              <a:t>Čištění </a:t>
            </a:r>
            <a:r>
              <a:rPr lang="cs-CZ" sz="1800" b="1" dirty="0" err="1">
                <a:latin typeface="Arial"/>
                <a:cs typeface="Arial"/>
              </a:rPr>
              <a:t>Population</a:t>
            </a:r>
            <a:r>
              <a:rPr lang="cs-CZ" sz="1800" b="1" dirty="0">
                <a:latin typeface="Arial"/>
                <a:cs typeface="Arial"/>
              </a:rPr>
              <a:t> </a:t>
            </a:r>
            <a:r>
              <a:rPr lang="cs-CZ" sz="1800" b="1" dirty="0" err="1">
                <a:latin typeface="Arial"/>
                <a:cs typeface="Arial"/>
              </a:rPr>
              <a:t>datasetu</a:t>
            </a:r>
            <a:r>
              <a:rPr lang="cs-CZ" sz="1800" b="1" dirty="0">
                <a:latin typeface="Arial"/>
                <a:cs typeface="Arial"/>
              </a:rPr>
              <a:t> (zkrácená verze)</a:t>
            </a:r>
            <a:endParaRPr lang="cs-CZ" sz="1600" dirty="0">
              <a:latin typeface="Consolas"/>
            </a:endParaRPr>
          </a:p>
          <a:p>
            <a:pPr marL="170815" indent="-170815">
              <a:buNone/>
            </a:pPr>
            <a:r>
              <a:rPr lang="en-US" sz="1200" dirty="0">
                <a:latin typeface="Consolas"/>
                <a:ea typeface="Verdana"/>
                <a:cs typeface="Arial"/>
              </a:rPr>
              <a:t>CREATE OR REPLACE TABLE `silver-lead-484519-r7.CovidCases.Population_cleaned` AS</a:t>
            </a:r>
          </a:p>
          <a:p>
            <a:pPr marL="170815" indent="-170815">
              <a:buNone/>
            </a:pPr>
            <a:r>
              <a:rPr lang="en-US" sz="1200" dirty="0">
                <a:latin typeface="Consolas"/>
                <a:ea typeface="Verdana"/>
                <a:cs typeface="Arial"/>
              </a:rPr>
              <a:t>SELECT</a:t>
            </a:r>
          </a:p>
          <a:p>
            <a:pPr marL="170815" indent="-170815">
              <a:buNone/>
            </a:pPr>
            <a:r>
              <a:rPr lang="en-US" sz="1200" dirty="0">
                <a:latin typeface="Consolas"/>
                <a:ea typeface="Verdana"/>
                <a:cs typeface="Arial"/>
              </a:rPr>
              <a:t>  LPAD(CAST(STATE AS STRING), 2, '0') AS </a:t>
            </a:r>
            <a:r>
              <a:rPr lang="en-US" sz="1200" dirty="0" err="1">
                <a:latin typeface="Consolas"/>
                <a:ea typeface="Verdana"/>
                <a:cs typeface="Arial"/>
              </a:rPr>
              <a:t>state_fips</a:t>
            </a:r>
            <a:r>
              <a:rPr lang="en-US" sz="1200" dirty="0">
                <a:latin typeface="Consolas"/>
                <a:ea typeface="Verdana"/>
                <a:cs typeface="Arial"/>
              </a:rPr>
              <a:t>,</a:t>
            </a:r>
          </a:p>
          <a:p>
            <a:pPr marL="170815" indent="-170815">
              <a:buNone/>
            </a:pPr>
            <a:r>
              <a:rPr lang="en-US" sz="1200" dirty="0">
                <a:latin typeface="Consolas"/>
                <a:ea typeface="Verdana"/>
                <a:cs typeface="Arial"/>
              </a:rPr>
              <a:t>  LPAD(CAST(COUNTY AS STRING), 3, '0') AS </a:t>
            </a:r>
            <a:r>
              <a:rPr lang="en-US" sz="1200" dirty="0" err="1">
                <a:latin typeface="Consolas"/>
                <a:ea typeface="Verdana"/>
                <a:cs typeface="Arial"/>
              </a:rPr>
              <a:t>county_fips</a:t>
            </a:r>
            <a:r>
              <a:rPr lang="en-US" sz="1200" dirty="0">
                <a:latin typeface="Consolas"/>
                <a:ea typeface="Verdana"/>
                <a:cs typeface="Arial"/>
              </a:rPr>
              <a:t>,</a:t>
            </a:r>
          </a:p>
          <a:p>
            <a:pPr marL="170815" indent="-170815">
              <a:buNone/>
            </a:pPr>
            <a:r>
              <a:rPr lang="en-US" sz="1200" dirty="0">
                <a:latin typeface="Consolas"/>
                <a:ea typeface="Verdana"/>
                <a:cs typeface="Arial"/>
              </a:rPr>
              <a:t>CONCAT(LPAD(CAST(STATE AS STRING), 2, '0'), LPAD(CAST(COUNTY AS STRING), 3, '0')) AS </a:t>
            </a:r>
            <a:r>
              <a:rPr lang="en-US" sz="1200" dirty="0" err="1">
                <a:latin typeface="Consolas"/>
                <a:ea typeface="Verdana"/>
                <a:cs typeface="Arial"/>
              </a:rPr>
              <a:t>fips</a:t>
            </a:r>
            <a:r>
              <a:rPr lang="en-US" sz="1200" dirty="0">
                <a:latin typeface="Consolas"/>
                <a:ea typeface="Verdana"/>
                <a:cs typeface="Arial"/>
              </a:rPr>
              <a:t>,</a:t>
            </a:r>
          </a:p>
          <a:p>
            <a:pPr marL="170815" indent="-170815">
              <a:buNone/>
            </a:pPr>
            <a:r>
              <a:rPr lang="en-US" sz="1200" dirty="0">
                <a:latin typeface="Consolas"/>
                <a:ea typeface="Verdana"/>
                <a:cs typeface="Arial"/>
              </a:rPr>
              <a:t>  STNAME AS </a:t>
            </a:r>
            <a:r>
              <a:rPr lang="en-US" sz="1200" dirty="0" err="1">
                <a:latin typeface="Consolas"/>
                <a:ea typeface="Verdana"/>
                <a:cs typeface="Arial"/>
              </a:rPr>
              <a:t>state_name</a:t>
            </a:r>
            <a:r>
              <a:rPr lang="en-US" sz="1200" dirty="0">
                <a:latin typeface="Consolas"/>
                <a:ea typeface="Verdana"/>
                <a:cs typeface="Arial"/>
              </a:rPr>
              <a:t>,</a:t>
            </a:r>
          </a:p>
          <a:p>
            <a:pPr marL="170815" indent="-170815">
              <a:buNone/>
            </a:pPr>
            <a:r>
              <a:rPr lang="en-US" sz="1200" dirty="0">
                <a:latin typeface="Consolas"/>
                <a:ea typeface="Verdana"/>
                <a:cs typeface="Arial"/>
              </a:rPr>
              <a:t>  CTYNAME AS </a:t>
            </a:r>
            <a:r>
              <a:rPr lang="en-US" sz="1200" dirty="0" err="1">
                <a:latin typeface="Consolas"/>
                <a:ea typeface="Verdana"/>
                <a:cs typeface="Arial"/>
              </a:rPr>
              <a:t>county_name</a:t>
            </a:r>
            <a:r>
              <a:rPr lang="en-US" sz="1200" dirty="0">
                <a:latin typeface="Consolas"/>
                <a:ea typeface="Verdana"/>
                <a:cs typeface="Arial"/>
              </a:rPr>
              <a:t>,</a:t>
            </a:r>
          </a:p>
          <a:p>
            <a:pPr marL="170815" indent="-170815">
              <a:buNone/>
            </a:pPr>
            <a:r>
              <a:rPr lang="en-US" sz="1200" dirty="0">
                <a:latin typeface="Consolas"/>
                <a:ea typeface="Verdana"/>
                <a:cs typeface="Arial"/>
              </a:rPr>
              <a:t>  DATE('2020-07-01') AS </a:t>
            </a:r>
            <a:r>
              <a:rPr lang="en-US" sz="1200" dirty="0" err="1">
                <a:latin typeface="Consolas"/>
                <a:ea typeface="Verdana"/>
                <a:cs typeface="Arial"/>
              </a:rPr>
              <a:t>estimate_date</a:t>
            </a:r>
            <a:r>
              <a:rPr lang="en-US" sz="1200" dirty="0">
                <a:latin typeface="Consolas"/>
                <a:ea typeface="Verdana"/>
                <a:cs typeface="Arial"/>
              </a:rPr>
              <a:t>,</a:t>
            </a:r>
          </a:p>
          <a:p>
            <a:pPr marL="170815" indent="-170815">
              <a:buNone/>
            </a:pPr>
            <a:r>
              <a:rPr lang="en-US" sz="1200" dirty="0">
                <a:latin typeface="Consolas"/>
                <a:ea typeface="Verdana"/>
                <a:cs typeface="Arial"/>
              </a:rPr>
              <a:t>  YEAR AS </a:t>
            </a:r>
            <a:r>
              <a:rPr lang="en-US" sz="1200" dirty="0" err="1">
                <a:latin typeface="Consolas"/>
                <a:ea typeface="Verdana"/>
                <a:cs typeface="Arial"/>
              </a:rPr>
              <a:t>year_code</a:t>
            </a:r>
            <a:r>
              <a:rPr lang="en-US" sz="1200" dirty="0">
                <a:latin typeface="Consolas"/>
                <a:ea typeface="Verdana"/>
                <a:cs typeface="Arial"/>
              </a:rPr>
              <a:t>,  </a:t>
            </a:r>
          </a:p>
          <a:p>
            <a:pPr marL="170815" indent="-170815">
              <a:buNone/>
            </a:pPr>
            <a:r>
              <a:rPr lang="en-US" sz="1200" dirty="0">
                <a:latin typeface="Consolas"/>
                <a:ea typeface="Verdana"/>
                <a:cs typeface="Arial"/>
              </a:rPr>
              <a:t>  AGEGRP AS </a:t>
            </a:r>
            <a:r>
              <a:rPr lang="en-US" sz="1200" dirty="0" err="1">
                <a:latin typeface="Consolas"/>
                <a:ea typeface="Verdana"/>
                <a:cs typeface="Arial"/>
              </a:rPr>
              <a:t>age_group</a:t>
            </a:r>
            <a:r>
              <a:rPr lang="en-US" sz="1200" dirty="0">
                <a:latin typeface="Consolas"/>
                <a:ea typeface="Verdana"/>
                <a:cs typeface="Arial"/>
              </a:rPr>
              <a:t>,</a:t>
            </a:r>
          </a:p>
          <a:p>
            <a:pPr marL="170815" indent="-170815">
              <a:buNone/>
            </a:pPr>
            <a:r>
              <a:rPr lang="en-US" sz="1200" dirty="0">
                <a:latin typeface="Consolas"/>
                <a:ea typeface="Verdana"/>
                <a:cs typeface="Arial"/>
              </a:rPr>
              <a:t>TOT_POP AS </a:t>
            </a:r>
            <a:r>
              <a:rPr lang="en-US" sz="1200" dirty="0" err="1">
                <a:latin typeface="Consolas"/>
                <a:ea typeface="Verdana"/>
                <a:cs typeface="Arial"/>
              </a:rPr>
              <a:t>total_population</a:t>
            </a:r>
            <a:r>
              <a:rPr lang="en-US" sz="1200" dirty="0">
                <a:latin typeface="Consolas"/>
                <a:ea typeface="Verdana"/>
                <a:cs typeface="Arial"/>
              </a:rPr>
              <a:t>,</a:t>
            </a:r>
          </a:p>
          <a:p>
            <a:pPr marL="170815" indent="-170815">
              <a:buNone/>
            </a:pPr>
            <a:r>
              <a:rPr lang="en-US" sz="1200" dirty="0">
                <a:latin typeface="Consolas"/>
                <a:ea typeface="Verdana"/>
                <a:cs typeface="Arial"/>
              </a:rPr>
              <a:t>  TOT_MALE AS </a:t>
            </a:r>
            <a:r>
              <a:rPr lang="en-US" sz="1200" dirty="0" err="1">
                <a:latin typeface="Consolas"/>
                <a:ea typeface="Verdana"/>
                <a:cs typeface="Arial"/>
              </a:rPr>
              <a:t>total_male</a:t>
            </a:r>
            <a:r>
              <a:rPr lang="en-US" sz="1200" dirty="0">
                <a:latin typeface="Consolas"/>
                <a:ea typeface="Verdana"/>
                <a:cs typeface="Arial"/>
              </a:rPr>
              <a:t>,</a:t>
            </a:r>
          </a:p>
          <a:p>
            <a:pPr marL="170815" indent="-170815">
              <a:buNone/>
            </a:pPr>
            <a:r>
              <a:rPr lang="en-US" sz="1200" dirty="0">
                <a:latin typeface="Consolas"/>
                <a:ea typeface="Verdana"/>
                <a:cs typeface="Arial"/>
              </a:rPr>
              <a:t>  TOT_FEMALE AS </a:t>
            </a:r>
            <a:r>
              <a:rPr lang="en-US" sz="1200" dirty="0" err="1">
                <a:latin typeface="Consolas"/>
                <a:ea typeface="Verdana"/>
                <a:cs typeface="Arial"/>
              </a:rPr>
              <a:t>total_female</a:t>
            </a:r>
            <a:r>
              <a:rPr lang="en-US" sz="1200" dirty="0">
                <a:latin typeface="Consolas"/>
                <a:ea typeface="Verdana"/>
                <a:cs typeface="Arial"/>
              </a:rPr>
              <a:t>,</a:t>
            </a:r>
          </a:p>
          <a:p>
            <a:pPr marL="170815" indent="-170815">
              <a:buNone/>
            </a:pPr>
            <a:r>
              <a:rPr lang="en-US" sz="1200" dirty="0">
                <a:latin typeface="Consolas"/>
                <a:ea typeface="Verdana"/>
                <a:cs typeface="Arial"/>
              </a:rPr>
              <a:t>FROM `silver-lead-484519-r7.CovidCases.Population`</a:t>
            </a:r>
          </a:p>
          <a:p>
            <a:pPr marL="170815" indent="-170815">
              <a:buNone/>
            </a:pPr>
            <a:r>
              <a:rPr lang="en-US" sz="1200" dirty="0">
                <a:latin typeface="Consolas"/>
                <a:ea typeface="Verdana"/>
                <a:cs typeface="Arial"/>
              </a:rPr>
              <a:t>WHERE YEAR = 2; </a:t>
            </a:r>
            <a:endParaRPr lang="cs-CZ" sz="1200" dirty="0">
              <a:latin typeface="Consolas"/>
              <a:ea typeface="Verdana"/>
              <a:cs typeface="Arial"/>
            </a:endParaRPr>
          </a:p>
          <a:p>
            <a:pPr marL="170815" indent="-170815"/>
            <a:endParaRPr lang="cs-CZ" sz="1800" dirty="0">
              <a:ea typeface="Verdana"/>
            </a:endParaRPr>
          </a:p>
          <a:p>
            <a:pPr marL="170815" indent="-170815"/>
            <a:endParaRPr lang="cs-CZ" sz="2000" dirty="0"/>
          </a:p>
          <a:p>
            <a:pPr marL="170815" indent="-170815"/>
            <a:endParaRPr lang="cs-CZ" sz="2400" dirty="0"/>
          </a:p>
          <a:p>
            <a:pPr marL="513715" lvl="1" indent="-170815">
              <a:buFont typeface="Courier New" panose="020B0604020202020204" pitchFamily="34" charset="0"/>
              <a:buChar char="o"/>
            </a:pPr>
            <a:endParaRPr lang="cs-CZ" sz="2100" dirty="0"/>
          </a:p>
          <a:p>
            <a:pPr marL="513715" lvl="1" indent="-170815">
              <a:buFont typeface="Courier New" panose="020B0604020202020204" pitchFamily="34" charset="0"/>
              <a:buChar char="o"/>
            </a:pPr>
            <a:endParaRPr lang="cs-CZ" sz="2100" dirty="0"/>
          </a:p>
          <a:p>
            <a:pPr marL="170815" indent="-170815"/>
            <a:endParaRPr lang="cs-CZ" sz="2400" b="1" dirty="0"/>
          </a:p>
          <a:p>
            <a:pPr marL="170815" indent="-170815"/>
            <a:endParaRPr lang="cs-CZ" sz="2400" b="1" dirty="0"/>
          </a:p>
        </p:txBody>
      </p:sp>
    </p:spTree>
    <p:extLst>
      <p:ext uri="{BB962C8B-B14F-4D97-AF65-F5344CB8AC3E}">
        <p14:creationId xmlns:p14="http://schemas.microsoft.com/office/powerpoint/2010/main" val="2089948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6CBE3-A0EF-1D97-DB26-795CBEE72978}"/>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1306D236-07F4-FC06-2DF1-7894DF9734EB}"/>
              </a:ext>
            </a:extLst>
          </p:cNvPr>
          <p:cNvSpPr>
            <a:spLocks noGrp="1"/>
          </p:cNvSpPr>
          <p:nvPr>
            <p:ph type="title"/>
          </p:nvPr>
        </p:nvSpPr>
        <p:spPr>
          <a:xfrm>
            <a:off x="581419" y="1100016"/>
            <a:ext cx="7883452" cy="623829"/>
          </a:xfrm>
        </p:spPr>
        <p:txBody>
          <a:bodyPr vert="horz" lIns="91440" tIns="45720" rIns="91440" bIns="45720" rtlCol="0" anchor="t">
            <a:noAutofit/>
          </a:bodyPr>
          <a:lstStyle/>
          <a:p>
            <a:r>
              <a:rPr lang="cs-CZ" sz="2400" dirty="0" err="1">
                <a:latin typeface="Arial"/>
                <a:cs typeface="Arial"/>
              </a:rPr>
              <a:t>Workflow</a:t>
            </a:r>
            <a:r>
              <a:rPr lang="cs-CZ" sz="2400" dirty="0">
                <a:latin typeface="Arial"/>
                <a:cs typeface="Arial"/>
              </a:rPr>
              <a:t> zpracování dat - ETL </a:t>
            </a:r>
            <a:r>
              <a:rPr lang="cs-CZ" sz="2400" dirty="0" err="1">
                <a:latin typeface="Arial"/>
                <a:cs typeface="Arial"/>
              </a:rPr>
              <a:t>Pipeline</a:t>
            </a:r>
            <a:r>
              <a:rPr lang="cs-CZ" sz="2400" dirty="0">
                <a:latin typeface="Arial"/>
                <a:cs typeface="Arial"/>
              </a:rPr>
              <a:t> </a:t>
            </a:r>
            <a:endParaRPr lang="cs-CZ" dirty="0"/>
          </a:p>
        </p:txBody>
      </p:sp>
      <p:sp>
        <p:nvSpPr>
          <p:cNvPr id="5" name="Zástupný obsah 2">
            <a:extLst>
              <a:ext uri="{FF2B5EF4-FFF2-40B4-BE49-F238E27FC236}">
                <a16:creationId xmlns:a16="http://schemas.microsoft.com/office/drawing/2014/main" id="{F16AD8FB-2430-B387-EF7E-F42ED8368866}"/>
              </a:ext>
            </a:extLst>
          </p:cNvPr>
          <p:cNvSpPr>
            <a:spLocks noGrp="1"/>
          </p:cNvSpPr>
          <p:nvPr>
            <p:ph idx="1"/>
          </p:nvPr>
        </p:nvSpPr>
        <p:spPr>
          <a:xfrm>
            <a:off x="349192" y="1846877"/>
            <a:ext cx="7882414" cy="4627457"/>
          </a:xfrm>
        </p:spPr>
        <p:txBody>
          <a:bodyPr vert="horz" lIns="91440" tIns="45720" rIns="91440" bIns="45720" rtlCol="0" anchor="t">
            <a:noAutofit/>
          </a:bodyPr>
          <a:lstStyle/>
          <a:p>
            <a:pPr marL="170815" indent="-170815"/>
            <a:r>
              <a:rPr lang="cs-CZ" sz="1800" b="1" dirty="0">
                <a:latin typeface="Arial"/>
                <a:cs typeface="Arial"/>
              </a:rPr>
              <a:t>Čištění </a:t>
            </a:r>
            <a:r>
              <a:rPr lang="cs-CZ" sz="1800" b="1" dirty="0" err="1">
                <a:latin typeface="Arial"/>
                <a:cs typeface="Arial"/>
              </a:rPr>
              <a:t>Poverty</a:t>
            </a:r>
            <a:r>
              <a:rPr lang="cs-CZ" sz="1800" b="1" dirty="0">
                <a:latin typeface="Arial"/>
                <a:cs typeface="Arial"/>
              </a:rPr>
              <a:t> and </a:t>
            </a:r>
            <a:r>
              <a:rPr lang="cs-CZ" sz="1800" b="1" dirty="0" err="1">
                <a:latin typeface="Arial"/>
                <a:cs typeface="Arial"/>
              </a:rPr>
              <a:t>income</a:t>
            </a:r>
            <a:r>
              <a:rPr lang="cs-CZ" sz="1800" b="1" dirty="0">
                <a:latin typeface="Arial"/>
                <a:cs typeface="Arial"/>
              </a:rPr>
              <a:t> (zkrácená verze)</a:t>
            </a:r>
            <a:endParaRPr lang="cs-CZ" sz="1600" dirty="0">
              <a:latin typeface="Consolas"/>
            </a:endParaRPr>
          </a:p>
          <a:p>
            <a:pPr marL="170815" indent="-170815"/>
            <a:endParaRPr lang="cs-CZ" sz="1800" dirty="0">
              <a:ea typeface="Verdana"/>
            </a:endParaRPr>
          </a:p>
          <a:p>
            <a:pPr marL="170815" indent="-170815"/>
            <a:r>
              <a:rPr lang="en-US" sz="1200" dirty="0">
                <a:latin typeface="Consolas" panose="020B0609020204030204" pitchFamily="49" charset="0"/>
              </a:rPr>
              <a:t>CREATE OR REPLACE TABLE `silver-lead-484519-r7.CovidCases.Poverty_and_income_cleaned` AS</a:t>
            </a:r>
          </a:p>
          <a:p>
            <a:pPr marL="0" indent="0">
              <a:buNone/>
            </a:pPr>
            <a:r>
              <a:rPr lang="en-US" sz="1200" dirty="0">
                <a:latin typeface="Consolas" panose="020B0609020204030204" pitchFamily="49" charset="0"/>
              </a:rPr>
              <a:t>SELECT</a:t>
            </a:r>
          </a:p>
          <a:p>
            <a:pPr marL="0" indent="0">
              <a:buNone/>
            </a:pPr>
            <a:r>
              <a:rPr lang="en-US" sz="1200" dirty="0">
                <a:latin typeface="Consolas" panose="020B0609020204030204" pitchFamily="49" charset="0"/>
              </a:rPr>
              <a:t>LPAD(CAST(`State FIPS Code` AS STRING), 2, '0') AS </a:t>
            </a:r>
            <a:r>
              <a:rPr lang="en-US" sz="1200" dirty="0" err="1">
                <a:latin typeface="Consolas" panose="020B0609020204030204" pitchFamily="49" charset="0"/>
              </a:rPr>
              <a:t>State_FIPS_Code</a:t>
            </a:r>
            <a:r>
              <a:rPr lang="en-US" sz="1200" dirty="0">
                <a:latin typeface="Consolas" panose="020B0609020204030204" pitchFamily="49" charset="0"/>
              </a:rPr>
              <a:t>,</a:t>
            </a:r>
          </a:p>
          <a:p>
            <a:pPr marL="0" indent="0">
              <a:buNone/>
            </a:pPr>
            <a:r>
              <a:rPr lang="en-US" sz="1200" dirty="0">
                <a:latin typeface="Consolas" panose="020B0609020204030204" pitchFamily="49" charset="0"/>
              </a:rPr>
              <a:t>  LPAD(CAST(`County FIPS Code` AS STRING), 3, '0') AS </a:t>
            </a:r>
            <a:r>
              <a:rPr lang="en-US" sz="1200" dirty="0" err="1">
                <a:latin typeface="Consolas" panose="020B0609020204030204" pitchFamily="49" charset="0"/>
              </a:rPr>
              <a:t>County_FIPS_Code</a:t>
            </a:r>
            <a:r>
              <a:rPr lang="en-US" sz="1200" dirty="0">
                <a:latin typeface="Consolas" panose="020B0609020204030204" pitchFamily="49" charset="0"/>
              </a:rPr>
              <a:t>,</a:t>
            </a:r>
          </a:p>
          <a:p>
            <a:pPr marL="0" indent="0">
              <a:buNone/>
            </a:pPr>
            <a:r>
              <a:rPr lang="en-US" sz="1200" dirty="0">
                <a:latin typeface="Consolas" panose="020B0609020204030204" pitchFamily="49" charset="0"/>
              </a:rPr>
              <a:t>  `Postal Code`,</a:t>
            </a:r>
          </a:p>
          <a:p>
            <a:pPr marL="0" indent="0">
              <a:buNone/>
            </a:pPr>
            <a:r>
              <a:rPr lang="en-US" sz="1200" dirty="0">
                <a:latin typeface="Consolas" panose="020B0609020204030204" pitchFamily="49" charset="0"/>
              </a:rPr>
              <a:t>  `Name`,</a:t>
            </a:r>
          </a:p>
          <a:p>
            <a:pPr marL="0" indent="0">
              <a:buNone/>
            </a:pPr>
            <a:r>
              <a:rPr lang="en-US" sz="1200" dirty="0">
                <a:latin typeface="Consolas" panose="020B0609020204030204" pitchFamily="49" charset="0"/>
              </a:rPr>
              <a:t>  SAFE_CAST(REPLACE(REPLACE(`Poverty </a:t>
            </a:r>
            <a:r>
              <a:rPr lang="en-US" sz="1200" dirty="0" err="1">
                <a:latin typeface="Consolas" panose="020B0609020204030204" pitchFamily="49" charset="0"/>
              </a:rPr>
              <a:t>Estimate_All</a:t>
            </a:r>
            <a:r>
              <a:rPr lang="en-US" sz="1200" dirty="0">
                <a:latin typeface="Consolas" panose="020B0609020204030204" pitchFamily="49" charset="0"/>
              </a:rPr>
              <a:t> Ages`, ' ', ''), ',', '.') AS INT64) AS </a:t>
            </a:r>
            <a:r>
              <a:rPr lang="en-US" sz="1200" dirty="0" err="1">
                <a:latin typeface="Consolas" panose="020B0609020204030204" pitchFamily="49" charset="0"/>
              </a:rPr>
              <a:t>poverty_estimate_all_ages</a:t>
            </a:r>
            <a:r>
              <a:rPr lang="en-US" sz="1200" dirty="0">
                <a:latin typeface="Consolas" panose="020B0609020204030204" pitchFamily="49" charset="0"/>
              </a:rPr>
              <a:t>,</a:t>
            </a:r>
          </a:p>
          <a:p>
            <a:pPr marL="0" indent="0">
              <a:buNone/>
            </a:pPr>
            <a:r>
              <a:rPr lang="en-US" sz="1200" dirty="0">
                <a:latin typeface="Consolas" panose="020B0609020204030204" pitchFamily="49" charset="0"/>
              </a:rPr>
              <a:t>  SAFE_CAST(REPLACE(REPLACE(`90% CI Lower </a:t>
            </a:r>
            <a:r>
              <a:rPr lang="en-US" sz="1200" dirty="0" err="1">
                <a:latin typeface="Consolas" panose="020B0609020204030204" pitchFamily="49" charset="0"/>
              </a:rPr>
              <a:t>Bound_All</a:t>
            </a:r>
            <a:r>
              <a:rPr lang="en-US" sz="1200" dirty="0">
                <a:latin typeface="Consolas" panose="020B0609020204030204" pitchFamily="49" charset="0"/>
              </a:rPr>
              <a:t> ages`, ' ', ''), ',', '.') AS INT64) AS </a:t>
            </a:r>
            <a:r>
              <a:rPr lang="en-US" sz="1200" dirty="0" err="1">
                <a:latin typeface="Consolas" panose="020B0609020204030204" pitchFamily="49" charset="0"/>
              </a:rPr>
              <a:t>ci_lower_all_ages</a:t>
            </a:r>
            <a:r>
              <a:rPr lang="en-US" sz="1200" dirty="0">
                <a:latin typeface="Consolas" panose="020B0609020204030204" pitchFamily="49" charset="0"/>
              </a:rPr>
              <a:t>,</a:t>
            </a:r>
          </a:p>
          <a:p>
            <a:pPr marL="0" indent="0">
              <a:buNone/>
            </a:pPr>
            <a:r>
              <a:rPr lang="en-US" sz="1200" dirty="0">
                <a:latin typeface="Consolas" panose="020B0609020204030204" pitchFamily="49" charset="0"/>
              </a:rPr>
              <a:t>  SAFE_CAST(REPLACE(REPLACE(`90% CI Upper </a:t>
            </a:r>
            <a:r>
              <a:rPr lang="en-US" sz="1200" dirty="0" err="1">
                <a:latin typeface="Consolas" panose="020B0609020204030204" pitchFamily="49" charset="0"/>
              </a:rPr>
              <a:t>Bound_All</a:t>
            </a:r>
            <a:r>
              <a:rPr lang="en-US" sz="1200" dirty="0">
                <a:latin typeface="Consolas" panose="020B0609020204030204" pitchFamily="49" charset="0"/>
              </a:rPr>
              <a:t> ages`, ' ', ''), ',', '.') AS INT64) AS </a:t>
            </a:r>
            <a:r>
              <a:rPr lang="en-US" sz="1200" dirty="0" err="1">
                <a:latin typeface="Consolas" panose="020B0609020204030204" pitchFamily="49" charset="0"/>
              </a:rPr>
              <a:t>ci_upper_all_ages</a:t>
            </a:r>
            <a:r>
              <a:rPr lang="en-US" sz="1200" dirty="0">
                <a:latin typeface="Consolas" panose="020B0609020204030204" pitchFamily="49" charset="0"/>
              </a:rPr>
              <a:t>,</a:t>
            </a:r>
          </a:p>
          <a:p>
            <a:pPr marL="0" indent="0">
              <a:buNone/>
            </a:pPr>
            <a:r>
              <a:rPr lang="en-US" sz="1200" dirty="0">
                <a:latin typeface="Consolas" panose="020B0609020204030204" pitchFamily="49" charset="0"/>
              </a:rPr>
              <a:t>FROM `silver-lead-484519-r7.CovidCases.Poverty and income`;</a:t>
            </a:r>
            <a:endParaRPr lang="cs-CZ" sz="1200" dirty="0">
              <a:latin typeface="Consolas" panose="020B0609020204030204" pitchFamily="49" charset="0"/>
            </a:endParaRPr>
          </a:p>
          <a:p>
            <a:pPr marL="170815" indent="-170815"/>
            <a:endParaRPr lang="cs-CZ" sz="2400" dirty="0"/>
          </a:p>
          <a:p>
            <a:pPr marL="513715" lvl="1" indent="-170815">
              <a:buFont typeface="Courier New" panose="020B0604020202020204" pitchFamily="34" charset="0"/>
              <a:buChar char="o"/>
            </a:pPr>
            <a:endParaRPr lang="cs-CZ" sz="2100" dirty="0"/>
          </a:p>
          <a:p>
            <a:pPr marL="513715" lvl="1" indent="-170815">
              <a:buFont typeface="Courier New" panose="020B0604020202020204" pitchFamily="34" charset="0"/>
              <a:buChar char="o"/>
            </a:pPr>
            <a:endParaRPr lang="cs-CZ" sz="2100" dirty="0"/>
          </a:p>
          <a:p>
            <a:pPr marL="170815" indent="-170815"/>
            <a:endParaRPr lang="cs-CZ" sz="2400" b="1" dirty="0"/>
          </a:p>
          <a:p>
            <a:pPr marL="170815" indent="-170815"/>
            <a:endParaRPr lang="cs-CZ" sz="2400" b="1" dirty="0"/>
          </a:p>
        </p:txBody>
      </p:sp>
    </p:spTree>
    <p:extLst>
      <p:ext uri="{BB962C8B-B14F-4D97-AF65-F5344CB8AC3E}">
        <p14:creationId xmlns:p14="http://schemas.microsoft.com/office/powerpoint/2010/main" val="10008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32C89-78E4-B975-205E-408642CA8E16}"/>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4572737-0D2B-777C-3231-39FC9B83B5CF}"/>
              </a:ext>
            </a:extLst>
          </p:cNvPr>
          <p:cNvSpPr>
            <a:spLocks noGrp="1"/>
          </p:cNvSpPr>
          <p:nvPr>
            <p:ph type="title"/>
          </p:nvPr>
        </p:nvSpPr>
        <p:spPr>
          <a:xfrm>
            <a:off x="581419" y="1100016"/>
            <a:ext cx="7883452" cy="623829"/>
          </a:xfrm>
        </p:spPr>
        <p:txBody>
          <a:bodyPr vert="horz" lIns="91440" tIns="45720" rIns="91440" bIns="45720" rtlCol="0" anchor="t">
            <a:noAutofit/>
          </a:bodyPr>
          <a:lstStyle/>
          <a:p>
            <a:r>
              <a:rPr lang="cs-CZ" sz="2400" dirty="0" err="1">
                <a:latin typeface="Arial"/>
                <a:cs typeface="Arial"/>
              </a:rPr>
              <a:t>Workflow</a:t>
            </a:r>
            <a:r>
              <a:rPr lang="cs-CZ" sz="2400" dirty="0">
                <a:latin typeface="Arial"/>
                <a:cs typeface="Arial"/>
              </a:rPr>
              <a:t> zpracování dat - ETL </a:t>
            </a:r>
            <a:r>
              <a:rPr lang="cs-CZ" sz="2400" dirty="0" err="1">
                <a:latin typeface="Arial"/>
                <a:cs typeface="Arial"/>
              </a:rPr>
              <a:t>Pipeline</a:t>
            </a:r>
            <a:r>
              <a:rPr lang="cs-CZ" sz="2400" dirty="0">
                <a:latin typeface="Arial"/>
                <a:cs typeface="Arial"/>
              </a:rPr>
              <a:t> (detailní kroky)</a:t>
            </a:r>
            <a:endParaRPr lang="cs-CZ" dirty="0"/>
          </a:p>
        </p:txBody>
      </p:sp>
      <p:sp>
        <p:nvSpPr>
          <p:cNvPr id="5" name="Zástupný obsah 2">
            <a:extLst>
              <a:ext uri="{FF2B5EF4-FFF2-40B4-BE49-F238E27FC236}">
                <a16:creationId xmlns:a16="http://schemas.microsoft.com/office/drawing/2014/main" id="{A122E33F-8E18-5BED-8729-08DCC1FA411B}"/>
              </a:ext>
            </a:extLst>
          </p:cNvPr>
          <p:cNvSpPr>
            <a:spLocks noGrp="1"/>
          </p:cNvSpPr>
          <p:nvPr>
            <p:ph idx="1"/>
          </p:nvPr>
        </p:nvSpPr>
        <p:spPr>
          <a:xfrm>
            <a:off x="573011" y="1865538"/>
            <a:ext cx="7882414" cy="4627457"/>
          </a:xfrm>
        </p:spPr>
        <p:txBody>
          <a:bodyPr vert="horz" lIns="91440" tIns="45720" rIns="91440" bIns="45720" rtlCol="0" anchor="t">
            <a:noAutofit/>
          </a:bodyPr>
          <a:lstStyle/>
          <a:p>
            <a:pPr marL="513715" lvl="1" indent="-342900">
              <a:buFont typeface="Courier New" panose="020B0604020202020204" pitchFamily="34" charset="0"/>
              <a:buChar char="o"/>
            </a:pPr>
            <a:r>
              <a:rPr lang="cs-CZ" sz="1500" b="1" dirty="0">
                <a:ea typeface="Verdana"/>
              </a:rPr>
              <a:t>Nastavení </a:t>
            </a:r>
            <a:r>
              <a:rPr lang="cs-CZ" sz="1500" b="1" dirty="0" err="1">
                <a:ea typeface="Verdana"/>
              </a:rPr>
              <a:t>primary</a:t>
            </a:r>
            <a:r>
              <a:rPr lang="cs-CZ" sz="1500" b="1" dirty="0">
                <a:ea typeface="Verdana"/>
              </a:rPr>
              <a:t> </a:t>
            </a:r>
            <a:r>
              <a:rPr lang="cs-CZ" sz="1500" b="1" dirty="0" err="1">
                <a:ea typeface="Verdana"/>
              </a:rPr>
              <a:t>keys</a:t>
            </a:r>
            <a:r>
              <a:rPr lang="cs-CZ" sz="1500" b="1" dirty="0">
                <a:ea typeface="Verdana"/>
              </a:rPr>
              <a:t>:</a:t>
            </a:r>
          </a:p>
          <a:p>
            <a:pPr marL="0" indent="0">
              <a:buNone/>
            </a:pPr>
            <a:r>
              <a:rPr lang="cs-CZ" sz="1200" dirty="0">
                <a:latin typeface="Consolas" panose="020B0609020204030204" pitchFamily="49" charset="0"/>
              </a:rPr>
              <a:t>ALTER TABLE `silver-lead-484519-r7.CovidCases.Poverty_and_income_cleaned`</a:t>
            </a:r>
          </a:p>
          <a:p>
            <a:pPr marL="0" indent="0">
              <a:buNone/>
            </a:pPr>
            <a:r>
              <a:rPr lang="cs-CZ" sz="1200" dirty="0">
                <a:latin typeface="Consolas" panose="020B0609020204030204" pitchFamily="49" charset="0"/>
              </a:rPr>
              <a:t>ADD COLUMN </a:t>
            </a:r>
            <a:r>
              <a:rPr lang="cs-CZ" sz="1200" dirty="0" err="1">
                <a:latin typeface="Consolas" panose="020B0609020204030204" pitchFamily="49" charset="0"/>
              </a:rPr>
              <a:t>fips</a:t>
            </a:r>
            <a:r>
              <a:rPr lang="cs-CZ" sz="1200" dirty="0">
                <a:latin typeface="Consolas" panose="020B0609020204030204" pitchFamily="49" charset="0"/>
              </a:rPr>
              <a:t> STRING;</a:t>
            </a:r>
            <a:br>
              <a:rPr lang="cs-CZ" sz="1200" dirty="0">
                <a:latin typeface="Consolas" panose="020B0609020204030204" pitchFamily="49" charset="0"/>
              </a:rPr>
            </a:br>
            <a:endParaRPr lang="cs-CZ" sz="1200" dirty="0">
              <a:latin typeface="Consolas" panose="020B0609020204030204" pitchFamily="49" charset="0"/>
            </a:endParaRPr>
          </a:p>
          <a:p>
            <a:pPr marL="0" indent="0">
              <a:buNone/>
            </a:pPr>
            <a:r>
              <a:rPr lang="cs-CZ" sz="1200" dirty="0">
                <a:latin typeface="Consolas" panose="020B0609020204030204" pitchFamily="49" charset="0"/>
              </a:rPr>
              <a:t>UPDATE `silver-lead-484519-r7.CovidCases.Poverty_and_income_cleaned`</a:t>
            </a:r>
          </a:p>
          <a:p>
            <a:pPr marL="0" indent="0">
              <a:buNone/>
            </a:pPr>
            <a:r>
              <a:rPr lang="cs-CZ" sz="1200" dirty="0">
                <a:latin typeface="Consolas" panose="020B0609020204030204" pitchFamily="49" charset="0"/>
              </a:rPr>
              <a:t>SET </a:t>
            </a:r>
            <a:r>
              <a:rPr lang="cs-CZ" sz="1200" dirty="0" err="1">
                <a:latin typeface="Consolas" panose="020B0609020204030204" pitchFamily="49" charset="0"/>
              </a:rPr>
              <a:t>fips</a:t>
            </a:r>
            <a:r>
              <a:rPr lang="cs-CZ" sz="1200" dirty="0">
                <a:latin typeface="Consolas" panose="020B0609020204030204" pitchFamily="49" charset="0"/>
              </a:rPr>
              <a:t> = CONCAT(</a:t>
            </a:r>
            <a:r>
              <a:rPr lang="cs-CZ" sz="1200" dirty="0" err="1">
                <a:latin typeface="Consolas" panose="020B0609020204030204" pitchFamily="49" charset="0"/>
              </a:rPr>
              <a:t>State_FIPS_Code</a:t>
            </a:r>
            <a:r>
              <a:rPr lang="cs-CZ" sz="1200" dirty="0">
                <a:latin typeface="Consolas" panose="020B0609020204030204" pitchFamily="49" charset="0"/>
              </a:rPr>
              <a:t>, </a:t>
            </a:r>
            <a:r>
              <a:rPr lang="cs-CZ" sz="1200" dirty="0" err="1">
                <a:latin typeface="Consolas" panose="020B0609020204030204" pitchFamily="49" charset="0"/>
              </a:rPr>
              <a:t>County_FIPS_Code</a:t>
            </a:r>
            <a:r>
              <a:rPr lang="cs-CZ" sz="1200" dirty="0">
                <a:latin typeface="Consolas" panose="020B0609020204030204" pitchFamily="49" charset="0"/>
              </a:rPr>
              <a:t>)</a:t>
            </a:r>
          </a:p>
          <a:p>
            <a:pPr marL="0" indent="0">
              <a:buNone/>
            </a:pPr>
            <a:r>
              <a:rPr lang="cs-CZ" sz="1200" dirty="0">
                <a:latin typeface="Consolas" panose="020B0609020204030204" pitchFamily="49" charset="0"/>
              </a:rPr>
              <a:t>WHERE TRUE;</a:t>
            </a:r>
          </a:p>
          <a:p>
            <a:pPr marL="0" indent="0">
              <a:buNone/>
            </a:pPr>
            <a:endParaRPr lang="cs-CZ" sz="1200" dirty="0">
              <a:latin typeface="Consolas" panose="020B0609020204030204" pitchFamily="49" charset="0"/>
            </a:endParaRPr>
          </a:p>
          <a:p>
            <a:pPr marL="0" indent="0">
              <a:buNone/>
            </a:pPr>
            <a:r>
              <a:rPr lang="cs-CZ" sz="1200" dirty="0">
                <a:latin typeface="Consolas" panose="020B0609020204030204" pitchFamily="49" charset="0"/>
              </a:rPr>
              <a:t>ALTER TABLE `silver-lead-484519-r7.CovidCases.Poverty_and_income_cleaned`</a:t>
            </a:r>
          </a:p>
          <a:p>
            <a:pPr marL="0" indent="0">
              <a:buNone/>
            </a:pPr>
            <a:r>
              <a:rPr lang="cs-CZ" sz="1200" dirty="0">
                <a:latin typeface="Consolas" panose="020B0609020204030204" pitchFamily="49" charset="0"/>
              </a:rPr>
              <a:t>ADD PRIMARY KEY (</a:t>
            </a:r>
            <a:r>
              <a:rPr lang="cs-CZ" sz="1200" dirty="0" err="1">
                <a:latin typeface="Consolas" panose="020B0609020204030204" pitchFamily="49" charset="0"/>
              </a:rPr>
              <a:t>fips</a:t>
            </a:r>
            <a:r>
              <a:rPr lang="cs-CZ" sz="1200" dirty="0">
                <a:latin typeface="Consolas" panose="020B0609020204030204" pitchFamily="49" charset="0"/>
              </a:rPr>
              <a:t>) NOT ENFORCED;</a:t>
            </a:r>
          </a:p>
          <a:p>
            <a:pPr marL="0" indent="0">
              <a:buNone/>
            </a:pPr>
            <a:endParaRPr lang="cs-CZ" sz="1200" dirty="0">
              <a:latin typeface="Consolas" panose="020B0609020204030204" pitchFamily="49" charset="0"/>
            </a:endParaRPr>
          </a:p>
          <a:p>
            <a:pPr marL="0" indent="0">
              <a:buNone/>
            </a:pPr>
            <a:r>
              <a:rPr lang="cs-CZ" sz="1200" dirty="0">
                <a:latin typeface="Consolas" panose="020B0609020204030204" pitchFamily="49" charset="0"/>
              </a:rPr>
              <a:t>ALTER TABLE `silver-lead-484519-r7.CovidCases.Covid_cases_cleaned`</a:t>
            </a:r>
          </a:p>
          <a:p>
            <a:pPr marL="0" indent="0">
              <a:buNone/>
            </a:pPr>
            <a:r>
              <a:rPr lang="cs-CZ" sz="1200" dirty="0">
                <a:latin typeface="Consolas" panose="020B0609020204030204" pitchFamily="49" charset="0"/>
              </a:rPr>
              <a:t>ADD PRIMARY KEY (</a:t>
            </a:r>
            <a:r>
              <a:rPr lang="cs-CZ" sz="1200" dirty="0" err="1">
                <a:latin typeface="Consolas" panose="020B0609020204030204" pitchFamily="49" charset="0"/>
              </a:rPr>
              <a:t>fips</a:t>
            </a:r>
            <a:r>
              <a:rPr lang="cs-CZ" sz="1200" dirty="0">
                <a:latin typeface="Consolas" panose="020B0609020204030204" pitchFamily="49" charset="0"/>
              </a:rPr>
              <a:t>, </a:t>
            </a:r>
            <a:r>
              <a:rPr lang="cs-CZ" sz="1200" dirty="0" err="1">
                <a:latin typeface="Consolas" panose="020B0609020204030204" pitchFamily="49" charset="0"/>
              </a:rPr>
              <a:t>date</a:t>
            </a:r>
            <a:r>
              <a:rPr lang="cs-CZ" sz="1200" dirty="0">
                <a:latin typeface="Consolas" panose="020B0609020204030204" pitchFamily="49" charset="0"/>
              </a:rPr>
              <a:t>) NOT ENFORCED;</a:t>
            </a:r>
          </a:p>
          <a:p>
            <a:pPr marL="0" indent="0">
              <a:buNone/>
            </a:pPr>
            <a:endParaRPr lang="cs-CZ" sz="1200" dirty="0">
              <a:latin typeface="Consolas" panose="020B0609020204030204" pitchFamily="49" charset="0"/>
            </a:endParaRPr>
          </a:p>
          <a:p>
            <a:pPr marL="0" indent="0">
              <a:buNone/>
            </a:pPr>
            <a:r>
              <a:rPr lang="cs-CZ" sz="1200" dirty="0">
                <a:latin typeface="Consolas" panose="020B0609020204030204" pitchFamily="49" charset="0"/>
              </a:rPr>
              <a:t>ALTER TABLE `silver-lead-484519-r7.CovidCases.Population_cleaned`</a:t>
            </a:r>
          </a:p>
          <a:p>
            <a:pPr marL="0" indent="0">
              <a:buNone/>
            </a:pPr>
            <a:r>
              <a:rPr lang="cs-CZ" sz="1200" dirty="0">
                <a:latin typeface="Consolas" panose="020B0609020204030204" pitchFamily="49" charset="0"/>
              </a:rPr>
              <a:t>ADD PRIMARY KEY (</a:t>
            </a:r>
            <a:r>
              <a:rPr lang="cs-CZ" sz="1200" dirty="0" err="1">
                <a:latin typeface="Consolas" panose="020B0609020204030204" pitchFamily="49" charset="0"/>
              </a:rPr>
              <a:t>fips</a:t>
            </a:r>
            <a:r>
              <a:rPr lang="cs-CZ" sz="1200" dirty="0">
                <a:latin typeface="Consolas" panose="020B0609020204030204" pitchFamily="49" charset="0"/>
              </a:rPr>
              <a:t>, </a:t>
            </a:r>
            <a:r>
              <a:rPr lang="cs-CZ" sz="1200" dirty="0" err="1">
                <a:latin typeface="Consolas" panose="020B0609020204030204" pitchFamily="49" charset="0"/>
              </a:rPr>
              <a:t>estimate_date</a:t>
            </a:r>
            <a:r>
              <a:rPr lang="cs-CZ" sz="1200" dirty="0">
                <a:latin typeface="Consolas" panose="020B0609020204030204" pitchFamily="49" charset="0"/>
              </a:rPr>
              <a:t>, </a:t>
            </a:r>
            <a:r>
              <a:rPr lang="cs-CZ" sz="1200" dirty="0" err="1">
                <a:latin typeface="Consolas" panose="020B0609020204030204" pitchFamily="49" charset="0"/>
              </a:rPr>
              <a:t>age_group</a:t>
            </a:r>
            <a:r>
              <a:rPr lang="cs-CZ" sz="1200" dirty="0">
                <a:latin typeface="Consolas" panose="020B0609020204030204" pitchFamily="49" charset="0"/>
              </a:rPr>
              <a:t>) NOT ENFORCED;</a:t>
            </a:r>
          </a:p>
          <a:p>
            <a:pPr marL="0" indent="0">
              <a:buNone/>
            </a:pPr>
            <a:br>
              <a:rPr lang="cs-CZ" sz="1200" dirty="0">
                <a:latin typeface="Consolas" panose="020B0609020204030204" pitchFamily="49" charset="0"/>
              </a:rPr>
            </a:br>
            <a:endParaRPr lang="cs-CZ" sz="1200" dirty="0">
              <a:latin typeface="Consolas" panose="020B0609020204030204" pitchFamily="49" charset="0"/>
            </a:endParaRPr>
          </a:p>
          <a:p>
            <a:pPr marL="513715" lvl="1" indent="-342900">
              <a:buFont typeface="Courier New" panose="020B0604020202020204" pitchFamily="34" charset="0"/>
              <a:buChar char="o"/>
            </a:pPr>
            <a:endParaRPr lang="cs-CZ" sz="1200" b="1" dirty="0">
              <a:latin typeface="Consolas" panose="020B0609020204030204" pitchFamily="49" charset="0"/>
              <a:ea typeface="Verdana"/>
            </a:endParaRPr>
          </a:p>
          <a:p>
            <a:pPr marL="170815" indent="-170815"/>
            <a:endParaRPr lang="cs-CZ" sz="1200" dirty="0">
              <a:latin typeface="Consolas" panose="020B0609020204030204" pitchFamily="49" charset="0"/>
              <a:ea typeface="Verdana"/>
            </a:endParaRPr>
          </a:p>
          <a:p>
            <a:pPr marL="170815" indent="-170815">
              <a:buNone/>
            </a:pPr>
            <a:endParaRPr lang="cs-CZ" sz="1200" dirty="0">
              <a:latin typeface="Consolas" panose="020B0609020204030204" pitchFamily="49" charset="0"/>
              <a:ea typeface="Verdana"/>
            </a:endParaRPr>
          </a:p>
          <a:p>
            <a:pPr marL="0" indent="0">
              <a:buNone/>
            </a:pPr>
            <a:endParaRPr lang="cs-CZ" sz="1200" dirty="0">
              <a:latin typeface="Consolas" panose="020B0609020204030204" pitchFamily="49" charset="0"/>
            </a:endParaRPr>
          </a:p>
          <a:p>
            <a:pPr marL="170815" indent="-170815"/>
            <a:endParaRPr lang="cs-CZ" sz="1200" dirty="0">
              <a:latin typeface="Consolas" panose="020B0609020204030204" pitchFamily="49" charset="0"/>
            </a:endParaRPr>
          </a:p>
          <a:p>
            <a:pPr marL="513715" lvl="1" indent="-170815">
              <a:buFont typeface="Courier New" panose="020B0604020202020204" pitchFamily="34" charset="0"/>
              <a:buChar char="o"/>
            </a:pPr>
            <a:endParaRPr lang="cs-CZ" sz="1200" dirty="0">
              <a:latin typeface="Consolas" panose="020B0609020204030204" pitchFamily="49" charset="0"/>
            </a:endParaRPr>
          </a:p>
          <a:p>
            <a:pPr marL="513715" lvl="1" indent="-170815">
              <a:buFont typeface="Courier New" panose="020B0604020202020204" pitchFamily="34" charset="0"/>
              <a:buChar char="o"/>
            </a:pPr>
            <a:endParaRPr lang="cs-CZ" sz="1200" dirty="0">
              <a:latin typeface="Consolas" panose="020B0609020204030204" pitchFamily="49" charset="0"/>
            </a:endParaRPr>
          </a:p>
          <a:p>
            <a:pPr marL="170815" indent="-170815"/>
            <a:endParaRPr lang="cs-CZ" sz="1200" b="1" dirty="0">
              <a:latin typeface="Consolas" panose="020B0609020204030204" pitchFamily="49" charset="0"/>
            </a:endParaRPr>
          </a:p>
          <a:p>
            <a:pPr marL="170815" indent="-170815"/>
            <a:endParaRPr lang="cs-CZ" sz="2400" b="1" dirty="0"/>
          </a:p>
        </p:txBody>
      </p:sp>
    </p:spTree>
    <p:extLst>
      <p:ext uri="{BB962C8B-B14F-4D97-AF65-F5344CB8AC3E}">
        <p14:creationId xmlns:p14="http://schemas.microsoft.com/office/powerpoint/2010/main" val="427124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EDCC6-5036-DBEE-C08C-2F3F36D305F1}"/>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271B9445-137E-1896-E8CF-CB48839F8249}"/>
              </a:ext>
            </a:extLst>
          </p:cNvPr>
          <p:cNvSpPr>
            <a:spLocks noGrp="1"/>
          </p:cNvSpPr>
          <p:nvPr>
            <p:ph type="title"/>
          </p:nvPr>
        </p:nvSpPr>
        <p:spPr/>
        <p:txBody>
          <a:bodyPr>
            <a:normAutofit/>
          </a:bodyPr>
          <a:lstStyle/>
          <a:p>
            <a:r>
              <a:rPr lang="cs-CZ" dirty="0">
                <a:latin typeface="Arial"/>
                <a:cs typeface="Arial"/>
              </a:rPr>
              <a:t>Souhrn SQL transformací v </a:t>
            </a:r>
            <a:r>
              <a:rPr lang="cs-CZ" dirty="0" err="1">
                <a:latin typeface="Arial"/>
                <a:cs typeface="Arial"/>
              </a:rPr>
              <a:t>BigQuery</a:t>
            </a:r>
            <a:endParaRPr lang="cs-CZ" dirty="0" err="1"/>
          </a:p>
        </p:txBody>
      </p:sp>
      <p:sp>
        <p:nvSpPr>
          <p:cNvPr id="5" name="Zástupný obsah 2">
            <a:extLst>
              <a:ext uri="{FF2B5EF4-FFF2-40B4-BE49-F238E27FC236}">
                <a16:creationId xmlns:a16="http://schemas.microsoft.com/office/drawing/2014/main" id="{64A589A3-7E47-BA4C-CE7F-290C539CA682}"/>
              </a:ext>
            </a:extLst>
          </p:cNvPr>
          <p:cNvSpPr>
            <a:spLocks noGrp="1"/>
          </p:cNvSpPr>
          <p:nvPr>
            <p:ph idx="1"/>
          </p:nvPr>
        </p:nvSpPr>
        <p:spPr>
          <a:xfrm>
            <a:off x="525780" y="1789968"/>
            <a:ext cx="7882414" cy="4627457"/>
          </a:xfrm>
        </p:spPr>
        <p:txBody>
          <a:bodyPr vert="horz" lIns="91440" tIns="45720" rIns="91440" bIns="45720" rtlCol="0" anchor="t">
            <a:noAutofit/>
          </a:bodyPr>
          <a:lstStyle/>
          <a:p>
            <a:pPr marL="170815" indent="-170815"/>
            <a:r>
              <a:rPr lang="cs-CZ" sz="1600" b="1" dirty="0">
                <a:latin typeface="Arial"/>
                <a:cs typeface="Arial"/>
              </a:rPr>
              <a:t>Fáze 1: </a:t>
            </a:r>
            <a:r>
              <a:rPr lang="cs-CZ" sz="1600" b="1" dirty="0" err="1">
                <a:latin typeface="Arial"/>
                <a:cs typeface="Arial"/>
              </a:rPr>
              <a:t>Cleaning</a:t>
            </a:r>
            <a:r>
              <a:rPr lang="cs-CZ" sz="1600" b="1" dirty="0">
                <a:latin typeface="Arial"/>
                <a:cs typeface="Arial"/>
              </a:rPr>
              <a:t> (3 dotazy)</a:t>
            </a:r>
          </a:p>
          <a:p>
            <a:pPr marL="513715" lvl="1" indent="-170815">
              <a:buFont typeface="Courier New" panose="020B0604020202020204" pitchFamily="34" charset="0"/>
              <a:buChar char="o"/>
            </a:pPr>
            <a:r>
              <a:rPr lang="cs-CZ" sz="1600" dirty="0">
                <a:latin typeface="Arial"/>
                <a:cs typeface="Arial"/>
              </a:rPr>
              <a:t>1. covid data</a:t>
            </a:r>
          </a:p>
          <a:p>
            <a:pPr marL="513715" lvl="1" indent="-170815">
              <a:buFont typeface="Courier New" panose="020B0604020202020204" pitchFamily="34" charset="0"/>
              <a:buChar char="o"/>
            </a:pPr>
            <a:r>
              <a:rPr lang="cs-CZ" sz="1600" dirty="0">
                <a:latin typeface="Arial"/>
                <a:cs typeface="Arial"/>
              </a:rPr>
              <a:t>2. </a:t>
            </a:r>
            <a:r>
              <a:rPr lang="cs-CZ" sz="1600" dirty="0" err="1">
                <a:latin typeface="Arial"/>
                <a:cs typeface="Arial"/>
              </a:rPr>
              <a:t>population</a:t>
            </a:r>
            <a:endParaRPr lang="cs-CZ" sz="1600" dirty="0">
              <a:latin typeface="Arial"/>
              <a:cs typeface="Arial"/>
            </a:endParaRPr>
          </a:p>
          <a:p>
            <a:pPr marL="513715" lvl="1" indent="-170815">
              <a:buFont typeface="Courier New" panose="020B0604020202020204" pitchFamily="34" charset="0"/>
              <a:buChar char="o"/>
            </a:pPr>
            <a:r>
              <a:rPr lang="cs-CZ" sz="1600" dirty="0">
                <a:latin typeface="Arial"/>
                <a:cs typeface="Arial"/>
              </a:rPr>
              <a:t>3. </a:t>
            </a:r>
            <a:r>
              <a:rPr lang="cs-CZ" sz="1600" dirty="0" err="1">
                <a:latin typeface="Arial"/>
                <a:cs typeface="Arial"/>
              </a:rPr>
              <a:t>Poverty</a:t>
            </a:r>
            <a:r>
              <a:rPr lang="cs-CZ" sz="1600" dirty="0">
                <a:latin typeface="Arial"/>
                <a:cs typeface="Arial"/>
              </a:rPr>
              <a:t> and </a:t>
            </a:r>
            <a:r>
              <a:rPr lang="cs-CZ" sz="1600" dirty="0" err="1">
                <a:latin typeface="Arial"/>
                <a:cs typeface="Arial"/>
              </a:rPr>
              <a:t>income</a:t>
            </a:r>
            <a:endParaRPr lang="cs-CZ" sz="1600" dirty="0">
              <a:latin typeface="Arial"/>
              <a:cs typeface="Arial"/>
            </a:endParaRPr>
          </a:p>
          <a:p>
            <a:pPr marL="170815" indent="-170815"/>
            <a:r>
              <a:rPr lang="cs-CZ" sz="1600" b="1" dirty="0">
                <a:latin typeface="Arial"/>
                <a:cs typeface="Arial"/>
              </a:rPr>
              <a:t>Fáze 2: Nastavení </a:t>
            </a:r>
            <a:r>
              <a:rPr lang="cs-CZ" sz="1600" b="1" dirty="0" err="1">
                <a:latin typeface="Arial"/>
                <a:cs typeface="Arial"/>
              </a:rPr>
              <a:t>primary</a:t>
            </a:r>
            <a:r>
              <a:rPr lang="cs-CZ" sz="1600" b="1" dirty="0">
                <a:latin typeface="Arial"/>
                <a:cs typeface="Arial"/>
              </a:rPr>
              <a:t> </a:t>
            </a:r>
            <a:r>
              <a:rPr lang="cs-CZ" sz="1600" b="1" dirty="0" err="1">
                <a:latin typeface="Arial"/>
                <a:cs typeface="Arial"/>
              </a:rPr>
              <a:t>keys</a:t>
            </a:r>
            <a:endParaRPr lang="cs-CZ" sz="1600" b="1" dirty="0">
              <a:latin typeface="Arial"/>
              <a:cs typeface="Arial"/>
            </a:endParaRPr>
          </a:p>
          <a:p>
            <a:pPr marL="170815" indent="-170815"/>
            <a:r>
              <a:rPr lang="cs-CZ" sz="1600" b="1" dirty="0">
                <a:latin typeface="Arial"/>
                <a:cs typeface="Arial"/>
              </a:rPr>
              <a:t>Fáze 3: </a:t>
            </a:r>
            <a:r>
              <a:rPr lang="cs-CZ" sz="1600" b="1" dirty="0" err="1">
                <a:latin typeface="Arial"/>
                <a:cs typeface="Arial"/>
              </a:rPr>
              <a:t>Merge</a:t>
            </a:r>
            <a:r>
              <a:rPr lang="cs-CZ" sz="1600" b="1" dirty="0">
                <a:latin typeface="Arial"/>
                <a:cs typeface="Arial"/>
              </a:rPr>
              <a:t> všech tabulek do jedné pro </a:t>
            </a:r>
            <a:r>
              <a:rPr lang="cs-CZ" sz="1600" b="1" dirty="0" err="1">
                <a:latin typeface="Arial"/>
                <a:cs typeface="Arial"/>
              </a:rPr>
              <a:t>cleverminer</a:t>
            </a:r>
            <a:r>
              <a:rPr lang="cs-CZ" sz="1600" b="1" dirty="0">
                <a:latin typeface="Arial"/>
                <a:cs typeface="Arial"/>
              </a:rPr>
              <a:t> (</a:t>
            </a:r>
            <a:r>
              <a:rPr lang="cs-CZ" sz="1600" b="1" dirty="0" err="1">
                <a:latin typeface="Arial"/>
                <a:cs typeface="Arial"/>
              </a:rPr>
              <a:t>kod</a:t>
            </a:r>
            <a:r>
              <a:rPr lang="cs-CZ" sz="1600" b="1" dirty="0">
                <a:latin typeface="Arial"/>
                <a:cs typeface="Arial"/>
              </a:rPr>
              <a:t> je v příloze)</a:t>
            </a:r>
            <a:endParaRPr lang="en-US" sz="1600" dirty="0">
              <a:latin typeface="Arial"/>
              <a:cs typeface="Arial"/>
            </a:endParaRPr>
          </a:p>
          <a:p>
            <a:pPr marL="513715" lvl="1" indent="-170815">
              <a:buFont typeface="Courier New,monospace" panose="020B0604020202020204" pitchFamily="34" charset="0"/>
              <a:buChar char="o"/>
            </a:pPr>
            <a:r>
              <a:rPr lang="cs-CZ" sz="1600" b="1" dirty="0" err="1">
                <a:latin typeface="Arial"/>
                <a:cs typeface="Arial"/>
              </a:rPr>
              <a:t>joiny</a:t>
            </a:r>
            <a:r>
              <a:rPr lang="cs-CZ" sz="1600" b="1" dirty="0">
                <a:latin typeface="Arial"/>
                <a:cs typeface="Arial"/>
              </a:rPr>
              <a:t>:</a:t>
            </a:r>
          </a:p>
          <a:p>
            <a:pPr marL="513715" lvl="1" indent="-170815">
              <a:buFont typeface="Courier New,monospace" panose="020B0604020202020204" pitchFamily="34" charset="0"/>
              <a:buChar char="o"/>
            </a:pPr>
            <a:r>
              <a:rPr lang="en-US" sz="1600" dirty="0">
                <a:latin typeface="Arial"/>
                <a:cs typeface="Arial"/>
              </a:rPr>
              <a:t>LEFT JOIN `silver-lead-484519-r7.CovidCases.Poverty_and_income_cleaned` p</a:t>
            </a:r>
            <a:r>
              <a:rPr lang="cs-CZ" sz="1600" dirty="0">
                <a:latin typeface="Arial"/>
                <a:cs typeface="Arial"/>
              </a:rPr>
              <a:t> </a:t>
            </a:r>
            <a:r>
              <a:rPr lang="en-US" sz="1600" dirty="0">
                <a:latin typeface="Arial"/>
                <a:cs typeface="Arial"/>
              </a:rPr>
              <a:t>ON </a:t>
            </a:r>
            <a:r>
              <a:rPr lang="en-US" sz="1600" dirty="0" err="1">
                <a:latin typeface="Arial"/>
                <a:cs typeface="Arial"/>
              </a:rPr>
              <a:t>p.fips</a:t>
            </a:r>
            <a:r>
              <a:rPr lang="en-US" sz="1600" dirty="0">
                <a:latin typeface="Arial"/>
                <a:cs typeface="Arial"/>
              </a:rPr>
              <a:t> = </a:t>
            </a:r>
            <a:r>
              <a:rPr lang="en-US" sz="1600" dirty="0" err="1">
                <a:latin typeface="Arial"/>
                <a:cs typeface="Arial"/>
              </a:rPr>
              <a:t>c.fips</a:t>
            </a:r>
            <a:endParaRPr lang="cs-CZ" sz="1600" dirty="0">
              <a:latin typeface="Arial"/>
              <a:cs typeface="Arial"/>
            </a:endParaRPr>
          </a:p>
          <a:p>
            <a:pPr marL="513715" lvl="1" indent="-170815">
              <a:buFont typeface="Courier New,monospace" panose="020B0604020202020204" pitchFamily="34" charset="0"/>
              <a:buChar char="o"/>
            </a:pPr>
            <a:r>
              <a:rPr lang="en-US" sz="1600" dirty="0">
                <a:latin typeface="Arial"/>
                <a:cs typeface="Arial"/>
              </a:rPr>
              <a:t>LEFT JOIN `silver-lead-484519-r7.CovidCases.Population_cleaned` pop</a:t>
            </a:r>
          </a:p>
          <a:p>
            <a:pPr marL="513715" lvl="1" indent="-170815">
              <a:buFont typeface="Courier New,monospace" panose="020B0604020202020204" pitchFamily="34" charset="0"/>
              <a:buChar char="o"/>
            </a:pPr>
            <a:r>
              <a:rPr lang="en-US" sz="1600" dirty="0">
                <a:latin typeface="Arial"/>
                <a:cs typeface="Arial"/>
              </a:rPr>
              <a:t>  ON </a:t>
            </a:r>
            <a:r>
              <a:rPr lang="en-US" sz="1600" dirty="0" err="1">
                <a:latin typeface="Arial"/>
                <a:cs typeface="Arial"/>
              </a:rPr>
              <a:t>pop.fips</a:t>
            </a:r>
            <a:r>
              <a:rPr lang="en-US" sz="1600" dirty="0">
                <a:latin typeface="Arial"/>
                <a:cs typeface="Arial"/>
              </a:rPr>
              <a:t> = </a:t>
            </a:r>
            <a:r>
              <a:rPr lang="en-US" sz="1600" dirty="0" err="1">
                <a:latin typeface="Arial"/>
                <a:cs typeface="Arial"/>
              </a:rPr>
              <a:t>c.fips</a:t>
            </a:r>
            <a:endParaRPr lang="cs-CZ" sz="1600" dirty="0">
              <a:latin typeface="Arial"/>
              <a:cs typeface="Arial"/>
            </a:endParaRPr>
          </a:p>
          <a:p>
            <a:pPr marL="170815" indent="-170815"/>
            <a:r>
              <a:rPr lang="cs-CZ" sz="1600" b="1" dirty="0">
                <a:latin typeface="Arial"/>
                <a:cs typeface="Arial"/>
              </a:rPr>
              <a:t>Fáze 4: Export </a:t>
            </a:r>
            <a:r>
              <a:rPr lang="cs-CZ" sz="1600" b="1" dirty="0" err="1">
                <a:latin typeface="Arial"/>
                <a:cs typeface="Arial"/>
              </a:rPr>
              <a:t>merged</a:t>
            </a:r>
            <a:r>
              <a:rPr lang="cs-CZ" sz="1600" b="1" dirty="0">
                <a:latin typeface="Arial"/>
                <a:cs typeface="Arial"/>
              </a:rPr>
              <a:t> dat pro </a:t>
            </a:r>
            <a:r>
              <a:rPr lang="cs-CZ" sz="1600" b="1" dirty="0" err="1">
                <a:latin typeface="Arial"/>
                <a:cs typeface="Arial"/>
              </a:rPr>
              <a:t>Cleverminer</a:t>
            </a:r>
            <a:r>
              <a:rPr lang="cs-CZ" sz="1600" b="1" dirty="0">
                <a:latin typeface="Arial"/>
                <a:cs typeface="Arial"/>
              </a:rPr>
              <a:t> + propojení </a:t>
            </a:r>
            <a:r>
              <a:rPr lang="cs-CZ" sz="1600" b="1" dirty="0" err="1">
                <a:latin typeface="Arial"/>
                <a:cs typeface="Arial"/>
              </a:rPr>
              <a:t>BigQuery</a:t>
            </a:r>
            <a:r>
              <a:rPr lang="cs-CZ" sz="1600" b="1" dirty="0">
                <a:latin typeface="Arial"/>
                <a:cs typeface="Arial"/>
              </a:rPr>
              <a:t> s </a:t>
            </a:r>
            <a:r>
              <a:rPr lang="cs-CZ" sz="1600" b="1" dirty="0" err="1">
                <a:latin typeface="Arial"/>
                <a:cs typeface="Arial"/>
              </a:rPr>
              <a:t>PowerBI</a:t>
            </a:r>
            <a:r>
              <a:rPr lang="cs-CZ" sz="1600" b="1" dirty="0">
                <a:latin typeface="Arial"/>
                <a:cs typeface="Arial"/>
              </a:rPr>
              <a:t> přes </a:t>
            </a:r>
            <a:r>
              <a:rPr lang="cs-CZ" sz="1600" b="1" dirty="0" err="1">
                <a:latin typeface="Arial"/>
                <a:cs typeface="Arial"/>
              </a:rPr>
              <a:t>buckety</a:t>
            </a:r>
            <a:endParaRPr lang="cs-CZ" sz="1600" dirty="0">
              <a:latin typeface="Arial"/>
              <a:cs typeface="Arial"/>
            </a:endParaRPr>
          </a:p>
          <a:p>
            <a:pPr marL="342900" lvl="1" indent="0">
              <a:buNone/>
            </a:pPr>
            <a:endParaRPr lang="cs-CZ" sz="1500" b="1" dirty="0"/>
          </a:p>
          <a:p>
            <a:pPr marL="170815" indent="-170815"/>
            <a:endParaRPr lang="cs-CZ" sz="2000" dirty="0"/>
          </a:p>
          <a:p>
            <a:pPr marL="170815" indent="-170815"/>
            <a:endParaRPr lang="cs-CZ" sz="2400" dirty="0"/>
          </a:p>
          <a:p>
            <a:pPr marL="513715" lvl="1" indent="-170815">
              <a:buFont typeface="Courier New" panose="020B0604020202020204" pitchFamily="34" charset="0"/>
              <a:buChar char="o"/>
            </a:pPr>
            <a:endParaRPr lang="cs-CZ" sz="2100" dirty="0"/>
          </a:p>
          <a:p>
            <a:pPr marL="513715" lvl="1" indent="-170815">
              <a:buFont typeface="Courier New" panose="020B0604020202020204" pitchFamily="34" charset="0"/>
              <a:buChar char="o"/>
            </a:pPr>
            <a:endParaRPr lang="cs-CZ" sz="2100" dirty="0"/>
          </a:p>
          <a:p>
            <a:pPr marL="170815" indent="-170815"/>
            <a:endParaRPr lang="cs-CZ" sz="2400" b="1" dirty="0"/>
          </a:p>
          <a:p>
            <a:pPr marL="170815" indent="-170815"/>
            <a:endParaRPr lang="cs-CZ" sz="2400" b="1" dirty="0"/>
          </a:p>
        </p:txBody>
      </p:sp>
    </p:spTree>
    <p:extLst>
      <p:ext uri="{BB962C8B-B14F-4D97-AF65-F5344CB8AC3E}">
        <p14:creationId xmlns:p14="http://schemas.microsoft.com/office/powerpoint/2010/main" val="1470217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F5E62-87A9-DFE4-A9A1-7DE40C3C0668}"/>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96CDE399-8592-BD80-94F3-1F5B4ABADAC5}"/>
              </a:ext>
            </a:extLst>
          </p:cNvPr>
          <p:cNvSpPr>
            <a:spLocks noGrp="1"/>
          </p:cNvSpPr>
          <p:nvPr>
            <p:ph type="title"/>
          </p:nvPr>
        </p:nvSpPr>
        <p:spPr>
          <a:xfrm>
            <a:off x="485134" y="679720"/>
            <a:ext cx="7779544" cy="689952"/>
          </a:xfrm>
        </p:spPr>
        <p:txBody>
          <a:bodyPr>
            <a:normAutofit/>
          </a:bodyPr>
          <a:lstStyle/>
          <a:p>
            <a:r>
              <a:rPr lang="cs-CZ" dirty="0">
                <a:latin typeface="Arial"/>
                <a:cs typeface="Arial"/>
              </a:rPr>
              <a:t>Grafický návrh </a:t>
            </a:r>
            <a:r>
              <a:rPr lang="cs-CZ" dirty="0" err="1">
                <a:latin typeface="Arial"/>
                <a:cs typeface="Arial"/>
              </a:rPr>
              <a:t>PowerBI</a:t>
            </a:r>
            <a:r>
              <a:rPr lang="cs-CZ" dirty="0">
                <a:latin typeface="Arial"/>
                <a:cs typeface="Arial"/>
              </a:rPr>
              <a:t> reportu</a:t>
            </a:r>
            <a:endParaRPr lang="cs-CZ" dirty="0"/>
          </a:p>
        </p:txBody>
      </p:sp>
      <p:graphicFrame>
        <p:nvGraphicFramePr>
          <p:cNvPr id="7" name="Zástupný obsah 6">
            <a:extLst>
              <a:ext uri="{FF2B5EF4-FFF2-40B4-BE49-F238E27FC236}">
                <a16:creationId xmlns:a16="http://schemas.microsoft.com/office/drawing/2014/main" id="{56BC519D-5A7C-3D5E-E006-E1156D35BB62}"/>
              </a:ext>
            </a:extLst>
          </p:cNvPr>
          <p:cNvGraphicFramePr>
            <a:graphicFrameLocks noGrp="1"/>
          </p:cNvGraphicFramePr>
          <p:nvPr>
            <p:ph idx="1"/>
            <p:extLst>
              <p:ext uri="{D42A27DB-BD31-4B8C-83A1-F6EECF244321}">
                <p14:modId xmlns:p14="http://schemas.microsoft.com/office/powerpoint/2010/main" val="633552049"/>
              </p:ext>
            </p:extLst>
          </p:nvPr>
        </p:nvGraphicFramePr>
        <p:xfrm>
          <a:off x="3332" y="1114211"/>
          <a:ext cx="9189764" cy="5062591"/>
        </p:xfrm>
        <a:graphic>
          <a:graphicData uri="http://schemas.openxmlformats.org/drawingml/2006/table">
            <a:tbl>
              <a:tblPr bandRow="1">
                <a:tableStyleId>{5C22544A-7EE6-4342-B048-85BDC9FD1C3A}</a:tableStyleId>
              </a:tblPr>
              <a:tblGrid>
                <a:gridCol w="2297441">
                  <a:extLst>
                    <a:ext uri="{9D8B030D-6E8A-4147-A177-3AD203B41FA5}">
                      <a16:colId xmlns:a16="http://schemas.microsoft.com/office/drawing/2014/main" val="4064058523"/>
                    </a:ext>
                  </a:extLst>
                </a:gridCol>
                <a:gridCol w="2297441">
                  <a:extLst>
                    <a:ext uri="{9D8B030D-6E8A-4147-A177-3AD203B41FA5}">
                      <a16:colId xmlns:a16="http://schemas.microsoft.com/office/drawing/2014/main" val="2150023701"/>
                    </a:ext>
                  </a:extLst>
                </a:gridCol>
                <a:gridCol w="2297441">
                  <a:extLst>
                    <a:ext uri="{9D8B030D-6E8A-4147-A177-3AD203B41FA5}">
                      <a16:colId xmlns:a16="http://schemas.microsoft.com/office/drawing/2014/main" val="437868331"/>
                    </a:ext>
                  </a:extLst>
                </a:gridCol>
                <a:gridCol w="2297441">
                  <a:extLst>
                    <a:ext uri="{9D8B030D-6E8A-4147-A177-3AD203B41FA5}">
                      <a16:colId xmlns:a16="http://schemas.microsoft.com/office/drawing/2014/main" val="1530966005"/>
                    </a:ext>
                  </a:extLst>
                </a:gridCol>
              </a:tblGrid>
              <a:tr h="438909">
                <a:tc>
                  <a:txBody>
                    <a:bodyPr/>
                    <a:lstStyle/>
                    <a:p>
                      <a:pPr algn="l">
                        <a:buNone/>
                      </a:pPr>
                      <a:r>
                        <a:rPr lang="cs-CZ" b="1" dirty="0">
                          <a:solidFill>
                            <a:srgbClr val="FFFFFF"/>
                          </a:solidFill>
                          <a:effectLst/>
                        </a:rPr>
                        <a:t>Report</a:t>
                      </a:r>
                    </a:p>
                  </a:txBody>
                  <a:tcPr marL="114300" marR="114300" marT="114300" marB="114300" anchor="ctr">
                    <a:lnL>
                      <a:noFill/>
                    </a:lnL>
                    <a:lnR>
                      <a:noFill/>
                    </a:lnR>
                    <a:lnT>
                      <a:noFill/>
                    </a:lnT>
                    <a:lnB>
                      <a:noFill/>
                    </a:lnB>
                    <a:solidFill>
                      <a:srgbClr val="0078D4"/>
                    </a:solidFill>
                  </a:tcPr>
                </a:tc>
                <a:tc>
                  <a:txBody>
                    <a:bodyPr/>
                    <a:lstStyle/>
                    <a:p>
                      <a:pPr algn="l">
                        <a:buNone/>
                      </a:pPr>
                      <a:r>
                        <a:rPr lang="cs-CZ" b="1" dirty="0">
                          <a:solidFill>
                            <a:srgbClr val="FFFFFF"/>
                          </a:solidFill>
                          <a:effectLst/>
                        </a:rPr>
                        <a:t>Účel</a:t>
                      </a:r>
                    </a:p>
                  </a:txBody>
                  <a:tcPr marL="114300" marR="114300" marT="114300" marB="114300" anchor="ctr">
                    <a:lnL>
                      <a:noFill/>
                    </a:lnL>
                    <a:lnR>
                      <a:noFill/>
                    </a:lnR>
                    <a:lnT>
                      <a:noFill/>
                    </a:lnT>
                    <a:lnB>
                      <a:noFill/>
                    </a:lnB>
                    <a:solidFill>
                      <a:srgbClr val="0078D4"/>
                    </a:solidFill>
                  </a:tcPr>
                </a:tc>
                <a:tc>
                  <a:txBody>
                    <a:bodyPr/>
                    <a:lstStyle/>
                    <a:p>
                      <a:pPr algn="l">
                        <a:buNone/>
                      </a:pPr>
                      <a:r>
                        <a:rPr lang="cs-CZ" b="1" dirty="0">
                          <a:solidFill>
                            <a:srgbClr val="FFFFFF"/>
                          </a:solidFill>
                          <a:effectLst/>
                        </a:rPr>
                        <a:t>Hlavní vizualizace</a:t>
                      </a:r>
                    </a:p>
                  </a:txBody>
                  <a:tcPr marL="114300" marR="114300" marT="114300" marB="114300" anchor="ctr">
                    <a:lnL>
                      <a:noFill/>
                    </a:lnL>
                    <a:lnR>
                      <a:noFill/>
                    </a:lnR>
                    <a:lnT>
                      <a:noFill/>
                    </a:lnT>
                    <a:lnB>
                      <a:noFill/>
                    </a:lnB>
                    <a:solidFill>
                      <a:srgbClr val="0078D4"/>
                    </a:solidFill>
                  </a:tcPr>
                </a:tc>
                <a:tc>
                  <a:txBody>
                    <a:bodyPr/>
                    <a:lstStyle/>
                    <a:p>
                      <a:pPr algn="l">
                        <a:buNone/>
                      </a:pPr>
                      <a:r>
                        <a:rPr lang="cs-CZ" b="1" dirty="0">
                          <a:solidFill>
                            <a:srgbClr val="FFFFFF"/>
                          </a:solidFill>
                          <a:effectLst/>
                        </a:rPr>
                        <a:t>Klíčové metriky</a:t>
                      </a:r>
                    </a:p>
                  </a:txBody>
                  <a:tcPr marL="114300" marR="114300" marT="114300" marB="114300" anchor="ctr">
                    <a:lnL>
                      <a:noFill/>
                    </a:lnL>
                    <a:lnR>
                      <a:noFill/>
                    </a:lnR>
                    <a:lnT>
                      <a:noFill/>
                    </a:lnT>
                    <a:lnB>
                      <a:noFill/>
                    </a:lnB>
                    <a:solidFill>
                      <a:srgbClr val="0078D4"/>
                    </a:solidFill>
                  </a:tcPr>
                </a:tc>
                <a:extLst>
                  <a:ext uri="{0D108BD9-81ED-4DB2-BD59-A6C34878D82A}">
                    <a16:rowId xmlns:a16="http://schemas.microsoft.com/office/drawing/2014/main" val="2444978912"/>
                  </a:ext>
                </a:extLst>
              </a:tr>
              <a:tr h="1474288">
                <a:tc>
                  <a:txBody>
                    <a:bodyPr/>
                    <a:lstStyle/>
                    <a:p>
                      <a:pPr>
                        <a:buNone/>
                      </a:pPr>
                      <a:r>
                        <a:rPr lang="cs-CZ" b="1" dirty="0">
                          <a:effectLst/>
                        </a:rPr>
                        <a:t>PAGE 1:</a:t>
                      </a:r>
                      <a:br>
                        <a:rPr lang="cs-CZ" b="1" dirty="0">
                          <a:effectLst/>
                        </a:rPr>
                      </a:br>
                      <a:r>
                        <a:rPr lang="cs-CZ" b="1" dirty="0" err="1">
                          <a:effectLst/>
                        </a:rPr>
                        <a:t>Demographics</a:t>
                      </a:r>
                      <a:endParaRPr lang="cs-CZ" dirty="0">
                        <a:effectLst/>
                      </a:endParaRPr>
                    </a:p>
                  </a:txBody>
                  <a:tcPr marL="114300" marR="114300" marT="114300" marB="114300" anchor="ctr">
                    <a:lnL>
                      <a:noFill/>
                    </a:lnL>
                    <a:lnR>
                      <a:noFill/>
                    </a:lnR>
                    <a:lnT>
                      <a:noFill/>
                    </a:lnT>
                    <a:lnB w="9525" cap="flat" cmpd="sng" algn="ctr">
                      <a:solidFill>
                        <a:srgbClr val="E0E0E0"/>
                      </a:solidFill>
                      <a:prstDash val="solid"/>
                      <a:round/>
                      <a:headEnd type="none" w="med" len="med"/>
                      <a:tailEnd type="none" w="med" len="med"/>
                    </a:lnB>
                    <a:solidFill>
                      <a:srgbClr val="FFFFFF"/>
                    </a:solidFill>
                  </a:tcPr>
                </a:tc>
                <a:tc>
                  <a:txBody>
                    <a:bodyPr/>
                    <a:lstStyle/>
                    <a:p>
                      <a:pPr>
                        <a:buNone/>
                      </a:pPr>
                      <a:r>
                        <a:rPr lang="cs-CZ" dirty="0">
                          <a:effectLst/>
                        </a:rPr>
                        <a:t>Vztah </a:t>
                      </a:r>
                      <a:r>
                        <a:rPr lang="cs-CZ" dirty="0" err="1">
                          <a:effectLst/>
                        </a:rPr>
                        <a:t>demographics</a:t>
                      </a:r>
                      <a:r>
                        <a:rPr lang="cs-CZ" dirty="0">
                          <a:effectLst/>
                        </a:rPr>
                        <a:t> s úmrtími</a:t>
                      </a:r>
                    </a:p>
                  </a:txBody>
                  <a:tcPr marL="114300" marR="114300" marT="114300" marB="114300" anchor="ctr">
                    <a:lnL>
                      <a:noFill/>
                    </a:lnL>
                    <a:lnR>
                      <a:noFill/>
                    </a:lnR>
                    <a:lnT>
                      <a:noFill/>
                    </a:lnT>
                    <a:lnB w="9525" cap="flat" cmpd="sng" algn="ctr">
                      <a:solidFill>
                        <a:srgbClr val="E0E0E0"/>
                      </a:solidFill>
                      <a:prstDash val="solid"/>
                      <a:round/>
                      <a:headEnd type="none" w="med" len="med"/>
                      <a:tailEnd type="none" w="med" len="med"/>
                    </a:lnB>
                    <a:solidFill>
                      <a:srgbClr val="FFFFFF"/>
                    </a:solidFill>
                  </a:tcPr>
                </a:tc>
                <a:tc>
                  <a:txBody>
                    <a:bodyPr/>
                    <a:lstStyle/>
                    <a:p>
                      <a:pPr marL="285750" indent="-285750">
                        <a:buFont typeface="Arial" panose="020B0604020202020204" pitchFamily="34" charset="0"/>
                        <a:buChar char="•"/>
                      </a:pPr>
                      <a:r>
                        <a:rPr lang="cs-CZ" dirty="0" err="1">
                          <a:effectLst/>
                        </a:rPr>
                        <a:t>Deaths</a:t>
                      </a:r>
                      <a:r>
                        <a:rPr lang="cs-CZ" dirty="0">
                          <a:effectLst/>
                        </a:rPr>
                        <a:t> a vztah mezi % seniorů a </a:t>
                      </a:r>
                      <a:r>
                        <a:rPr lang="cs-CZ" dirty="0" err="1">
                          <a:effectLst/>
                        </a:rPr>
                        <a:t>nonseniorů</a:t>
                      </a:r>
                      <a:r>
                        <a:rPr lang="cs-CZ" dirty="0">
                          <a:effectLst/>
                        </a:rPr>
                        <a:t> ve státě</a:t>
                      </a:r>
                    </a:p>
                    <a:p>
                      <a:pPr marL="285750" indent="-285750">
                        <a:buFont typeface="Arial" panose="020B0604020202020204" pitchFamily="34" charset="0"/>
                        <a:buChar char="•"/>
                      </a:pPr>
                      <a:r>
                        <a:rPr lang="cs-CZ" dirty="0" err="1">
                          <a:effectLst/>
                        </a:rPr>
                        <a:t>Deaths</a:t>
                      </a:r>
                      <a:r>
                        <a:rPr lang="cs-CZ" dirty="0">
                          <a:effectLst/>
                        </a:rPr>
                        <a:t> a vztah mezi % bílou a černošskou populací</a:t>
                      </a:r>
                    </a:p>
                    <a:p>
                      <a:pPr marL="285750" marR="0" lvl="0" indent="-285750" algn="l" defTabSz="68578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cs-CZ" dirty="0" err="1">
                          <a:effectLst/>
                        </a:rPr>
                        <a:t>Deaths</a:t>
                      </a:r>
                      <a:r>
                        <a:rPr lang="cs-CZ" dirty="0">
                          <a:effectLst/>
                        </a:rPr>
                        <a:t> a vztah mezi % žen a mužů ve státě</a:t>
                      </a:r>
                    </a:p>
                    <a:p>
                      <a:pPr marL="285750" indent="-285750">
                        <a:buFont typeface="Arial" panose="020B0604020202020204" pitchFamily="34" charset="0"/>
                        <a:buChar char="•"/>
                      </a:pPr>
                      <a:endParaRPr lang="cs-CZ" dirty="0">
                        <a:effectLst/>
                      </a:endParaRPr>
                    </a:p>
                  </a:txBody>
                  <a:tcPr marL="114300" marR="114300" marT="114300" marB="114300" anchor="ctr">
                    <a:lnL>
                      <a:noFill/>
                    </a:lnL>
                    <a:lnR>
                      <a:noFill/>
                    </a:lnR>
                    <a:lnT>
                      <a:noFill/>
                    </a:lnT>
                    <a:lnB w="9525" cap="flat" cmpd="sng" algn="ctr">
                      <a:solidFill>
                        <a:srgbClr val="E0E0E0"/>
                      </a:solidFill>
                      <a:prstDash val="solid"/>
                      <a:round/>
                      <a:headEnd type="none" w="med" len="med"/>
                      <a:tailEnd type="none" w="med" len="med"/>
                    </a:lnB>
                    <a:solidFill>
                      <a:srgbClr val="FFFFFF"/>
                    </a:solidFill>
                  </a:tcPr>
                </a:tc>
                <a:tc>
                  <a:txBody>
                    <a:bodyPr/>
                    <a:lstStyle/>
                    <a:p>
                      <a:pPr>
                        <a:buNone/>
                      </a:pPr>
                      <a:r>
                        <a:rPr lang="cs-CZ" dirty="0" err="1">
                          <a:effectLst/>
                        </a:rPr>
                        <a:t>Deaths</a:t>
                      </a:r>
                      <a:r>
                        <a:rPr lang="cs-CZ" dirty="0">
                          <a:effectLst/>
                        </a:rPr>
                        <a:t> per 100k </a:t>
                      </a:r>
                    </a:p>
                    <a:p>
                      <a:pPr>
                        <a:buNone/>
                      </a:pPr>
                      <a:r>
                        <a:rPr lang="cs-CZ" dirty="0">
                          <a:effectLst/>
                        </a:rPr>
                        <a:t>% </a:t>
                      </a:r>
                      <a:r>
                        <a:rPr lang="cs-CZ" dirty="0" err="1">
                          <a:effectLst/>
                        </a:rPr>
                        <a:t>white</a:t>
                      </a:r>
                      <a:r>
                        <a:rPr lang="cs-CZ" dirty="0">
                          <a:effectLst/>
                        </a:rPr>
                        <a:t>, % </a:t>
                      </a:r>
                      <a:r>
                        <a:rPr lang="cs-CZ" dirty="0" err="1">
                          <a:effectLst/>
                        </a:rPr>
                        <a:t>black</a:t>
                      </a:r>
                      <a:r>
                        <a:rPr lang="cs-CZ" dirty="0">
                          <a:effectLst/>
                        </a:rPr>
                        <a:t>, % </a:t>
                      </a:r>
                      <a:r>
                        <a:rPr lang="cs-CZ" dirty="0" err="1">
                          <a:effectLst/>
                        </a:rPr>
                        <a:t>seniors</a:t>
                      </a:r>
                      <a:r>
                        <a:rPr lang="cs-CZ" dirty="0">
                          <a:effectLst/>
                        </a:rPr>
                        <a:t>, %</a:t>
                      </a:r>
                      <a:r>
                        <a:rPr lang="cs-CZ" dirty="0" err="1">
                          <a:effectLst/>
                        </a:rPr>
                        <a:t>nonseniors</a:t>
                      </a:r>
                      <a:endParaRPr lang="cs-CZ" dirty="0">
                        <a:effectLst/>
                      </a:endParaRPr>
                    </a:p>
                  </a:txBody>
                  <a:tcPr marL="114300" marR="114300" marT="114300" marB="114300" anchor="ctr">
                    <a:lnL>
                      <a:noFill/>
                    </a:lnL>
                    <a:lnR>
                      <a:noFill/>
                    </a:lnR>
                    <a:lnT>
                      <a:noFill/>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564360713"/>
                  </a:ext>
                </a:extLst>
              </a:tr>
              <a:tr h="1271711">
                <a:tc>
                  <a:txBody>
                    <a:bodyPr/>
                    <a:lstStyle/>
                    <a:p>
                      <a:pPr>
                        <a:buNone/>
                      </a:pPr>
                      <a:r>
                        <a:rPr lang="cs-CZ" b="1" dirty="0">
                          <a:effectLst/>
                        </a:rPr>
                        <a:t>PAGE 2:</a:t>
                      </a:r>
                      <a:br>
                        <a:rPr lang="cs-CZ" b="1" dirty="0">
                          <a:effectLst/>
                        </a:rPr>
                      </a:br>
                      <a:r>
                        <a:rPr lang="cs-CZ" b="1" dirty="0" err="1">
                          <a:effectLst/>
                        </a:rPr>
                        <a:t>Poverty</a:t>
                      </a:r>
                      <a:r>
                        <a:rPr lang="cs-CZ" b="1" dirty="0">
                          <a:effectLst/>
                        </a:rPr>
                        <a:t> and </a:t>
                      </a:r>
                      <a:r>
                        <a:rPr lang="cs-CZ" b="1" dirty="0" err="1">
                          <a:effectLst/>
                        </a:rPr>
                        <a:t>income</a:t>
                      </a:r>
                      <a:endParaRPr lang="cs-CZ" dirty="0">
                        <a:effectLst/>
                      </a:endParaRPr>
                    </a:p>
                  </a:txBody>
                  <a:tcPr marL="114300" marR="114300" marT="114300" marB="114300" anchor="ctr">
                    <a:lnL>
                      <a:noFill/>
                    </a:lnL>
                    <a:lnR>
                      <a:noFill/>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a:buNone/>
                      </a:pPr>
                      <a:r>
                        <a:rPr lang="cs-CZ" dirty="0">
                          <a:effectLst/>
                        </a:rPr>
                        <a:t>Demografická analýza obětí</a:t>
                      </a:r>
                    </a:p>
                  </a:txBody>
                  <a:tcPr marL="114300" marR="114300" marT="114300" marB="114300" anchor="ctr">
                    <a:lnL>
                      <a:noFill/>
                    </a:lnL>
                    <a:lnR>
                      <a:noFill/>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a:buNone/>
                      </a:pPr>
                      <a:r>
                        <a:rPr lang="cs-CZ" dirty="0">
                          <a:effectLst/>
                        </a:rPr>
                        <a:t>• </a:t>
                      </a:r>
                      <a:r>
                        <a:rPr lang="cs-CZ" dirty="0" err="1">
                          <a:effectLst/>
                        </a:rPr>
                        <a:t>Monthly</a:t>
                      </a:r>
                      <a:r>
                        <a:rPr lang="cs-CZ" dirty="0">
                          <a:effectLst/>
                        </a:rPr>
                        <a:t> </a:t>
                      </a:r>
                      <a:r>
                        <a:rPr lang="cs-CZ" dirty="0" err="1">
                          <a:effectLst/>
                        </a:rPr>
                        <a:t>cases</a:t>
                      </a:r>
                      <a:r>
                        <a:rPr lang="cs-CZ" dirty="0">
                          <a:effectLst/>
                        </a:rPr>
                        <a:t> per </a:t>
                      </a:r>
                      <a:r>
                        <a:rPr lang="cs-CZ" dirty="0" err="1">
                          <a:effectLst/>
                        </a:rPr>
                        <a:t>state</a:t>
                      </a:r>
                      <a:br>
                        <a:rPr lang="cs-CZ" dirty="0">
                          <a:effectLst/>
                        </a:rPr>
                      </a:br>
                      <a:r>
                        <a:rPr lang="cs-CZ" dirty="0">
                          <a:effectLst/>
                        </a:rPr>
                        <a:t>• </a:t>
                      </a:r>
                      <a:r>
                        <a:rPr lang="cs-CZ" dirty="0" err="1">
                          <a:effectLst/>
                        </a:rPr>
                        <a:t>Deaths</a:t>
                      </a:r>
                      <a:r>
                        <a:rPr lang="cs-CZ" dirty="0">
                          <a:effectLst/>
                        </a:rPr>
                        <a:t> per 100k per </a:t>
                      </a:r>
                      <a:r>
                        <a:rPr lang="cs-CZ" dirty="0" err="1">
                          <a:effectLst/>
                        </a:rPr>
                        <a:t>count</a:t>
                      </a:r>
                      <a:r>
                        <a:rPr lang="cs-CZ" dirty="0">
                          <a:effectLst/>
                        </a:rPr>
                        <a:t>\ </a:t>
                      </a:r>
                      <a:r>
                        <a:rPr lang="cs-CZ" dirty="0" err="1">
                          <a:effectLst/>
                        </a:rPr>
                        <a:t>according</a:t>
                      </a:r>
                      <a:r>
                        <a:rPr lang="cs-CZ" dirty="0">
                          <a:effectLst/>
                        </a:rPr>
                        <a:t> to </a:t>
                      </a:r>
                      <a:r>
                        <a:rPr lang="cs-CZ" dirty="0" err="1">
                          <a:effectLst/>
                        </a:rPr>
                        <a:t>pvoerty</a:t>
                      </a:r>
                      <a:br>
                        <a:rPr lang="cs-CZ" dirty="0">
                          <a:effectLst/>
                        </a:rPr>
                      </a:br>
                      <a:r>
                        <a:rPr lang="cs-CZ" dirty="0">
                          <a:effectLst/>
                        </a:rPr>
                        <a:t>• </a:t>
                      </a:r>
                      <a:r>
                        <a:rPr lang="cs-CZ" dirty="0" err="1">
                          <a:effectLst/>
                        </a:rPr>
                        <a:t>State</a:t>
                      </a:r>
                      <a:r>
                        <a:rPr lang="cs-CZ" dirty="0">
                          <a:effectLst/>
                        </a:rPr>
                        <a:t> </a:t>
                      </a:r>
                      <a:r>
                        <a:rPr lang="cs-CZ" dirty="0" err="1">
                          <a:effectLst/>
                        </a:rPr>
                        <a:t>median</a:t>
                      </a:r>
                      <a:r>
                        <a:rPr lang="cs-CZ" dirty="0">
                          <a:effectLst/>
                        </a:rPr>
                        <a:t> </a:t>
                      </a:r>
                      <a:r>
                        <a:rPr lang="cs-CZ" dirty="0" err="1">
                          <a:effectLst/>
                        </a:rPr>
                        <a:t>income</a:t>
                      </a:r>
                      <a:r>
                        <a:rPr lang="cs-CZ" dirty="0">
                          <a:effectLst/>
                        </a:rPr>
                        <a:t> x </a:t>
                      </a:r>
                      <a:br>
                        <a:rPr lang="cs-CZ" dirty="0">
                          <a:effectLst/>
                        </a:rPr>
                      </a:br>
                      <a:r>
                        <a:rPr lang="cs-CZ" dirty="0">
                          <a:effectLst/>
                        </a:rPr>
                        <a:t>• </a:t>
                      </a:r>
                      <a:r>
                        <a:rPr lang="cs-CZ" dirty="0" err="1">
                          <a:effectLst/>
                        </a:rPr>
                        <a:t>Column</a:t>
                      </a:r>
                      <a:r>
                        <a:rPr lang="cs-CZ" dirty="0">
                          <a:effectLst/>
                        </a:rPr>
                        <a:t> chart (Age </a:t>
                      </a:r>
                      <a:r>
                        <a:rPr lang="cs-CZ" dirty="0" err="1">
                          <a:effectLst/>
                        </a:rPr>
                        <a:t>groups</a:t>
                      </a:r>
                      <a:r>
                        <a:rPr lang="cs-CZ" dirty="0">
                          <a:effectLst/>
                        </a:rPr>
                        <a:t>)</a:t>
                      </a:r>
                    </a:p>
                  </a:txBody>
                  <a:tcPr marL="114300" marR="114300" marT="114300" marB="114300" anchor="ctr">
                    <a:lnL>
                      <a:noFill/>
                    </a:lnL>
                    <a:lnR>
                      <a:noFill/>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a:buNone/>
                      </a:pPr>
                      <a:r>
                        <a:rPr lang="cs-CZ" dirty="0" err="1">
                          <a:effectLst/>
                        </a:rPr>
                        <a:t>Poverty</a:t>
                      </a:r>
                      <a:r>
                        <a:rPr lang="cs-CZ" dirty="0">
                          <a:effectLst/>
                        </a:rPr>
                        <a:t> </a:t>
                      </a:r>
                      <a:r>
                        <a:rPr lang="cs-CZ" dirty="0" err="1">
                          <a:effectLst/>
                        </a:rPr>
                        <a:t>category</a:t>
                      </a:r>
                      <a:endParaRPr lang="cs-CZ" dirty="0">
                        <a:effectLst/>
                      </a:endParaRPr>
                    </a:p>
                    <a:p>
                      <a:pPr>
                        <a:buNone/>
                      </a:pPr>
                      <a:r>
                        <a:rPr lang="cs-CZ" dirty="0" err="1">
                          <a:effectLst/>
                        </a:rPr>
                        <a:t>Cases</a:t>
                      </a:r>
                      <a:r>
                        <a:rPr lang="cs-CZ" dirty="0">
                          <a:effectLst/>
                        </a:rPr>
                        <a:t> per 100k</a:t>
                      </a:r>
                    </a:p>
                    <a:p>
                      <a:pPr>
                        <a:buNone/>
                      </a:pPr>
                      <a:r>
                        <a:rPr lang="cs-CZ" dirty="0" err="1">
                          <a:effectLst/>
                        </a:rPr>
                        <a:t>Deaths</a:t>
                      </a:r>
                      <a:r>
                        <a:rPr lang="cs-CZ" dirty="0">
                          <a:effectLst/>
                        </a:rPr>
                        <a:t> per 100k</a:t>
                      </a:r>
                    </a:p>
                    <a:p>
                      <a:pPr>
                        <a:buNone/>
                      </a:pPr>
                      <a:r>
                        <a:rPr lang="cs-CZ" dirty="0" err="1">
                          <a:effectLst/>
                        </a:rPr>
                        <a:t>Monthly</a:t>
                      </a:r>
                      <a:r>
                        <a:rPr lang="cs-CZ" dirty="0">
                          <a:effectLst/>
                        </a:rPr>
                        <a:t> </a:t>
                      </a:r>
                      <a:r>
                        <a:rPr lang="cs-CZ" dirty="0" err="1">
                          <a:effectLst/>
                        </a:rPr>
                        <a:t>cases</a:t>
                      </a:r>
                      <a:endParaRPr lang="cs-CZ" dirty="0">
                        <a:effectLst/>
                      </a:endParaRPr>
                    </a:p>
                  </a:txBody>
                  <a:tcPr marL="114300" marR="114300" marT="114300" marB="114300" anchor="ctr">
                    <a:lnL>
                      <a:noFill/>
                    </a:lnL>
                    <a:lnR>
                      <a:noFill/>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650254471"/>
                  </a:ext>
                </a:extLst>
              </a:tr>
              <a:tr h="1271711">
                <a:tc>
                  <a:txBody>
                    <a:bodyPr/>
                    <a:lstStyle/>
                    <a:p>
                      <a:pPr>
                        <a:buNone/>
                      </a:pPr>
                      <a:r>
                        <a:rPr lang="cs-CZ" b="1" dirty="0">
                          <a:effectLst/>
                        </a:rPr>
                        <a:t>PAGE 3:</a:t>
                      </a:r>
                      <a:br>
                        <a:rPr lang="cs-CZ" b="1" dirty="0">
                          <a:effectLst/>
                        </a:rPr>
                      </a:br>
                      <a:r>
                        <a:rPr lang="cs-CZ" b="1" dirty="0" err="1">
                          <a:effectLst/>
                        </a:rPr>
                        <a:t>Deaths</a:t>
                      </a:r>
                      <a:r>
                        <a:rPr lang="cs-CZ" b="1" dirty="0">
                          <a:effectLst/>
                        </a:rPr>
                        <a:t> and </a:t>
                      </a:r>
                      <a:r>
                        <a:rPr lang="cs-CZ" b="1" dirty="0" err="1">
                          <a:effectLst/>
                        </a:rPr>
                        <a:t>cases</a:t>
                      </a:r>
                      <a:endParaRPr lang="cs-CZ" dirty="0">
                        <a:effectLst/>
                      </a:endParaRPr>
                    </a:p>
                  </a:txBody>
                  <a:tcPr marL="114300" marR="114300" marT="114300" marB="114300" anchor="ctr">
                    <a:lnL>
                      <a:noFill/>
                    </a:lnL>
                    <a:lnR>
                      <a:noFill/>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a:buNone/>
                      </a:pPr>
                      <a:r>
                        <a:rPr lang="cs-CZ" dirty="0">
                          <a:effectLst/>
                        </a:rPr>
                        <a:t>Detailní analýza rozpočtů a korelací</a:t>
                      </a:r>
                    </a:p>
                  </a:txBody>
                  <a:tcPr marL="114300" marR="114300" marT="114300" marB="114300" anchor="ctr">
                    <a:lnL>
                      <a:noFill/>
                    </a:lnL>
                    <a:lnR>
                      <a:noFill/>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a:buNone/>
                      </a:pPr>
                      <a:r>
                        <a:rPr lang="cs-CZ" dirty="0">
                          <a:effectLst/>
                        </a:rPr>
                        <a:t>• CFRˇ% </a:t>
                      </a:r>
                      <a:r>
                        <a:rPr lang="cs-CZ" dirty="0" err="1">
                          <a:effectLst/>
                        </a:rPr>
                        <a:t>for</a:t>
                      </a:r>
                      <a:r>
                        <a:rPr lang="cs-CZ" dirty="0">
                          <a:effectLst/>
                        </a:rPr>
                        <a:t> </a:t>
                      </a:r>
                      <a:r>
                        <a:rPr lang="cs-CZ" dirty="0" err="1">
                          <a:effectLst/>
                        </a:rPr>
                        <a:t>each</a:t>
                      </a:r>
                      <a:r>
                        <a:rPr lang="cs-CZ" dirty="0">
                          <a:effectLst/>
                        </a:rPr>
                        <a:t> </a:t>
                      </a:r>
                      <a:r>
                        <a:rPr lang="cs-CZ" dirty="0" err="1">
                          <a:effectLst/>
                        </a:rPr>
                        <a:t>state</a:t>
                      </a:r>
                      <a:br>
                        <a:rPr lang="cs-CZ" dirty="0">
                          <a:effectLst/>
                        </a:rPr>
                      </a:br>
                      <a:r>
                        <a:rPr lang="cs-CZ" dirty="0">
                          <a:effectLst/>
                        </a:rPr>
                        <a:t>• </a:t>
                      </a:r>
                      <a:r>
                        <a:rPr lang="cs-CZ" dirty="0" err="1">
                          <a:effectLst/>
                        </a:rPr>
                        <a:t>Total</a:t>
                      </a:r>
                      <a:r>
                        <a:rPr lang="cs-CZ" dirty="0">
                          <a:effectLst/>
                        </a:rPr>
                        <a:t> </a:t>
                      </a:r>
                      <a:r>
                        <a:rPr lang="cs-CZ" dirty="0" err="1">
                          <a:effectLst/>
                        </a:rPr>
                        <a:t>deaths</a:t>
                      </a:r>
                      <a:r>
                        <a:rPr lang="cs-CZ" dirty="0">
                          <a:effectLst/>
                        </a:rPr>
                        <a:t> </a:t>
                      </a:r>
                      <a:r>
                        <a:rPr lang="cs-CZ" dirty="0" err="1">
                          <a:effectLst/>
                        </a:rPr>
                        <a:t>state</a:t>
                      </a:r>
                      <a:endParaRPr lang="cs-CZ" dirty="0">
                        <a:effectLst/>
                      </a:endParaRPr>
                    </a:p>
                    <a:p>
                      <a:pPr>
                        <a:buNone/>
                      </a:pPr>
                      <a:r>
                        <a:rPr lang="cs-CZ" dirty="0">
                          <a:effectLst/>
                        </a:rPr>
                        <a:t>• </a:t>
                      </a:r>
                      <a:r>
                        <a:rPr lang="cs-CZ" dirty="0" err="1">
                          <a:effectLst/>
                        </a:rPr>
                        <a:t>Deaths</a:t>
                      </a:r>
                      <a:r>
                        <a:rPr lang="cs-CZ" dirty="0">
                          <a:effectLst/>
                        </a:rPr>
                        <a:t> per 100k </a:t>
                      </a:r>
                      <a:r>
                        <a:rPr lang="cs-CZ" dirty="0" err="1">
                          <a:effectLst/>
                        </a:rPr>
                        <a:t>for</a:t>
                      </a:r>
                      <a:r>
                        <a:rPr lang="cs-CZ" dirty="0">
                          <a:effectLst/>
                        </a:rPr>
                        <a:t> </a:t>
                      </a:r>
                      <a:r>
                        <a:rPr lang="cs-CZ" dirty="0" err="1">
                          <a:effectLst/>
                        </a:rPr>
                        <a:t>state</a:t>
                      </a:r>
                      <a:r>
                        <a:rPr lang="cs-CZ" dirty="0">
                          <a:effectLst/>
                        </a:rPr>
                        <a:t> and </a:t>
                      </a:r>
                      <a:r>
                        <a:rPr lang="cs-CZ" dirty="0" err="1">
                          <a:effectLst/>
                        </a:rPr>
                        <a:t>cases</a:t>
                      </a:r>
                      <a:r>
                        <a:rPr lang="cs-CZ" dirty="0">
                          <a:effectLst/>
                        </a:rPr>
                        <a:t> per 100k </a:t>
                      </a:r>
                      <a:r>
                        <a:rPr lang="cs-CZ" dirty="0" err="1">
                          <a:effectLst/>
                        </a:rPr>
                        <a:t>for</a:t>
                      </a:r>
                      <a:r>
                        <a:rPr lang="cs-CZ" dirty="0">
                          <a:effectLst/>
                        </a:rPr>
                        <a:t> </a:t>
                      </a:r>
                      <a:r>
                        <a:rPr lang="cs-CZ" dirty="0" err="1">
                          <a:effectLst/>
                        </a:rPr>
                        <a:t>state</a:t>
                      </a:r>
                      <a:endParaRPr lang="cs-CZ" dirty="0">
                        <a:effectLst/>
                      </a:endParaRPr>
                    </a:p>
                  </a:txBody>
                  <a:tcPr marL="114300" marR="114300" marT="114300" marB="114300" anchor="ctr">
                    <a:lnL>
                      <a:noFill/>
                    </a:lnL>
                    <a:lnR>
                      <a:noFill/>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a:buNone/>
                      </a:pPr>
                      <a:r>
                        <a:rPr lang="cs-CZ" dirty="0">
                          <a:effectLst/>
                        </a:rPr>
                        <a:t>CFR %</a:t>
                      </a:r>
                    </a:p>
                    <a:p>
                      <a:pPr>
                        <a:buNone/>
                      </a:pPr>
                      <a:r>
                        <a:rPr lang="cs-CZ" dirty="0" err="1">
                          <a:effectLst/>
                        </a:rPr>
                        <a:t>Deaths</a:t>
                      </a:r>
                      <a:r>
                        <a:rPr lang="cs-CZ" dirty="0">
                          <a:effectLst/>
                        </a:rPr>
                        <a:t> per 100k</a:t>
                      </a:r>
                    </a:p>
                    <a:p>
                      <a:pPr>
                        <a:buNone/>
                      </a:pPr>
                      <a:r>
                        <a:rPr lang="cs-CZ" dirty="0" err="1">
                          <a:effectLst/>
                        </a:rPr>
                        <a:t>Cases</a:t>
                      </a:r>
                      <a:r>
                        <a:rPr lang="cs-CZ" dirty="0">
                          <a:effectLst/>
                        </a:rPr>
                        <a:t> per 100k</a:t>
                      </a:r>
                    </a:p>
                  </a:txBody>
                  <a:tcPr marL="114300" marR="114300" marT="114300" marB="114300" anchor="ctr">
                    <a:lnL>
                      <a:noFill/>
                    </a:lnL>
                    <a:lnR>
                      <a:noFill/>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3818821268"/>
                  </a:ext>
                </a:extLst>
              </a:tr>
            </a:tbl>
          </a:graphicData>
        </a:graphic>
      </p:graphicFrame>
    </p:spTree>
    <p:extLst>
      <p:ext uri="{BB962C8B-B14F-4D97-AF65-F5344CB8AC3E}">
        <p14:creationId xmlns:p14="http://schemas.microsoft.com/office/powerpoint/2010/main" val="2738862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9CC38-5332-EFAE-EB2F-C29F7BD5FAB9}"/>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315C1A4F-70A6-834F-6D71-EE828B6799A4}"/>
              </a:ext>
            </a:extLst>
          </p:cNvPr>
          <p:cNvSpPr>
            <a:spLocks noGrp="1"/>
          </p:cNvSpPr>
          <p:nvPr>
            <p:ph type="title"/>
          </p:nvPr>
        </p:nvSpPr>
        <p:spPr>
          <a:xfrm>
            <a:off x="2399084" y="214799"/>
            <a:ext cx="7779544" cy="689952"/>
          </a:xfrm>
        </p:spPr>
        <p:txBody>
          <a:bodyPr>
            <a:normAutofit/>
          </a:bodyPr>
          <a:lstStyle/>
          <a:p>
            <a:r>
              <a:rPr lang="cs-CZ" dirty="0">
                <a:latin typeface="Arial"/>
                <a:cs typeface="Arial"/>
              </a:rPr>
              <a:t>Analytické otázky</a:t>
            </a:r>
            <a:endParaRPr lang="cs-CZ" dirty="0"/>
          </a:p>
        </p:txBody>
      </p:sp>
      <p:sp>
        <p:nvSpPr>
          <p:cNvPr id="5" name="Zástupný obsah 2">
            <a:extLst>
              <a:ext uri="{FF2B5EF4-FFF2-40B4-BE49-F238E27FC236}">
                <a16:creationId xmlns:a16="http://schemas.microsoft.com/office/drawing/2014/main" id="{4215D253-28D8-397B-16EA-990904DC956D}"/>
              </a:ext>
            </a:extLst>
          </p:cNvPr>
          <p:cNvSpPr>
            <a:spLocks noGrp="1"/>
          </p:cNvSpPr>
          <p:nvPr>
            <p:ph idx="1"/>
          </p:nvPr>
        </p:nvSpPr>
        <p:spPr>
          <a:xfrm>
            <a:off x="243678" y="904751"/>
            <a:ext cx="7882414" cy="6290886"/>
          </a:xfrm>
        </p:spPr>
        <p:txBody>
          <a:bodyPr vert="horz" lIns="91440" tIns="45720" rIns="91440" bIns="45720" rtlCol="0" anchor="t">
            <a:noAutofit/>
          </a:bodyPr>
          <a:lstStyle/>
          <a:p>
            <a:pPr marL="342900" indent="-342900">
              <a:buAutoNum type="arabicPeriod"/>
            </a:pPr>
            <a:endParaRPr lang="cs-CZ" sz="1400" b="1" dirty="0">
              <a:latin typeface="Arial"/>
              <a:cs typeface="Arial"/>
            </a:endParaRPr>
          </a:p>
          <a:p>
            <a:pPr marL="513715" lvl="1" indent="-170815"/>
            <a:r>
              <a:rPr lang="cs-CZ" sz="1400" b="1" dirty="0">
                <a:latin typeface="Arial"/>
                <a:cs typeface="Arial"/>
              </a:rPr>
              <a:t>Demografie a populace</a:t>
            </a:r>
          </a:p>
          <a:p>
            <a:pPr marL="1028700" lvl="2" indent="-342900">
              <a:buFont typeface="Wingdings" panose="020B0604020202020204" pitchFamily="34" charset="0"/>
              <a:buChar char="§"/>
            </a:pPr>
            <a:r>
              <a:rPr lang="cs-CZ" sz="1400" dirty="0">
                <a:latin typeface="Arial"/>
                <a:cs typeface="Arial"/>
              </a:rPr>
              <a:t>Je věk rozhodujícím faktorem? Existuje korelace mezi podílem seniorů v populaci státu a mírou úmrtnosti na 100 tisíc obyvatel?</a:t>
            </a:r>
          </a:p>
          <a:p>
            <a:pPr marL="1028700" lvl="2" indent="-342900"/>
            <a:r>
              <a:rPr lang="cs-CZ" sz="1400" dirty="0">
                <a:latin typeface="Arial"/>
                <a:cs typeface="Arial"/>
              </a:rPr>
              <a:t>Role rasy: Jak silná je závislost mezi vysokým podílem afroamerické populace ve státě a vyšší úmrtností?</a:t>
            </a:r>
          </a:p>
          <a:p>
            <a:pPr marL="1028700" lvl="2" indent="-342900"/>
            <a:r>
              <a:rPr lang="cs-CZ" sz="1400" dirty="0">
                <a:latin typeface="Arial"/>
                <a:cs typeface="Arial"/>
              </a:rPr>
              <a:t>Vliv velikosti populace: Znamená větší celková populace státu automaticky vyšší relativní úmrtnost (na 100k), nebo je tento vztah náhodný?</a:t>
            </a:r>
          </a:p>
          <a:p>
            <a:pPr marL="685800" lvl="1" indent="-342900"/>
            <a:r>
              <a:rPr lang="cs-CZ" sz="1400" b="1" dirty="0">
                <a:latin typeface="Arial"/>
                <a:cs typeface="Arial"/>
              </a:rPr>
              <a:t>Socio-ekonomické vlivy (Příčiny)</a:t>
            </a:r>
          </a:p>
          <a:p>
            <a:pPr marL="1028700" lvl="2" indent="-342900"/>
            <a:r>
              <a:rPr lang="cs-CZ" sz="1400" dirty="0">
                <a:latin typeface="Arial"/>
                <a:cs typeface="Arial"/>
              </a:rPr>
              <a:t>Dominance chudoby: Jaký podíl na celkovém počtu úmrtí mají okresy klasifikované jako "</a:t>
            </a:r>
            <a:r>
              <a:rPr lang="cs-CZ" sz="1400" dirty="0" err="1">
                <a:latin typeface="Arial"/>
                <a:cs typeface="Arial"/>
              </a:rPr>
              <a:t>High</a:t>
            </a:r>
            <a:r>
              <a:rPr lang="cs-CZ" sz="1400" dirty="0">
                <a:latin typeface="Arial"/>
                <a:cs typeface="Arial"/>
              </a:rPr>
              <a:t> </a:t>
            </a:r>
            <a:r>
              <a:rPr lang="cs-CZ" sz="1400" dirty="0" err="1">
                <a:latin typeface="Arial"/>
                <a:cs typeface="Arial"/>
              </a:rPr>
              <a:t>Poverty</a:t>
            </a:r>
            <a:r>
              <a:rPr lang="cs-CZ" sz="1400" dirty="0">
                <a:latin typeface="Arial"/>
                <a:cs typeface="Arial"/>
              </a:rPr>
              <a:t>" (vysoká chudoba)?</a:t>
            </a:r>
          </a:p>
          <a:p>
            <a:pPr marL="1028700" lvl="2" indent="-342900"/>
            <a:r>
              <a:rPr lang="cs-CZ" sz="1400" dirty="0">
                <a:latin typeface="Arial"/>
                <a:cs typeface="Arial"/>
              </a:rPr>
              <a:t>Hranice bezpečí: Existuje konkrétní hranice mediánu příjmu domácnosti (např. kolem 60 000 USD), nad kterou riziko úmrtí výrazně klesá?</a:t>
            </a:r>
          </a:p>
          <a:p>
            <a:pPr marL="1028700" lvl="2" indent="-342900"/>
            <a:r>
              <a:rPr lang="cs-CZ" sz="1400" dirty="0">
                <a:latin typeface="Arial"/>
                <a:cs typeface="Arial"/>
              </a:rPr>
              <a:t>Paradox bohatství: Proč mají některé státy s vysokým mediánem příjmu (např. New Jersey) zároveň jednu z nejvyšších úmrtností?</a:t>
            </a:r>
          </a:p>
          <a:p>
            <a:pPr marL="685800" lvl="1" indent="-342900"/>
            <a:r>
              <a:rPr lang="cs-CZ" sz="1400" b="1" dirty="0">
                <a:latin typeface="Arial"/>
                <a:cs typeface="Arial"/>
              </a:rPr>
              <a:t>Epidemiologické ukazatele (</a:t>
            </a:r>
            <a:r>
              <a:rPr lang="cs-CZ" sz="1400" b="1" dirty="0" err="1">
                <a:latin typeface="Arial"/>
                <a:cs typeface="Arial"/>
              </a:rPr>
              <a:t>KPIs</a:t>
            </a:r>
            <a:r>
              <a:rPr lang="cs-CZ" sz="1400" b="1" dirty="0">
                <a:latin typeface="Arial"/>
                <a:cs typeface="Arial"/>
              </a:rPr>
              <a:t>)</a:t>
            </a:r>
          </a:p>
          <a:p>
            <a:pPr marL="1028700" lvl="2" indent="-342900"/>
            <a:r>
              <a:rPr lang="cs-CZ" sz="1400" dirty="0">
                <a:latin typeface="Arial"/>
                <a:cs typeface="Arial"/>
              </a:rPr>
              <a:t>Úmrtnost vs. Počet </a:t>
            </a:r>
            <a:r>
              <a:rPr lang="cs-CZ" sz="1400" dirty="0" err="1">
                <a:latin typeface="Arial"/>
                <a:cs typeface="Arial"/>
              </a:rPr>
              <a:t>úmrtí:Které</a:t>
            </a:r>
            <a:r>
              <a:rPr lang="cs-CZ" sz="1400" dirty="0">
                <a:latin typeface="Arial"/>
                <a:cs typeface="Arial"/>
              </a:rPr>
              <a:t> státy mají nejvyšší pravděpodobnost úmrtí po nákaze (CFR %) oproti státům, které mají pouze vysoký absolutní počet mrtvých?</a:t>
            </a:r>
          </a:p>
          <a:p>
            <a:pPr marL="1028700" lvl="2" indent="-342900"/>
            <a:r>
              <a:rPr lang="cs-CZ" sz="1400" dirty="0">
                <a:latin typeface="Arial"/>
                <a:cs typeface="Arial"/>
              </a:rPr>
              <a:t>Sezónnost: Jaký podíl z celkových ročních případů a úmrtí připadá na zimní měsíce (listopad/prosinec)?</a:t>
            </a:r>
          </a:p>
          <a:p>
            <a:pPr marL="685800" lvl="1" indent="-342900"/>
            <a:r>
              <a:rPr lang="cs-CZ" sz="1400" b="1" dirty="0">
                <a:latin typeface="Arial"/>
                <a:cs typeface="Arial"/>
              </a:rPr>
              <a:t>Geografické rozložení</a:t>
            </a:r>
          </a:p>
          <a:p>
            <a:pPr marL="1028700" lvl="2" indent="-342900"/>
            <a:r>
              <a:rPr lang="cs-CZ" sz="1400" dirty="0">
                <a:latin typeface="Arial"/>
                <a:cs typeface="Arial"/>
              </a:rPr>
              <a:t>Ohniska </a:t>
            </a:r>
            <a:r>
              <a:rPr lang="cs-CZ" sz="1400" dirty="0" err="1">
                <a:latin typeface="Arial"/>
                <a:cs typeface="Arial"/>
              </a:rPr>
              <a:t>nákazy:Koncentruje</a:t>
            </a:r>
            <a:r>
              <a:rPr lang="cs-CZ" sz="1400" dirty="0">
                <a:latin typeface="Arial"/>
                <a:cs typeface="Arial"/>
              </a:rPr>
              <a:t> se vysoká úmrtnost spíše do hustě osídlených oblastí Severovýchodu, nebo do sociálně slabších oblastí Jihu?</a:t>
            </a:r>
          </a:p>
          <a:p>
            <a:pPr marL="342900" lvl="1" indent="0">
              <a:buNone/>
            </a:pPr>
            <a:endParaRPr lang="cs-CZ" sz="1400" b="1" dirty="0"/>
          </a:p>
          <a:p>
            <a:pPr marL="170815" indent="-170815">
              <a:buAutoNum type="arabicPeriod"/>
            </a:pPr>
            <a:endParaRPr lang="cs-CZ" sz="1400" dirty="0"/>
          </a:p>
          <a:p>
            <a:pPr marL="170815" indent="-170815">
              <a:buAutoNum type="arabicPeriod"/>
            </a:pPr>
            <a:endParaRPr lang="cs-CZ" sz="1400" dirty="0"/>
          </a:p>
          <a:p>
            <a:pPr marL="513715" lvl="1" indent="-170815"/>
            <a:endParaRPr lang="cs-CZ" sz="1400" dirty="0"/>
          </a:p>
          <a:p>
            <a:pPr marL="513715" lvl="1" indent="-170815"/>
            <a:endParaRPr lang="cs-CZ" sz="1400" dirty="0"/>
          </a:p>
          <a:p>
            <a:pPr marL="170815" indent="-170815">
              <a:buAutoNum type="arabicPeriod"/>
            </a:pPr>
            <a:endParaRPr lang="cs-CZ" sz="1400" b="1" dirty="0"/>
          </a:p>
          <a:p>
            <a:pPr marL="170815" indent="-170815">
              <a:buAutoNum type="arabicPeriod"/>
            </a:pPr>
            <a:endParaRPr lang="cs-CZ" sz="1400" b="1" dirty="0"/>
          </a:p>
        </p:txBody>
      </p:sp>
    </p:spTree>
    <p:extLst>
      <p:ext uri="{BB962C8B-B14F-4D97-AF65-F5344CB8AC3E}">
        <p14:creationId xmlns:p14="http://schemas.microsoft.com/office/powerpoint/2010/main" val="4134783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9475249-6A99-6F59-4FB2-5664122AA515}"/>
              </a:ext>
            </a:extLst>
          </p:cNvPr>
          <p:cNvSpPr>
            <a:spLocks noGrp="1"/>
          </p:cNvSpPr>
          <p:nvPr>
            <p:ph type="title"/>
          </p:nvPr>
        </p:nvSpPr>
        <p:spPr>
          <a:xfrm>
            <a:off x="628650" y="1100016"/>
            <a:ext cx="7779544" cy="689952"/>
          </a:xfrm>
        </p:spPr>
        <p:txBody>
          <a:bodyPr anchor="t">
            <a:normAutofit/>
          </a:bodyPr>
          <a:lstStyle/>
          <a:p>
            <a:r>
              <a:rPr lang="cs-CZ" dirty="0"/>
              <a:t>Výsledný report - </a:t>
            </a:r>
            <a:r>
              <a:rPr lang="cs-CZ" dirty="0" err="1"/>
              <a:t>Demographics</a:t>
            </a:r>
            <a:endParaRPr lang="cs-CZ" dirty="0"/>
          </a:p>
        </p:txBody>
      </p:sp>
      <p:pic>
        <p:nvPicPr>
          <p:cNvPr id="4" name="Obrázek 3">
            <a:extLst>
              <a:ext uri="{FF2B5EF4-FFF2-40B4-BE49-F238E27FC236}">
                <a16:creationId xmlns:a16="http://schemas.microsoft.com/office/drawing/2014/main" id="{2EAA1028-17C9-D9F2-2359-AD4B353C0532}"/>
              </a:ext>
            </a:extLst>
          </p:cNvPr>
          <p:cNvPicPr>
            <a:picLocks noChangeAspect="1"/>
          </p:cNvPicPr>
          <p:nvPr/>
        </p:nvPicPr>
        <p:blipFill>
          <a:blip r:embed="rId2"/>
          <a:stretch>
            <a:fillRect/>
          </a:stretch>
        </p:blipFill>
        <p:spPr>
          <a:xfrm>
            <a:off x="628650" y="1982744"/>
            <a:ext cx="7779544" cy="4375992"/>
          </a:xfrm>
          <a:prstGeom prst="rect">
            <a:avLst/>
          </a:prstGeom>
          <a:noFill/>
        </p:spPr>
      </p:pic>
    </p:spTree>
    <p:extLst>
      <p:ext uri="{BB962C8B-B14F-4D97-AF65-F5344CB8AC3E}">
        <p14:creationId xmlns:p14="http://schemas.microsoft.com/office/powerpoint/2010/main" val="3750637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C43AF-E92C-F37E-80D3-27C4AE5601EF}"/>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2542673F-0EE9-9573-4253-2F1453C1F0D9}"/>
              </a:ext>
            </a:extLst>
          </p:cNvPr>
          <p:cNvSpPr>
            <a:spLocks noGrp="1"/>
          </p:cNvSpPr>
          <p:nvPr>
            <p:ph type="title"/>
          </p:nvPr>
        </p:nvSpPr>
        <p:spPr>
          <a:xfrm>
            <a:off x="628650" y="1100016"/>
            <a:ext cx="7779544" cy="689952"/>
          </a:xfrm>
        </p:spPr>
        <p:txBody>
          <a:bodyPr anchor="t">
            <a:normAutofit/>
          </a:bodyPr>
          <a:lstStyle/>
          <a:p>
            <a:r>
              <a:rPr lang="cs-CZ" dirty="0"/>
              <a:t>Interpretace výsledků - </a:t>
            </a:r>
            <a:r>
              <a:rPr lang="cs-CZ" dirty="0" err="1"/>
              <a:t>Demographics</a:t>
            </a:r>
            <a:endParaRPr lang="cs-CZ" dirty="0"/>
          </a:p>
        </p:txBody>
      </p:sp>
      <p:sp>
        <p:nvSpPr>
          <p:cNvPr id="6" name="TextovéPole 5">
            <a:extLst>
              <a:ext uri="{FF2B5EF4-FFF2-40B4-BE49-F238E27FC236}">
                <a16:creationId xmlns:a16="http://schemas.microsoft.com/office/drawing/2014/main" id="{1C00AE27-859E-664D-0449-67C2D759E581}"/>
              </a:ext>
            </a:extLst>
          </p:cNvPr>
          <p:cNvSpPr txBox="1"/>
          <p:nvPr/>
        </p:nvSpPr>
        <p:spPr>
          <a:xfrm>
            <a:off x="391886" y="1789967"/>
            <a:ext cx="8123464" cy="3908762"/>
          </a:xfrm>
          <a:prstGeom prst="rect">
            <a:avLst/>
          </a:prstGeom>
          <a:noFill/>
        </p:spPr>
        <p:txBody>
          <a:bodyPr wrap="square" rtlCol="0">
            <a:spAutoFit/>
          </a:bodyPr>
          <a:lstStyle/>
          <a:p>
            <a:pPr marL="285750" indent="-285750">
              <a:buFont typeface="Arial" panose="020B0604020202020204" pitchFamily="34" charset="0"/>
              <a:buChar char="•"/>
            </a:pPr>
            <a:r>
              <a:rPr lang="cs-CZ" sz="2800" b="1" dirty="0"/>
              <a:t>Zjištění: </a:t>
            </a:r>
          </a:p>
          <a:p>
            <a:pPr marL="285750" indent="-285750">
              <a:buFont typeface="Arial" panose="020B0604020202020204" pitchFamily="34" charset="0"/>
              <a:buChar char="•"/>
            </a:pPr>
            <a:r>
              <a:rPr lang="cs-CZ" sz="2000" dirty="0"/>
              <a:t>Mapa jasně ukazuje dvě hlavní ohniska s nejvyšší úmrtností na 100 tisíc obyvatel (velké fialové bubliny):Severovýchod USA (</a:t>
            </a:r>
            <a:r>
              <a:rPr lang="cs-CZ" sz="2000" dirty="0" err="1"/>
              <a:t>Northeast</a:t>
            </a:r>
            <a:r>
              <a:rPr lang="cs-CZ" sz="2000" dirty="0"/>
              <a:t>): Státy jako New York (uveden jako stát s nejvíce úmrtími), New Jersey, </a:t>
            </a:r>
            <a:r>
              <a:rPr lang="cs-CZ" sz="2000" dirty="0" err="1"/>
              <a:t>Massachusetts.Jih</a:t>
            </a:r>
            <a:r>
              <a:rPr lang="cs-CZ" sz="2000" dirty="0"/>
              <a:t> USA (</a:t>
            </a:r>
            <a:r>
              <a:rPr lang="cs-CZ" sz="2000" dirty="0" err="1"/>
              <a:t>Deep</a:t>
            </a:r>
            <a:r>
              <a:rPr lang="cs-CZ" sz="2000" dirty="0"/>
              <a:t> </a:t>
            </a:r>
            <a:r>
              <a:rPr lang="cs-CZ" sz="2000" dirty="0" err="1"/>
              <a:t>South</a:t>
            </a:r>
            <a:r>
              <a:rPr lang="cs-CZ" sz="2000" dirty="0"/>
              <a:t>): Státy jako Louisiana, Mississippi, Alabama, Georgia.</a:t>
            </a:r>
          </a:p>
          <a:p>
            <a:pPr marL="285750" indent="-285750">
              <a:buFont typeface="Arial" panose="020B0604020202020204" pitchFamily="34" charset="0"/>
              <a:buChar char="•"/>
            </a:pPr>
            <a:r>
              <a:rPr lang="cs-CZ" sz="2000" dirty="0"/>
              <a:t>Státy jako Mississippi, Louisiana nebo Georgia mají vyšší podíl černošské populace  ve srovnání se státy na pravé straně grafu (nižší úmrtnost), kde tato část téměř chybí.</a:t>
            </a:r>
          </a:p>
          <a:p>
            <a:pPr marL="285750" indent="-285750">
              <a:buFont typeface="Arial" panose="020B0604020202020204" pitchFamily="34" charset="0"/>
              <a:buChar char="•"/>
            </a:pPr>
            <a:r>
              <a:rPr lang="cs-CZ" sz="2000" dirty="0"/>
              <a:t>Rozdíly v úmrtnosti mezi státy (např. Connecticut vs. </a:t>
            </a:r>
            <a:r>
              <a:rPr lang="cs-CZ" sz="2000" dirty="0" err="1"/>
              <a:t>Alaska</a:t>
            </a:r>
            <a:r>
              <a:rPr lang="cs-CZ" sz="2000" dirty="0"/>
              <a:t>) nelze vysvětlit složením populace podle pohlaví, protože to je všude téměř stejné – má smysl až na úrovni </a:t>
            </a:r>
            <a:r>
              <a:rPr lang="cs-CZ" sz="2000" dirty="0" err="1"/>
              <a:t>counties</a:t>
            </a:r>
            <a:r>
              <a:rPr lang="cs-CZ" sz="2000" dirty="0"/>
              <a:t> (viz </a:t>
            </a:r>
            <a:r>
              <a:rPr lang="cs-CZ" sz="2000" dirty="0" err="1"/>
              <a:t>clevermienr</a:t>
            </a:r>
            <a:r>
              <a:rPr lang="cs-CZ" sz="2000" dirty="0"/>
              <a:t> později)</a:t>
            </a:r>
          </a:p>
        </p:txBody>
      </p:sp>
    </p:spTree>
    <p:extLst>
      <p:ext uri="{BB962C8B-B14F-4D97-AF65-F5344CB8AC3E}">
        <p14:creationId xmlns:p14="http://schemas.microsoft.com/office/powerpoint/2010/main" val="1368372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2C8E4-9B27-308D-6968-7B825FBDFB3B}"/>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041EA206-03A6-E673-C1E3-CD1EEA927FA5}"/>
              </a:ext>
            </a:extLst>
          </p:cNvPr>
          <p:cNvSpPr>
            <a:spLocks noGrp="1"/>
          </p:cNvSpPr>
          <p:nvPr>
            <p:ph type="title"/>
          </p:nvPr>
        </p:nvSpPr>
        <p:spPr>
          <a:xfrm>
            <a:off x="628650" y="1100016"/>
            <a:ext cx="7779544" cy="689952"/>
          </a:xfrm>
        </p:spPr>
        <p:txBody>
          <a:bodyPr anchor="t">
            <a:normAutofit/>
          </a:bodyPr>
          <a:lstStyle/>
          <a:p>
            <a:r>
              <a:rPr lang="cs-CZ" dirty="0"/>
              <a:t>Výsledný report – </a:t>
            </a:r>
            <a:r>
              <a:rPr lang="cs-CZ" dirty="0" err="1"/>
              <a:t>Poverty</a:t>
            </a:r>
            <a:r>
              <a:rPr lang="cs-CZ" dirty="0"/>
              <a:t> and </a:t>
            </a:r>
            <a:r>
              <a:rPr lang="cs-CZ" dirty="0" err="1"/>
              <a:t>income</a:t>
            </a:r>
            <a:endParaRPr lang="cs-CZ" dirty="0"/>
          </a:p>
        </p:txBody>
      </p:sp>
      <p:pic>
        <p:nvPicPr>
          <p:cNvPr id="3" name="Obrázek 2">
            <a:extLst>
              <a:ext uri="{FF2B5EF4-FFF2-40B4-BE49-F238E27FC236}">
                <a16:creationId xmlns:a16="http://schemas.microsoft.com/office/drawing/2014/main" id="{DB3F1788-D647-131A-4F93-02C2A2A0EDA3}"/>
              </a:ext>
            </a:extLst>
          </p:cNvPr>
          <p:cNvPicPr>
            <a:picLocks noChangeAspect="1"/>
          </p:cNvPicPr>
          <p:nvPr/>
        </p:nvPicPr>
        <p:blipFill>
          <a:blip r:embed="rId2"/>
          <a:stretch>
            <a:fillRect/>
          </a:stretch>
        </p:blipFill>
        <p:spPr>
          <a:xfrm>
            <a:off x="710482" y="1924055"/>
            <a:ext cx="7615880" cy="4493370"/>
          </a:xfrm>
          <a:prstGeom prst="rect">
            <a:avLst/>
          </a:prstGeom>
          <a:noFill/>
        </p:spPr>
      </p:pic>
    </p:spTree>
    <p:extLst>
      <p:ext uri="{BB962C8B-B14F-4D97-AF65-F5344CB8AC3E}">
        <p14:creationId xmlns:p14="http://schemas.microsoft.com/office/powerpoint/2010/main" val="324833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76431-BF8B-B5DC-5E08-BD31BBD56901}"/>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49EF9EE2-A144-A8BE-3049-50018FD8D760}"/>
              </a:ext>
            </a:extLst>
          </p:cNvPr>
          <p:cNvSpPr>
            <a:spLocks noGrp="1"/>
          </p:cNvSpPr>
          <p:nvPr>
            <p:ph type="title"/>
          </p:nvPr>
        </p:nvSpPr>
        <p:spPr>
          <a:xfrm>
            <a:off x="628650" y="1100016"/>
            <a:ext cx="7779544" cy="689952"/>
          </a:xfrm>
        </p:spPr>
        <p:txBody>
          <a:bodyPr anchor="t">
            <a:normAutofit/>
          </a:bodyPr>
          <a:lstStyle/>
          <a:p>
            <a:r>
              <a:rPr lang="cs-CZ" dirty="0"/>
              <a:t>Interpretace výsledků – </a:t>
            </a:r>
            <a:r>
              <a:rPr lang="cs-CZ" dirty="0" err="1"/>
              <a:t>Poverty</a:t>
            </a:r>
            <a:r>
              <a:rPr lang="cs-CZ" dirty="0"/>
              <a:t> and </a:t>
            </a:r>
            <a:r>
              <a:rPr lang="cs-CZ" dirty="0" err="1"/>
              <a:t>income</a:t>
            </a:r>
            <a:endParaRPr lang="cs-CZ" dirty="0"/>
          </a:p>
        </p:txBody>
      </p:sp>
      <p:sp>
        <p:nvSpPr>
          <p:cNvPr id="6" name="TextovéPole 5">
            <a:extLst>
              <a:ext uri="{FF2B5EF4-FFF2-40B4-BE49-F238E27FC236}">
                <a16:creationId xmlns:a16="http://schemas.microsoft.com/office/drawing/2014/main" id="{70E0C344-C585-5D56-660E-23C254A93614}"/>
              </a:ext>
            </a:extLst>
          </p:cNvPr>
          <p:cNvSpPr txBox="1"/>
          <p:nvPr/>
        </p:nvSpPr>
        <p:spPr>
          <a:xfrm>
            <a:off x="391886" y="1789967"/>
            <a:ext cx="8123464" cy="433965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s-CZ" sz="2400" b="1" i="0" u="none" strike="noStrike" kern="1200" cap="none" spc="0" normalizeH="0" baseline="0" noProof="0" dirty="0">
                <a:ln>
                  <a:noFill/>
                </a:ln>
                <a:solidFill>
                  <a:prstClr val="black"/>
                </a:solidFill>
                <a:effectLst/>
                <a:uLnTx/>
                <a:uFillTx/>
                <a:latin typeface="Calibri" panose="020F0502020204030204"/>
                <a:ea typeface="+mn-ea"/>
                <a:cs typeface="+mn-cs"/>
              </a:rPr>
              <a:t>Zjištění: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cs-CZ" dirty="0">
                <a:solidFill>
                  <a:prstClr val="black"/>
                </a:solidFill>
                <a:latin typeface="Calibri" panose="020F0502020204030204"/>
              </a:rPr>
              <a:t>Úmrtí převažují v </a:t>
            </a:r>
            <a:r>
              <a:rPr lang="cs-CZ" dirty="0" err="1">
                <a:solidFill>
                  <a:prstClr val="black"/>
                </a:solidFill>
                <a:latin typeface="Calibri" panose="020F0502020204030204"/>
              </a:rPr>
              <a:t>counties</a:t>
            </a:r>
            <a:r>
              <a:rPr lang="cs-CZ" dirty="0">
                <a:solidFill>
                  <a:prstClr val="black"/>
                </a:solidFill>
                <a:latin typeface="Calibri" panose="020F0502020204030204"/>
              </a:rPr>
              <a:t>, které mají vysokou úroveň chudoby.</a:t>
            </a:r>
            <a:endParaRPr kumimoji="0" lang="cs-CZ"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Arial" panose="020B0604020202020204" pitchFamily="34" charset="0"/>
              <a:buChar char="•"/>
            </a:pPr>
            <a:r>
              <a:rPr lang="cs-CZ" dirty="0"/>
              <a:t>Zatímco první vlna (jaro 2020) byla šokem, skutečná exploze nákazy přišla až na konci roku (listopad/prosinec).</a:t>
            </a:r>
          </a:p>
          <a:p>
            <a:pPr marL="285750" lvl="0" indent="-285750">
              <a:buFont typeface="Arial" panose="020B0604020202020204" pitchFamily="34" charset="0"/>
              <a:buChar char="•"/>
            </a:pPr>
            <a:r>
              <a:rPr lang="cs-CZ" dirty="0"/>
              <a:t>Neplatí, že čím více lidí ve státě žije, tím vyšší je míra úmrtnosti (přepočteno na 100k). Jsou tam malé státy s vysokou úmrtností i velké státy s nízkou.</a:t>
            </a:r>
          </a:p>
          <a:p>
            <a:pPr marL="285750" lvl="0" indent="-285750">
              <a:buFont typeface="Arial" panose="020B0604020202020204" pitchFamily="34" charset="0"/>
              <a:buChar char="•"/>
            </a:pPr>
            <a:r>
              <a:rPr lang="cs-CZ" dirty="0" err="1"/>
              <a:t>Pradox</a:t>
            </a:r>
            <a:r>
              <a:rPr lang="cs-CZ" dirty="0"/>
              <a:t> mezi </a:t>
            </a:r>
            <a:r>
              <a:rPr lang="cs-CZ" dirty="0" err="1"/>
              <a:t>median</a:t>
            </a:r>
            <a:r>
              <a:rPr lang="cs-CZ" dirty="0"/>
              <a:t> </a:t>
            </a:r>
            <a:r>
              <a:rPr lang="cs-CZ" dirty="0" err="1"/>
              <a:t>income</a:t>
            </a:r>
            <a:r>
              <a:rPr lang="cs-CZ" dirty="0"/>
              <a:t> a úmrtností: </a:t>
            </a:r>
          </a:p>
          <a:p>
            <a:pPr marL="742950" lvl="1" indent="-285750">
              <a:buFont typeface="Arial" panose="020B0604020202020204" pitchFamily="34" charset="0"/>
              <a:buChar char="•"/>
            </a:pPr>
            <a:r>
              <a:rPr lang="cs-CZ" dirty="0"/>
              <a:t>Vysokou úmrtnost mají jak velmi bohaté státy (New Jersey, Massachusetts), tak chudší státy dále vpravo (Louisiana, Mississippi).</a:t>
            </a:r>
          </a:p>
          <a:p>
            <a:pPr marL="1200150" lvl="2" indent="-285750">
              <a:buFont typeface="Arial" panose="020B0604020202020204" pitchFamily="34" charset="0"/>
              <a:buChar char="•"/>
            </a:pPr>
            <a:r>
              <a:rPr lang="cs-CZ" b="1" dirty="0"/>
              <a:t>Důvod:</a:t>
            </a:r>
          </a:p>
          <a:p>
            <a:pPr marL="1200150" lvl="2" indent="-285750">
              <a:buFont typeface="Arial" panose="020B0604020202020204" pitchFamily="34" charset="0"/>
              <a:buChar char="•"/>
            </a:pPr>
            <a:r>
              <a:rPr lang="cs-CZ" dirty="0"/>
              <a:t>Bohaté státy (Severovýchod): Byly zasaženy jako první kvůli mezinárodnímu cestování a extrémní hustotě zalidnění (New York).</a:t>
            </a:r>
          </a:p>
          <a:p>
            <a:pPr marL="1200150" lvl="2" indent="-285750">
              <a:buFont typeface="Arial" panose="020B0604020202020204" pitchFamily="34" charset="0"/>
              <a:buChar char="•"/>
            </a:pPr>
            <a:r>
              <a:rPr lang="cs-CZ" dirty="0"/>
              <a:t>Chudé státy (Jih): Byly zasaženy později kvůli faktorům, které jsme viděli ve stromu (chudoba, zdravotní stav, rasa).To ukazuje, že virus si našel cestu dvěma kanály: přes mobilitu (bohatí) a přes zranitelnost (chudí).</a:t>
            </a:r>
          </a:p>
        </p:txBody>
      </p:sp>
    </p:spTree>
    <p:extLst>
      <p:ext uri="{BB962C8B-B14F-4D97-AF65-F5344CB8AC3E}">
        <p14:creationId xmlns:p14="http://schemas.microsoft.com/office/powerpoint/2010/main" val="1582384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B9F92-C6A5-52D1-DBD4-A89E3949ECFD}"/>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9209FFA9-43FA-A8B7-174B-1184125633B2}"/>
              </a:ext>
            </a:extLst>
          </p:cNvPr>
          <p:cNvSpPr>
            <a:spLocks noGrp="1"/>
          </p:cNvSpPr>
          <p:nvPr>
            <p:ph type="title"/>
          </p:nvPr>
        </p:nvSpPr>
        <p:spPr>
          <a:xfrm>
            <a:off x="628650" y="1100016"/>
            <a:ext cx="7779544" cy="689952"/>
          </a:xfrm>
        </p:spPr>
        <p:txBody>
          <a:bodyPr anchor="t">
            <a:normAutofit/>
          </a:bodyPr>
          <a:lstStyle/>
          <a:p>
            <a:r>
              <a:rPr lang="cs-CZ" dirty="0"/>
              <a:t>Výsledný report – </a:t>
            </a:r>
            <a:r>
              <a:rPr lang="cs-CZ" dirty="0" err="1"/>
              <a:t>deaths</a:t>
            </a:r>
            <a:r>
              <a:rPr lang="cs-CZ" dirty="0"/>
              <a:t> and </a:t>
            </a:r>
            <a:r>
              <a:rPr lang="cs-CZ" dirty="0" err="1"/>
              <a:t>cases</a:t>
            </a:r>
            <a:endParaRPr lang="cs-CZ" dirty="0"/>
          </a:p>
        </p:txBody>
      </p:sp>
      <p:pic>
        <p:nvPicPr>
          <p:cNvPr id="4" name="Obrázek 3">
            <a:extLst>
              <a:ext uri="{FF2B5EF4-FFF2-40B4-BE49-F238E27FC236}">
                <a16:creationId xmlns:a16="http://schemas.microsoft.com/office/drawing/2014/main" id="{6ABA9700-2806-E7A0-B068-0A1CE39791E2}"/>
              </a:ext>
            </a:extLst>
          </p:cNvPr>
          <p:cNvPicPr>
            <a:picLocks noChangeAspect="1"/>
          </p:cNvPicPr>
          <p:nvPr/>
        </p:nvPicPr>
        <p:blipFill>
          <a:blip r:embed="rId2"/>
          <a:stretch>
            <a:fillRect/>
          </a:stretch>
        </p:blipFill>
        <p:spPr>
          <a:xfrm>
            <a:off x="628650" y="1982744"/>
            <a:ext cx="7779544" cy="4375992"/>
          </a:xfrm>
          <a:prstGeom prst="rect">
            <a:avLst/>
          </a:prstGeom>
          <a:noFill/>
        </p:spPr>
      </p:pic>
    </p:spTree>
    <p:extLst>
      <p:ext uri="{BB962C8B-B14F-4D97-AF65-F5344CB8AC3E}">
        <p14:creationId xmlns:p14="http://schemas.microsoft.com/office/powerpoint/2010/main" val="32295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B6F36-02CB-8534-EC67-02698ECF2108}"/>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A4A46723-3E4C-877D-3564-FD33F29789FF}"/>
              </a:ext>
            </a:extLst>
          </p:cNvPr>
          <p:cNvSpPr>
            <a:spLocks noGrp="1"/>
          </p:cNvSpPr>
          <p:nvPr>
            <p:ph type="title"/>
          </p:nvPr>
        </p:nvSpPr>
        <p:spPr>
          <a:xfrm>
            <a:off x="628650" y="1100016"/>
            <a:ext cx="7779544" cy="689952"/>
          </a:xfrm>
        </p:spPr>
        <p:txBody>
          <a:bodyPr anchor="t">
            <a:normAutofit/>
          </a:bodyPr>
          <a:lstStyle/>
          <a:p>
            <a:r>
              <a:rPr lang="cs-CZ" dirty="0"/>
              <a:t>Interpretace výsledků </a:t>
            </a:r>
            <a:r>
              <a:rPr lang="cs-CZ" dirty="0" err="1"/>
              <a:t>Deaths</a:t>
            </a:r>
            <a:r>
              <a:rPr lang="cs-CZ" dirty="0"/>
              <a:t> and </a:t>
            </a:r>
            <a:r>
              <a:rPr lang="cs-CZ" dirty="0" err="1"/>
              <a:t>cases</a:t>
            </a:r>
            <a:endParaRPr lang="cs-CZ" dirty="0"/>
          </a:p>
        </p:txBody>
      </p:sp>
      <p:sp>
        <p:nvSpPr>
          <p:cNvPr id="6" name="TextovéPole 5">
            <a:extLst>
              <a:ext uri="{FF2B5EF4-FFF2-40B4-BE49-F238E27FC236}">
                <a16:creationId xmlns:a16="http://schemas.microsoft.com/office/drawing/2014/main" id="{DB33644D-E400-F1C9-336E-C177018E76EC}"/>
              </a:ext>
            </a:extLst>
          </p:cNvPr>
          <p:cNvSpPr txBox="1"/>
          <p:nvPr/>
        </p:nvSpPr>
        <p:spPr>
          <a:xfrm>
            <a:off x="391886" y="1789967"/>
            <a:ext cx="8123464" cy="4708981"/>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s-CZ" sz="2000" b="1" i="0" u="none" strike="noStrike" kern="1200" cap="none" spc="0" normalizeH="0" baseline="0" noProof="0" dirty="0">
                <a:ln>
                  <a:noFill/>
                </a:ln>
                <a:solidFill>
                  <a:prstClr val="black"/>
                </a:solidFill>
                <a:effectLst/>
                <a:uLnTx/>
                <a:uFillTx/>
                <a:latin typeface="Calibri" panose="020F0502020204030204"/>
                <a:ea typeface="+mn-ea"/>
                <a:cs typeface="+mn-cs"/>
              </a:rPr>
              <a:t>Zjištění: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s-CZ" sz="2000" i="0" u="none" strike="noStrike" kern="1200" cap="none" spc="0" normalizeH="0" baseline="0" noProof="0" dirty="0">
                <a:ln>
                  <a:noFill/>
                </a:ln>
                <a:solidFill>
                  <a:prstClr val="black"/>
                </a:solidFill>
                <a:effectLst/>
                <a:uLnTx/>
                <a:uFillTx/>
                <a:latin typeface="Calibri" panose="020F0502020204030204"/>
                <a:ea typeface="+mn-ea"/>
                <a:cs typeface="+mn-cs"/>
              </a:rPr>
              <a:t>Nejvyšší smrtnost (CFR % - vlevo nahoře): Státy na severovýchodě USA, jako jsou New Jersey, Massachusetts a Connecticut, měly nejvyšší procento úmrtí na počet nakažených (CFR se blíží 5 %). To je pravděpodobně dáno tím, že byly zasaženy v první vlně, kdy nebyla dostupná efektivní léčba a nemocnice byly </a:t>
            </a:r>
            <a:r>
              <a:rPr kumimoji="0" lang="cs-CZ" sz="2000" i="0" u="none" strike="noStrike" kern="1200" cap="none" spc="0" normalizeH="0" baseline="0" noProof="0" dirty="0" err="1">
                <a:ln>
                  <a:noFill/>
                </a:ln>
                <a:solidFill>
                  <a:prstClr val="black"/>
                </a:solidFill>
                <a:effectLst/>
                <a:uLnTx/>
                <a:uFillTx/>
                <a:latin typeface="Calibri" panose="020F0502020204030204"/>
                <a:ea typeface="+mn-ea"/>
                <a:cs typeface="+mn-cs"/>
              </a:rPr>
              <a:t>přetížené.Nejvíce</a:t>
            </a:r>
            <a:r>
              <a:rPr kumimoji="0" lang="cs-CZ" sz="2000" i="0" u="none" strike="noStrike" kern="1200" cap="none" spc="0" normalizeH="0" baseline="0" noProof="0" dirty="0">
                <a:ln>
                  <a:noFill/>
                </a:ln>
                <a:solidFill>
                  <a:prstClr val="black"/>
                </a:solidFill>
                <a:effectLst/>
                <a:uLnTx/>
                <a:uFillTx/>
                <a:latin typeface="Calibri" panose="020F0502020204030204"/>
                <a:ea typeface="+mn-ea"/>
                <a:cs typeface="+mn-cs"/>
              </a:rPr>
              <a:t> mrtvých celkem (</a:t>
            </a:r>
            <a:r>
              <a:rPr kumimoji="0" lang="cs-CZ" sz="2000" i="0" u="none" strike="noStrike" kern="1200" cap="none" spc="0" normalizeH="0" baseline="0" noProof="0" dirty="0" err="1">
                <a:ln>
                  <a:noFill/>
                </a:ln>
                <a:solidFill>
                  <a:prstClr val="black"/>
                </a:solidFill>
                <a:effectLst/>
                <a:uLnTx/>
                <a:uFillTx/>
                <a:latin typeface="Calibri" panose="020F0502020204030204"/>
                <a:ea typeface="+mn-ea"/>
                <a:cs typeface="+mn-cs"/>
              </a:rPr>
              <a:t>Total</a:t>
            </a:r>
            <a:r>
              <a:rPr kumimoji="0" lang="cs-CZ" sz="200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cs-CZ" sz="2000" i="0" u="none" strike="noStrike" kern="1200" cap="none" spc="0" normalizeH="0" baseline="0" noProof="0" dirty="0" err="1">
                <a:ln>
                  <a:noFill/>
                </a:ln>
                <a:solidFill>
                  <a:prstClr val="black"/>
                </a:solidFill>
                <a:effectLst/>
                <a:uLnTx/>
                <a:uFillTx/>
                <a:latin typeface="Calibri" panose="020F0502020204030204"/>
                <a:ea typeface="+mn-ea"/>
                <a:cs typeface="+mn-cs"/>
              </a:rPr>
              <a:t>Deaths</a:t>
            </a:r>
            <a:r>
              <a:rPr kumimoji="0" lang="cs-CZ" sz="2000" i="0" u="none" strike="noStrike" kern="1200" cap="none" spc="0" normalizeH="0" baseline="0" noProof="0" dirty="0">
                <a:ln>
                  <a:noFill/>
                </a:ln>
                <a:solidFill>
                  <a:prstClr val="black"/>
                </a:solidFill>
                <a:effectLst/>
                <a:uLnTx/>
                <a:uFillTx/>
                <a:latin typeface="Calibri" panose="020F0502020204030204"/>
                <a:ea typeface="+mn-ea"/>
                <a:cs typeface="+mn-cs"/>
              </a:rPr>
              <a:t> - vlevo dole): V absolutních číslech vedou lidnaté státy jako Texas, Kalifornie a Florida. Zde hrála roli prostá velikost populace, i když procentuální šance na přežití zde byla vyšší než v New Jersey.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s-CZ" sz="2000" i="0" u="none" strike="noStrike" kern="1200" cap="none" spc="0" normalizeH="0" baseline="0" noProof="0" dirty="0">
                <a:ln>
                  <a:noFill/>
                </a:ln>
                <a:solidFill>
                  <a:prstClr val="black"/>
                </a:solidFill>
                <a:effectLst/>
                <a:uLnTx/>
                <a:uFillTx/>
                <a:latin typeface="Calibri" panose="020F0502020204030204"/>
                <a:ea typeface="+mn-ea"/>
                <a:cs typeface="+mn-cs"/>
              </a:rPr>
              <a:t>Černá křivka (případy) ukazuje, že po klidnějším létě přišel extrémní nárůst případů v listopadu a </a:t>
            </a:r>
            <a:r>
              <a:rPr kumimoji="0" lang="cs-CZ" sz="2000" i="0" u="none" strike="noStrike" kern="1200" cap="none" spc="0" normalizeH="0" baseline="0" noProof="0" dirty="0" err="1">
                <a:ln>
                  <a:noFill/>
                </a:ln>
                <a:solidFill>
                  <a:prstClr val="black"/>
                </a:solidFill>
                <a:effectLst/>
                <a:uLnTx/>
                <a:uFillTx/>
                <a:latin typeface="Calibri" panose="020F0502020204030204"/>
                <a:ea typeface="+mn-ea"/>
                <a:cs typeface="+mn-cs"/>
              </a:rPr>
              <a:t>prosinci.Tato</a:t>
            </a:r>
            <a:r>
              <a:rPr kumimoji="0" lang="cs-CZ" sz="2000" i="0" u="none" strike="noStrike" kern="1200" cap="none" spc="0" normalizeH="0" baseline="0" noProof="0" dirty="0">
                <a:ln>
                  <a:noFill/>
                </a:ln>
                <a:solidFill>
                  <a:prstClr val="black"/>
                </a:solidFill>
                <a:effectLst/>
                <a:uLnTx/>
                <a:uFillTx/>
                <a:latin typeface="Calibri" panose="020F0502020204030204"/>
                <a:ea typeface="+mn-ea"/>
                <a:cs typeface="+mn-cs"/>
              </a:rPr>
              <a:t> "zimní vlna" koreluje s grafem z předchozího dashboardu a potvrzuje, že konec roku 2020 byl z hlediska šíření viru nejkritičtějším obdobím.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cs-CZ" sz="20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107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64DF9-FC15-F1D4-6E46-3AA0267C5E68}"/>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457C71D1-316F-D7FD-10C1-8BEA70F3763E}"/>
              </a:ext>
            </a:extLst>
          </p:cNvPr>
          <p:cNvSpPr>
            <a:spLocks noGrp="1"/>
          </p:cNvSpPr>
          <p:nvPr>
            <p:ph type="title"/>
          </p:nvPr>
        </p:nvSpPr>
        <p:spPr/>
        <p:txBody>
          <a:bodyPr>
            <a:normAutofit fontScale="90000"/>
          </a:bodyPr>
          <a:lstStyle/>
          <a:p>
            <a:r>
              <a:rPr lang="cs-CZ" dirty="0">
                <a:latin typeface="Arial"/>
                <a:cs typeface="Arial"/>
              </a:rPr>
              <a:t>Problémy při návrhu procesu zpracování dat 1/2</a:t>
            </a:r>
            <a:endParaRPr lang="cs-CZ" dirty="0"/>
          </a:p>
        </p:txBody>
      </p:sp>
      <p:sp>
        <p:nvSpPr>
          <p:cNvPr id="5" name="Zástupný obsah 2">
            <a:extLst>
              <a:ext uri="{FF2B5EF4-FFF2-40B4-BE49-F238E27FC236}">
                <a16:creationId xmlns:a16="http://schemas.microsoft.com/office/drawing/2014/main" id="{17563395-3332-0B03-CDA8-8995C28B598B}"/>
              </a:ext>
            </a:extLst>
          </p:cNvPr>
          <p:cNvSpPr>
            <a:spLocks noGrp="1"/>
          </p:cNvSpPr>
          <p:nvPr>
            <p:ph idx="1"/>
          </p:nvPr>
        </p:nvSpPr>
        <p:spPr>
          <a:xfrm>
            <a:off x="525780" y="1789968"/>
            <a:ext cx="7882414" cy="4627457"/>
          </a:xfrm>
        </p:spPr>
        <p:txBody>
          <a:bodyPr vert="horz" lIns="91440" tIns="45720" rIns="91440" bIns="45720" rtlCol="0" anchor="t">
            <a:noAutofit/>
          </a:bodyPr>
          <a:lstStyle/>
          <a:p>
            <a:pPr marL="170815" indent="-170815"/>
            <a:r>
              <a:rPr lang="cs-CZ" sz="2400" b="1" dirty="0">
                <a:latin typeface="Arial"/>
                <a:cs typeface="Arial"/>
              </a:rPr>
              <a:t>Nekonzistentní formáty názvů FIPS</a:t>
            </a:r>
          </a:p>
          <a:p>
            <a:r>
              <a:rPr lang="cs-CZ" dirty="0"/>
              <a:t>Jedním z nejzásadnějších problémů byla nejednotnost formátů klíčového atributu FIPS, který slouží k propojení zdravotních dat s demografickými.</a:t>
            </a:r>
          </a:p>
          <a:p>
            <a:r>
              <a:rPr lang="cs-CZ" b="1" dirty="0"/>
              <a:t>Problém:</a:t>
            </a:r>
            <a:r>
              <a:rPr lang="cs-CZ" dirty="0"/>
              <a:t> Zdrojové CSV soubory obsahovaly FIPS kódy v různých datových typech. V některých případech šlo o textové řetězce s vodícími nulami (např. "01001"), zatímco v jiných o celá čísla (1001). To znemožňovalo přímé spojení tabulek (JOIN).</a:t>
            </a:r>
          </a:p>
          <a:p>
            <a:r>
              <a:rPr lang="cs-CZ" b="1" dirty="0"/>
              <a:t>Řešení:</a:t>
            </a:r>
            <a:r>
              <a:rPr lang="cs-CZ" dirty="0"/>
              <a:t> Byla provedena standardizace v SQL vrstvě (přetypování na </a:t>
            </a:r>
            <a:r>
              <a:rPr lang="cs-CZ" dirty="0" err="1"/>
              <a:t>string</a:t>
            </a:r>
            <a:r>
              <a:rPr lang="cs-CZ" dirty="0"/>
              <a:t>), čímž se sjednotil formát klíčů napříč všemi </a:t>
            </a:r>
            <a:r>
              <a:rPr lang="cs-CZ" dirty="0" err="1"/>
              <a:t>datasety</a:t>
            </a:r>
            <a:r>
              <a:rPr lang="cs-CZ" dirty="0"/>
              <a:t> + formát byl vždy pětičíselný</a:t>
            </a:r>
          </a:p>
          <a:p>
            <a:pPr marL="513715" lvl="1" indent="-170815">
              <a:buFont typeface="Courier New" panose="020B0604020202020204" pitchFamily="34" charset="0"/>
              <a:buChar char="o"/>
            </a:pPr>
            <a:endParaRPr lang="cs-CZ" sz="1600" dirty="0"/>
          </a:p>
          <a:p>
            <a:pPr marL="513715" lvl="1" indent="-170815">
              <a:buFont typeface="Courier New" panose="020B0604020202020204" pitchFamily="34" charset="0"/>
              <a:buChar char="o"/>
            </a:pPr>
            <a:endParaRPr lang="cs-CZ" sz="1600" dirty="0"/>
          </a:p>
          <a:p>
            <a:pPr marL="513715" lvl="1" indent="-170815">
              <a:buFont typeface="Courier New" panose="020B0604020202020204" pitchFamily="34" charset="0"/>
              <a:buChar char="o"/>
            </a:pPr>
            <a:endParaRPr lang="cs-CZ" sz="1600" dirty="0"/>
          </a:p>
          <a:p>
            <a:pPr marL="513715" lvl="1" indent="-170815">
              <a:buFont typeface="Courier New" panose="020B0604020202020204" pitchFamily="34" charset="0"/>
              <a:buChar char="o"/>
            </a:pPr>
            <a:endParaRPr lang="cs-CZ" sz="1600" dirty="0"/>
          </a:p>
          <a:p>
            <a:pPr marL="856615" lvl="2" indent="-170815">
              <a:buFont typeface="Wingdings" panose="020B0604020202020204" pitchFamily="34" charset="0"/>
              <a:buChar char="§"/>
            </a:pPr>
            <a:endParaRPr lang="cs-CZ" sz="1300" dirty="0"/>
          </a:p>
          <a:p>
            <a:pPr marL="513715" lvl="1" indent="-170815">
              <a:buFont typeface="Courier New" panose="020B0604020202020204" pitchFamily="34" charset="0"/>
              <a:buChar char="o"/>
            </a:pPr>
            <a:endParaRPr lang="cs-CZ" sz="2100" dirty="0"/>
          </a:p>
          <a:p>
            <a:pPr marL="170815" indent="-170815"/>
            <a:endParaRPr lang="cs-CZ" sz="2400" b="1" dirty="0"/>
          </a:p>
          <a:p>
            <a:pPr marL="170815" indent="-170815"/>
            <a:endParaRPr lang="cs-CZ" sz="2400" b="1" dirty="0"/>
          </a:p>
        </p:txBody>
      </p:sp>
    </p:spTree>
    <p:extLst>
      <p:ext uri="{BB962C8B-B14F-4D97-AF65-F5344CB8AC3E}">
        <p14:creationId xmlns:p14="http://schemas.microsoft.com/office/powerpoint/2010/main" val="112781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793D0-993C-7B40-3908-BE5C0050BAB4}"/>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212C3FA9-8E4C-F117-F754-7F8D0A70F0CD}"/>
              </a:ext>
            </a:extLst>
          </p:cNvPr>
          <p:cNvSpPr>
            <a:spLocks noGrp="1"/>
          </p:cNvSpPr>
          <p:nvPr>
            <p:ph type="title"/>
          </p:nvPr>
        </p:nvSpPr>
        <p:spPr/>
        <p:txBody>
          <a:bodyPr>
            <a:normAutofit fontScale="90000"/>
          </a:bodyPr>
          <a:lstStyle/>
          <a:p>
            <a:r>
              <a:rPr lang="cs-CZ" dirty="0">
                <a:latin typeface="Arial"/>
                <a:cs typeface="Arial"/>
              </a:rPr>
              <a:t>Problémy při návrhu procesu zpracování dat 2/2</a:t>
            </a:r>
            <a:endParaRPr lang="cs-CZ" dirty="0"/>
          </a:p>
        </p:txBody>
      </p:sp>
      <p:sp>
        <p:nvSpPr>
          <p:cNvPr id="5" name="Zástupný obsah 2">
            <a:extLst>
              <a:ext uri="{FF2B5EF4-FFF2-40B4-BE49-F238E27FC236}">
                <a16:creationId xmlns:a16="http://schemas.microsoft.com/office/drawing/2014/main" id="{A7A7414C-9949-5028-D2B2-3B45DB49DC06}"/>
              </a:ext>
            </a:extLst>
          </p:cNvPr>
          <p:cNvSpPr>
            <a:spLocks noGrp="1"/>
          </p:cNvSpPr>
          <p:nvPr>
            <p:ph idx="1"/>
          </p:nvPr>
        </p:nvSpPr>
        <p:spPr>
          <a:xfrm>
            <a:off x="525780" y="1789968"/>
            <a:ext cx="7882414" cy="4627457"/>
          </a:xfrm>
        </p:spPr>
        <p:txBody>
          <a:bodyPr vert="horz" lIns="91440" tIns="45720" rIns="91440" bIns="45720" rtlCol="0" anchor="t">
            <a:noAutofit/>
          </a:bodyPr>
          <a:lstStyle/>
          <a:p>
            <a:r>
              <a:rPr lang="cs-CZ" sz="2400" b="1" dirty="0"/>
              <a:t>Kumulativní povaha časových řad</a:t>
            </a:r>
          </a:p>
          <a:p>
            <a:r>
              <a:rPr lang="cs-CZ" sz="2400" dirty="0"/>
              <a:t>Zdrojová data o nákaze a úmrtích (</a:t>
            </a:r>
            <a:r>
              <a:rPr lang="cs-CZ" dirty="0" err="1"/>
              <a:t>cases</a:t>
            </a:r>
            <a:r>
              <a:rPr lang="cs-CZ" sz="2400" dirty="0"/>
              <a:t>, </a:t>
            </a:r>
            <a:r>
              <a:rPr lang="cs-CZ" dirty="0" err="1"/>
              <a:t>deaths</a:t>
            </a:r>
            <a:r>
              <a:rPr lang="cs-CZ" sz="2400" dirty="0"/>
              <a:t>) jsou vedena jako kumulativní součty, což představovalo riziko pro agregaci.</a:t>
            </a:r>
          </a:p>
          <a:p>
            <a:r>
              <a:rPr lang="cs-CZ" sz="2400" b="1" dirty="0"/>
              <a:t>Problém:</a:t>
            </a:r>
            <a:r>
              <a:rPr lang="cs-CZ" sz="2400" dirty="0"/>
              <a:t> Standardní funkce </a:t>
            </a:r>
            <a:r>
              <a:rPr lang="cs-CZ" dirty="0"/>
              <a:t>SUM</a:t>
            </a:r>
            <a:r>
              <a:rPr lang="cs-CZ" sz="2400" dirty="0"/>
              <a:t> v </a:t>
            </a:r>
            <a:r>
              <a:rPr lang="cs-CZ" sz="2400" dirty="0" err="1"/>
              <a:t>Power</a:t>
            </a:r>
            <a:r>
              <a:rPr lang="cs-CZ" sz="2400" dirty="0"/>
              <a:t> BI by při agregaci přes časové období (např. měsíc) sečetla již kumulované hodnoty, což by vedlo k extrémnímu nadhodnocení výsledků (násobení chyb).</a:t>
            </a:r>
          </a:p>
          <a:p>
            <a:r>
              <a:rPr lang="cs-CZ" sz="2400" b="1" dirty="0"/>
              <a:t>Řešení:</a:t>
            </a:r>
            <a:r>
              <a:rPr lang="cs-CZ" sz="2400" dirty="0"/>
              <a:t> Vytvoření pokročilé logiky v jazyce DAX, která pro výpočet stavu využívá funkci </a:t>
            </a:r>
            <a:r>
              <a:rPr lang="cs-CZ" dirty="0"/>
              <a:t>MAX</a:t>
            </a:r>
            <a:r>
              <a:rPr lang="cs-CZ" sz="2400" dirty="0"/>
              <a:t> (hledání konečné hodnoty) a pro výpočet přírůstků logiku </a:t>
            </a:r>
            <a:r>
              <a:rPr lang="cs-CZ" dirty="0"/>
              <a:t>MAX - MIN</a:t>
            </a:r>
            <a:r>
              <a:rPr lang="cs-CZ" sz="2400" dirty="0"/>
              <a:t> v rámci vybraného období.</a:t>
            </a:r>
          </a:p>
          <a:p>
            <a:pPr marL="513715" lvl="1" indent="-170815">
              <a:buFont typeface="Courier New" panose="020B0604020202020204" pitchFamily="34" charset="0"/>
              <a:buChar char="o"/>
            </a:pPr>
            <a:endParaRPr lang="cs-CZ" sz="1600" dirty="0"/>
          </a:p>
          <a:p>
            <a:pPr marL="513715" lvl="1" indent="-170815">
              <a:buFont typeface="Courier New" panose="020B0604020202020204" pitchFamily="34" charset="0"/>
              <a:buChar char="o"/>
            </a:pPr>
            <a:endParaRPr lang="cs-CZ" sz="1600" dirty="0"/>
          </a:p>
          <a:p>
            <a:pPr marL="513715" lvl="1" indent="-170815">
              <a:buFont typeface="Courier New" panose="020B0604020202020204" pitchFamily="34" charset="0"/>
              <a:buChar char="o"/>
            </a:pPr>
            <a:endParaRPr lang="cs-CZ" sz="1600" dirty="0"/>
          </a:p>
          <a:p>
            <a:pPr marL="513715" lvl="1" indent="-170815">
              <a:buFont typeface="Courier New" panose="020B0604020202020204" pitchFamily="34" charset="0"/>
              <a:buChar char="o"/>
            </a:pPr>
            <a:endParaRPr lang="cs-CZ" sz="1600" dirty="0"/>
          </a:p>
          <a:p>
            <a:pPr marL="856615" lvl="2" indent="-170815">
              <a:buFont typeface="Wingdings" panose="020B0604020202020204" pitchFamily="34" charset="0"/>
              <a:buChar char="§"/>
            </a:pPr>
            <a:endParaRPr lang="cs-CZ" sz="1300" dirty="0"/>
          </a:p>
          <a:p>
            <a:pPr marL="513715" lvl="1" indent="-170815">
              <a:buFont typeface="Courier New" panose="020B0604020202020204" pitchFamily="34" charset="0"/>
              <a:buChar char="o"/>
            </a:pPr>
            <a:endParaRPr lang="cs-CZ" sz="2100" dirty="0"/>
          </a:p>
          <a:p>
            <a:pPr marL="170815" indent="-170815"/>
            <a:endParaRPr lang="cs-CZ" sz="2400" b="1" dirty="0"/>
          </a:p>
          <a:p>
            <a:pPr marL="170815" indent="-170815"/>
            <a:endParaRPr lang="cs-CZ" sz="2400" b="1" dirty="0"/>
          </a:p>
        </p:txBody>
      </p:sp>
    </p:spTree>
    <p:extLst>
      <p:ext uri="{BB962C8B-B14F-4D97-AF65-F5344CB8AC3E}">
        <p14:creationId xmlns:p14="http://schemas.microsoft.com/office/powerpoint/2010/main" val="1704218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8CFCE-4A9C-D65B-B316-0AAA3C4697E0}"/>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D0EF09D3-58E3-4E8F-C3C4-EC0AED039202}"/>
              </a:ext>
            </a:extLst>
          </p:cNvPr>
          <p:cNvSpPr>
            <a:spLocks noGrp="1"/>
          </p:cNvSpPr>
          <p:nvPr>
            <p:ph type="title"/>
          </p:nvPr>
        </p:nvSpPr>
        <p:spPr>
          <a:xfrm>
            <a:off x="0" y="2462285"/>
            <a:ext cx="9144000" cy="2884156"/>
          </a:xfrm>
        </p:spPr>
        <p:txBody>
          <a:bodyPr>
            <a:normAutofit/>
          </a:bodyPr>
          <a:lstStyle/>
          <a:p>
            <a:pPr algn="ctr"/>
            <a:r>
              <a:rPr lang="cs-CZ" sz="7200" dirty="0" err="1"/>
              <a:t>CleverMiner</a:t>
            </a:r>
            <a:r>
              <a:rPr lang="cs-CZ" sz="7200" dirty="0"/>
              <a:t> část</a:t>
            </a:r>
          </a:p>
        </p:txBody>
      </p:sp>
    </p:spTree>
    <p:extLst>
      <p:ext uri="{BB962C8B-B14F-4D97-AF65-F5344CB8AC3E}">
        <p14:creationId xmlns:p14="http://schemas.microsoft.com/office/powerpoint/2010/main" val="2385404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DB9F07B-E701-7891-25B6-0287BDC7FE92}"/>
              </a:ext>
            </a:extLst>
          </p:cNvPr>
          <p:cNvSpPr>
            <a:spLocks noGrp="1"/>
          </p:cNvSpPr>
          <p:nvPr>
            <p:ph type="title"/>
          </p:nvPr>
        </p:nvSpPr>
        <p:spPr>
          <a:xfrm>
            <a:off x="628650" y="910228"/>
            <a:ext cx="7740909" cy="915396"/>
          </a:xfrm>
        </p:spPr>
        <p:txBody>
          <a:bodyPr/>
          <a:lstStyle/>
          <a:p>
            <a:r>
              <a:rPr lang="cs-CZ" dirty="0"/>
              <a:t>Seznam analytických otázek v </a:t>
            </a:r>
            <a:r>
              <a:rPr lang="cs-CZ" dirty="0" err="1"/>
              <a:t>CleverMiner</a:t>
            </a:r>
            <a:endParaRPr lang="cs-CZ" dirty="0"/>
          </a:p>
        </p:txBody>
      </p:sp>
      <p:sp>
        <p:nvSpPr>
          <p:cNvPr id="3" name="Zástupný obsah 2">
            <a:extLst>
              <a:ext uri="{FF2B5EF4-FFF2-40B4-BE49-F238E27FC236}">
                <a16:creationId xmlns:a16="http://schemas.microsoft.com/office/drawing/2014/main" id="{8C27B363-7FBE-8CD4-9A02-EE865B8D232E}"/>
              </a:ext>
            </a:extLst>
          </p:cNvPr>
          <p:cNvSpPr>
            <a:spLocks noGrp="1"/>
          </p:cNvSpPr>
          <p:nvPr>
            <p:ph sz="half" idx="1"/>
          </p:nvPr>
        </p:nvSpPr>
        <p:spPr>
          <a:xfrm>
            <a:off x="628649" y="1825625"/>
            <a:ext cx="7591619" cy="4530730"/>
          </a:xfrm>
        </p:spPr>
        <p:txBody>
          <a:bodyPr/>
          <a:lstStyle/>
          <a:p>
            <a:pPr marL="457200" indent="-457200">
              <a:buFont typeface="+mj-lt"/>
              <a:buAutoNum type="arabicPeriod"/>
            </a:pPr>
            <a:r>
              <a:rPr lang="cs-CZ" dirty="0"/>
              <a:t>Jaký je vliv socioekonomických faktorů na úmrtnost?</a:t>
            </a:r>
          </a:p>
          <a:p>
            <a:pPr marL="457200" indent="-457200">
              <a:buFont typeface="+mj-lt"/>
              <a:buAutoNum type="arabicPeriod"/>
            </a:pPr>
            <a:r>
              <a:rPr lang="cs-CZ" dirty="0"/>
              <a:t>Jaký je vliv rasy na dopady pandemie?</a:t>
            </a:r>
          </a:p>
          <a:p>
            <a:pPr marL="457200" indent="-457200">
              <a:buFont typeface="+mj-lt"/>
              <a:buAutoNum type="arabicPeriod"/>
            </a:pPr>
            <a:r>
              <a:rPr lang="cs-CZ" dirty="0"/>
              <a:t>Existují ochranné faktory úmrtnosti?</a:t>
            </a:r>
          </a:p>
          <a:p>
            <a:pPr marL="457200" indent="-457200">
              <a:buFont typeface="+mj-lt"/>
              <a:buAutoNum type="arabicPeriod"/>
            </a:pPr>
            <a:r>
              <a:rPr lang="cs-CZ" dirty="0"/>
              <a:t>Kde se úmrtnost mezi vlnami zhoršila nejvíce?</a:t>
            </a:r>
          </a:p>
          <a:p>
            <a:pPr marL="457200" indent="-457200">
              <a:buFont typeface="+mj-lt"/>
              <a:buAutoNum type="arabicPeriod"/>
            </a:pPr>
            <a:r>
              <a:rPr lang="cs-CZ" dirty="0"/>
              <a:t>Působí rizikové faktory na všechny stejně?</a:t>
            </a:r>
          </a:p>
          <a:p>
            <a:pPr marL="457200" indent="-457200">
              <a:buFont typeface="+mj-lt"/>
              <a:buAutoNum type="arabicPeriod"/>
            </a:pPr>
            <a:r>
              <a:rPr lang="cs-CZ" dirty="0"/>
              <a:t>Porovnání ras v souvislosti se socioekonomickými faktory.</a:t>
            </a:r>
          </a:p>
          <a:p>
            <a:pPr marL="457200" indent="-457200">
              <a:buFont typeface="+mj-lt"/>
              <a:buAutoNum type="arabicPeriod"/>
            </a:pPr>
            <a:r>
              <a:rPr lang="cs-CZ" dirty="0"/>
              <a:t>Rozhodovací strom </a:t>
            </a:r>
            <a:r>
              <a:rPr lang="cs-CZ" dirty="0">
                <a:sym typeface="Wingdings" panose="05000000000000000000" pitchFamily="2" charset="2"/>
              </a:rPr>
              <a:t> porovnání jednotlivých faktorů na COVID</a:t>
            </a:r>
            <a:endParaRPr lang="cs-CZ" dirty="0"/>
          </a:p>
          <a:p>
            <a:pPr marL="457200" indent="-457200">
              <a:buFont typeface="+mj-lt"/>
              <a:buAutoNum type="arabicPeriod"/>
            </a:pPr>
            <a:endParaRPr lang="cs-CZ" dirty="0"/>
          </a:p>
          <a:p>
            <a:pPr marL="457200" indent="-457200">
              <a:buFont typeface="+mj-lt"/>
              <a:buAutoNum type="arabicPeriod"/>
            </a:pPr>
            <a:endParaRPr lang="cs-CZ" dirty="0"/>
          </a:p>
          <a:p>
            <a:pPr marL="457200" indent="-457200">
              <a:buFont typeface="+mj-lt"/>
              <a:buAutoNum type="arabicPeriod"/>
            </a:pPr>
            <a:endParaRPr lang="cs-CZ" dirty="0"/>
          </a:p>
        </p:txBody>
      </p:sp>
    </p:spTree>
    <p:extLst>
      <p:ext uri="{BB962C8B-B14F-4D97-AF65-F5344CB8AC3E}">
        <p14:creationId xmlns:p14="http://schemas.microsoft.com/office/powerpoint/2010/main" val="128899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7545FE4-4321-4462-DB54-A3D914D6A2E3}"/>
              </a:ext>
            </a:extLst>
          </p:cNvPr>
          <p:cNvSpPr>
            <a:spLocks noGrp="1"/>
          </p:cNvSpPr>
          <p:nvPr>
            <p:ph type="title"/>
          </p:nvPr>
        </p:nvSpPr>
        <p:spPr/>
        <p:txBody>
          <a:bodyPr>
            <a:normAutofit fontScale="90000"/>
          </a:bodyPr>
          <a:lstStyle/>
          <a:p>
            <a:r>
              <a:rPr lang="cs-CZ" dirty="0"/>
              <a:t>Analytická otázka č. 1: Vliv socioekonomických faktorů na úmrtnost – 4ftMiner</a:t>
            </a:r>
          </a:p>
        </p:txBody>
      </p:sp>
      <p:sp>
        <p:nvSpPr>
          <p:cNvPr id="3" name="Zástupný obsah 2">
            <a:extLst>
              <a:ext uri="{FF2B5EF4-FFF2-40B4-BE49-F238E27FC236}">
                <a16:creationId xmlns:a16="http://schemas.microsoft.com/office/drawing/2014/main" id="{9908B7AB-7999-BA91-B929-F0DD677E2E53}"/>
              </a:ext>
            </a:extLst>
          </p:cNvPr>
          <p:cNvSpPr>
            <a:spLocks noGrp="1"/>
          </p:cNvSpPr>
          <p:nvPr>
            <p:ph sz="half" idx="1"/>
          </p:nvPr>
        </p:nvSpPr>
        <p:spPr>
          <a:xfrm>
            <a:off x="628650" y="2024743"/>
            <a:ext cx="7779544" cy="4331612"/>
          </a:xfrm>
        </p:spPr>
        <p:txBody>
          <a:bodyPr/>
          <a:lstStyle/>
          <a:p>
            <a:r>
              <a:rPr lang="cs-CZ" b="1" dirty="0"/>
              <a:t>Business popis (Cíl analýzy)</a:t>
            </a:r>
          </a:p>
          <a:p>
            <a:r>
              <a:rPr lang="cs-CZ" dirty="0"/>
              <a:t>Cílem této analýzy bylo identifikovat vztahy mezi ekonomickou situací okresu (příjmy, chudoba) a mírou smrtnosti na COVID-19 (Case Fatality </a:t>
            </a:r>
            <a:r>
              <a:rPr lang="cs-CZ" dirty="0" err="1"/>
              <a:t>Rate</a:t>
            </a:r>
            <a:r>
              <a:rPr lang="cs-CZ" dirty="0"/>
              <a:t> - CFR). Tradiční předpoklad (hypotéza) naznačoval, že nejvyšší riziko úmrtí bude v nejchudších regionech kvůli horší dostupnosti zdravotní péče. </a:t>
            </a:r>
          </a:p>
          <a:p>
            <a:r>
              <a:rPr lang="cs-CZ" dirty="0"/>
              <a:t>Cílem dolování dat bylo tuto hypotézu potvrdit, vyvrátit, nebo nalézt specifické rizikové skupiny (segmenty), které vyžadují odlišný přístup při plánování zdravotních intervencí.</a:t>
            </a:r>
          </a:p>
          <a:p>
            <a:endParaRPr lang="cs-CZ" dirty="0"/>
          </a:p>
        </p:txBody>
      </p:sp>
    </p:spTree>
    <p:extLst>
      <p:ext uri="{BB962C8B-B14F-4D97-AF65-F5344CB8AC3E}">
        <p14:creationId xmlns:p14="http://schemas.microsoft.com/office/powerpoint/2010/main" val="3269870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39BA6-7825-28D3-7A23-0241225B0B21}"/>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BC44EDD8-2494-426C-BCCF-CCE265CF9161}"/>
              </a:ext>
            </a:extLst>
          </p:cNvPr>
          <p:cNvSpPr>
            <a:spLocks noGrp="1"/>
          </p:cNvSpPr>
          <p:nvPr>
            <p:ph type="title"/>
          </p:nvPr>
        </p:nvSpPr>
        <p:spPr/>
        <p:txBody>
          <a:bodyPr>
            <a:normAutofit fontScale="90000"/>
          </a:bodyPr>
          <a:lstStyle/>
          <a:p>
            <a:r>
              <a:rPr lang="cs-CZ" dirty="0"/>
              <a:t>Analytická otázka č. 1: Vliv socioekonomických faktorů na úmrtnost – 4ftMiner</a:t>
            </a:r>
          </a:p>
        </p:txBody>
      </p:sp>
      <p:sp>
        <p:nvSpPr>
          <p:cNvPr id="3" name="Zástupný obsah 2">
            <a:extLst>
              <a:ext uri="{FF2B5EF4-FFF2-40B4-BE49-F238E27FC236}">
                <a16:creationId xmlns:a16="http://schemas.microsoft.com/office/drawing/2014/main" id="{6BD976B2-8064-8A1A-DEF0-F7D26F0DA951}"/>
              </a:ext>
            </a:extLst>
          </p:cNvPr>
          <p:cNvSpPr>
            <a:spLocks noGrp="1"/>
          </p:cNvSpPr>
          <p:nvPr>
            <p:ph sz="half" idx="1"/>
          </p:nvPr>
        </p:nvSpPr>
        <p:spPr>
          <a:xfrm>
            <a:off x="628650" y="2024743"/>
            <a:ext cx="7779544" cy="4331612"/>
          </a:xfrm>
        </p:spPr>
        <p:txBody>
          <a:bodyPr/>
          <a:lstStyle/>
          <a:p>
            <a:r>
              <a:rPr lang="cs-CZ" b="1" dirty="0"/>
              <a:t>Technické řešení</a:t>
            </a:r>
          </a:p>
          <a:p>
            <a:r>
              <a:rPr lang="cs-CZ" dirty="0"/>
              <a:t>Byl použit </a:t>
            </a:r>
            <a:r>
              <a:rPr lang="cs-CZ" dirty="0" err="1"/>
              <a:t>dataset</a:t>
            </a:r>
            <a:r>
              <a:rPr lang="cs-CZ" dirty="0"/>
              <a:t> za rok 2020 agregovaný na úroveň </a:t>
            </a:r>
            <a:r>
              <a:rPr lang="cs-CZ" dirty="0" err="1"/>
              <a:t>okresů.Cílová</a:t>
            </a:r>
            <a:r>
              <a:rPr lang="cs-CZ" dirty="0"/>
              <a:t> proměnná </a:t>
            </a:r>
            <a:r>
              <a:rPr lang="cs-CZ" dirty="0" err="1"/>
              <a:t>case_fatality_rate_pct</a:t>
            </a:r>
            <a:r>
              <a:rPr lang="cs-CZ" dirty="0"/>
              <a:t> byla </a:t>
            </a:r>
            <a:r>
              <a:rPr lang="cs-CZ" dirty="0" err="1"/>
              <a:t>diskretizována</a:t>
            </a:r>
            <a:r>
              <a:rPr lang="cs-CZ" dirty="0"/>
              <a:t> na </a:t>
            </a:r>
            <a:r>
              <a:rPr lang="cs-CZ" dirty="0" err="1"/>
              <a:t>tercily</a:t>
            </a:r>
            <a:r>
              <a:rPr lang="cs-CZ" dirty="0"/>
              <a:t> (3 kategorie: </a:t>
            </a:r>
            <a:r>
              <a:rPr lang="cs-CZ" dirty="0" err="1"/>
              <a:t>Low</a:t>
            </a:r>
            <a:r>
              <a:rPr lang="cs-CZ" dirty="0"/>
              <a:t>, Medium, </a:t>
            </a:r>
            <a:r>
              <a:rPr lang="cs-CZ" dirty="0" err="1"/>
              <a:t>High</a:t>
            </a:r>
            <a:r>
              <a:rPr lang="cs-CZ" dirty="0"/>
              <a:t>) pomocí funkce </a:t>
            </a:r>
            <a:r>
              <a:rPr lang="cs-CZ" dirty="0" err="1"/>
              <a:t>qcut</a:t>
            </a:r>
            <a:r>
              <a:rPr lang="cs-CZ" dirty="0"/>
              <a:t>, což zajistilo rovnoměrné rozdělení </a:t>
            </a:r>
            <a:r>
              <a:rPr lang="cs-CZ" dirty="0" err="1"/>
              <a:t>dat.Vstupní</a:t>
            </a:r>
            <a:r>
              <a:rPr lang="cs-CZ" dirty="0"/>
              <a:t> atributy: </a:t>
            </a:r>
            <a:r>
              <a:rPr lang="cs-CZ" dirty="0" err="1"/>
              <a:t>income_category</a:t>
            </a:r>
            <a:r>
              <a:rPr lang="cs-CZ" dirty="0"/>
              <a:t> a </a:t>
            </a:r>
            <a:r>
              <a:rPr lang="cs-CZ" dirty="0" err="1"/>
              <a:t>poverty_category.Byla</a:t>
            </a:r>
            <a:r>
              <a:rPr lang="cs-CZ" dirty="0"/>
              <a:t> odstraněna data s chybějícími hodnotami (</a:t>
            </a:r>
            <a:r>
              <a:rPr lang="cs-CZ" dirty="0" err="1"/>
              <a:t>NaN</a:t>
            </a:r>
            <a:r>
              <a:rPr lang="cs-CZ" dirty="0"/>
              <a:t>, </a:t>
            </a:r>
            <a:r>
              <a:rPr lang="cs-CZ" dirty="0" err="1"/>
              <a:t>Unknown</a:t>
            </a:r>
            <a:r>
              <a:rPr lang="cs-CZ" dirty="0"/>
              <a:t>).</a:t>
            </a:r>
          </a:p>
        </p:txBody>
      </p:sp>
    </p:spTree>
    <p:extLst>
      <p:ext uri="{BB962C8B-B14F-4D97-AF65-F5344CB8AC3E}">
        <p14:creationId xmlns:p14="http://schemas.microsoft.com/office/powerpoint/2010/main" val="3540915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ED733-A801-6260-3C9A-B5C7F0D5B716}"/>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74A41B22-4785-1A00-BD68-99B143B9E660}"/>
              </a:ext>
            </a:extLst>
          </p:cNvPr>
          <p:cNvSpPr>
            <a:spLocks noGrp="1"/>
          </p:cNvSpPr>
          <p:nvPr>
            <p:ph type="title"/>
          </p:nvPr>
        </p:nvSpPr>
        <p:spPr/>
        <p:txBody>
          <a:bodyPr>
            <a:normAutofit fontScale="90000"/>
          </a:bodyPr>
          <a:lstStyle/>
          <a:p>
            <a:r>
              <a:rPr lang="cs-CZ" dirty="0"/>
              <a:t>Analytická otázka č. 1: Vliv socioekonomických faktorů na úmrtnost</a:t>
            </a:r>
          </a:p>
        </p:txBody>
      </p:sp>
      <p:sp>
        <p:nvSpPr>
          <p:cNvPr id="3" name="Zástupný obsah 2">
            <a:extLst>
              <a:ext uri="{FF2B5EF4-FFF2-40B4-BE49-F238E27FC236}">
                <a16:creationId xmlns:a16="http://schemas.microsoft.com/office/drawing/2014/main" id="{FDF328D7-336E-D376-498C-D717DC4DAE8F}"/>
              </a:ext>
            </a:extLst>
          </p:cNvPr>
          <p:cNvSpPr>
            <a:spLocks noGrp="1"/>
          </p:cNvSpPr>
          <p:nvPr>
            <p:ph sz="half" idx="1"/>
          </p:nvPr>
        </p:nvSpPr>
        <p:spPr>
          <a:xfrm>
            <a:off x="628650" y="2024743"/>
            <a:ext cx="7779544" cy="4331612"/>
          </a:xfrm>
        </p:spPr>
        <p:txBody>
          <a:bodyPr/>
          <a:lstStyle/>
          <a:p>
            <a:r>
              <a:rPr lang="cs-CZ" b="1" dirty="0"/>
              <a:t>Technické řešení</a:t>
            </a:r>
          </a:p>
          <a:p>
            <a:endParaRPr lang="cs-CZ" b="1" dirty="0"/>
          </a:p>
        </p:txBody>
      </p:sp>
      <p:pic>
        <p:nvPicPr>
          <p:cNvPr id="4" name="Obrázek 3">
            <a:extLst>
              <a:ext uri="{FF2B5EF4-FFF2-40B4-BE49-F238E27FC236}">
                <a16:creationId xmlns:a16="http://schemas.microsoft.com/office/drawing/2014/main" id="{AF362CF4-6569-09D6-4C21-A7D84A439C65}"/>
              </a:ext>
            </a:extLst>
          </p:cNvPr>
          <p:cNvPicPr>
            <a:picLocks noChangeAspect="1"/>
          </p:cNvPicPr>
          <p:nvPr/>
        </p:nvPicPr>
        <p:blipFill>
          <a:blip r:embed="rId2"/>
          <a:stretch>
            <a:fillRect/>
          </a:stretch>
        </p:blipFill>
        <p:spPr>
          <a:xfrm>
            <a:off x="897966" y="2589314"/>
            <a:ext cx="6519871" cy="3636712"/>
          </a:xfrm>
          <a:prstGeom prst="rect">
            <a:avLst/>
          </a:prstGeom>
        </p:spPr>
      </p:pic>
    </p:spTree>
    <p:extLst>
      <p:ext uri="{BB962C8B-B14F-4D97-AF65-F5344CB8AC3E}">
        <p14:creationId xmlns:p14="http://schemas.microsoft.com/office/powerpoint/2010/main" val="3670582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B0A4D-83DB-C83A-A08E-2FDC74011B8E}"/>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C5758C18-BE7F-769C-B248-33FBE16C4255}"/>
              </a:ext>
            </a:extLst>
          </p:cNvPr>
          <p:cNvSpPr>
            <a:spLocks noGrp="1"/>
          </p:cNvSpPr>
          <p:nvPr>
            <p:ph type="title"/>
          </p:nvPr>
        </p:nvSpPr>
        <p:spPr/>
        <p:txBody>
          <a:bodyPr>
            <a:normAutofit fontScale="90000"/>
          </a:bodyPr>
          <a:lstStyle/>
          <a:p>
            <a:r>
              <a:rPr lang="cs-CZ" dirty="0"/>
              <a:t>Analytická otázka č. 1: Vliv socioekonomických faktorů na úmrtnost</a:t>
            </a:r>
          </a:p>
        </p:txBody>
      </p:sp>
      <p:sp>
        <p:nvSpPr>
          <p:cNvPr id="3" name="Zástupný obsah 2">
            <a:extLst>
              <a:ext uri="{FF2B5EF4-FFF2-40B4-BE49-F238E27FC236}">
                <a16:creationId xmlns:a16="http://schemas.microsoft.com/office/drawing/2014/main" id="{9FBB04DB-704F-7C6E-A42D-1327EFEFCB39}"/>
              </a:ext>
            </a:extLst>
          </p:cNvPr>
          <p:cNvSpPr>
            <a:spLocks noGrp="1"/>
          </p:cNvSpPr>
          <p:nvPr>
            <p:ph sz="half" idx="1"/>
          </p:nvPr>
        </p:nvSpPr>
        <p:spPr>
          <a:xfrm>
            <a:off x="628650" y="2024743"/>
            <a:ext cx="7779544" cy="4331612"/>
          </a:xfrm>
        </p:spPr>
        <p:txBody>
          <a:bodyPr>
            <a:normAutofit fontScale="70000" lnSpcReduction="20000"/>
          </a:bodyPr>
          <a:lstStyle/>
          <a:p>
            <a:r>
              <a:rPr lang="cs-CZ" b="1" dirty="0"/>
              <a:t>Výstup</a:t>
            </a:r>
          </a:p>
          <a:p>
            <a:r>
              <a:rPr lang="cs-CZ" b="1" dirty="0"/>
              <a:t>Nalezené pravidlo:</a:t>
            </a:r>
          </a:p>
          <a:p>
            <a:r>
              <a:rPr lang="cs-CZ" dirty="0" err="1"/>
              <a:t>income_category</a:t>
            </a:r>
            <a:r>
              <a:rPr lang="cs-CZ" dirty="0"/>
              <a:t>(Medium (40-60k)) </a:t>
            </a:r>
            <a:r>
              <a:rPr lang="cs-CZ" dirty="0">
                <a:sym typeface="Wingdings" panose="05000000000000000000" pitchFamily="2" charset="2"/>
              </a:rPr>
              <a:t> </a:t>
            </a:r>
            <a:r>
              <a:rPr lang="cs-CZ" dirty="0" err="1"/>
              <a:t>CFR_Category</a:t>
            </a:r>
            <a:r>
              <a:rPr lang="cs-CZ" dirty="0"/>
              <a:t>(</a:t>
            </a:r>
            <a:r>
              <a:rPr lang="cs-CZ" dirty="0" err="1"/>
              <a:t>High</a:t>
            </a:r>
            <a:r>
              <a:rPr lang="cs-CZ" dirty="0"/>
              <a:t>)</a:t>
            </a:r>
          </a:p>
          <a:p>
            <a:r>
              <a:rPr lang="cs-CZ" dirty="0"/>
              <a:t>Statistika </a:t>
            </a:r>
            <a:r>
              <a:rPr lang="cs-CZ" dirty="0" err="1"/>
              <a:t>pravidla:Podpora</a:t>
            </a:r>
            <a:r>
              <a:rPr lang="cs-CZ" dirty="0"/>
              <a:t> (Base): 632 okresů.</a:t>
            </a:r>
          </a:p>
          <a:p>
            <a:r>
              <a:rPr lang="cs-CZ" dirty="0"/>
              <a:t>Spolehlivost (</a:t>
            </a:r>
            <a:r>
              <a:rPr lang="cs-CZ" dirty="0" err="1"/>
              <a:t>Confidence</a:t>
            </a:r>
            <a:r>
              <a:rPr lang="cs-CZ" dirty="0"/>
              <a:t>): 37,6 %.</a:t>
            </a:r>
          </a:p>
          <a:p>
            <a:r>
              <a:rPr lang="cs-CZ" dirty="0"/>
              <a:t>Síla závislosti (AAD): +0,134</a:t>
            </a:r>
            <a:endParaRPr lang="cs-CZ" b="1" dirty="0"/>
          </a:p>
          <a:p>
            <a:r>
              <a:rPr lang="cs-CZ" b="1" dirty="0"/>
              <a:t>Interpretace dat:</a:t>
            </a:r>
          </a:p>
          <a:p>
            <a:r>
              <a:rPr lang="cs-CZ" dirty="0"/>
              <a:t>Výsledky ukazují, že pandemií v roce 2020 byla nejvíce zasažena (z hlediska smrtnosti) americká střední a nižší střední třída, nikoliv nejchudší vrstvy obyvatelstva.</a:t>
            </a:r>
          </a:p>
          <a:p>
            <a:r>
              <a:rPr lang="cs-CZ" b="1" dirty="0"/>
              <a:t>Doporučené akce:</a:t>
            </a:r>
          </a:p>
          <a:p>
            <a:r>
              <a:rPr lang="cs-CZ" b="1" dirty="0"/>
              <a:t>Preventivní programy: </a:t>
            </a:r>
            <a:r>
              <a:rPr lang="cs-CZ" dirty="0"/>
              <a:t>Zdravotní kampaně a očkovací strategie by neměly cílit pouze na sociálně vyloučené lokality, ale prioritně na pracovní kolektivy v průmyslových a logistických centrech.</a:t>
            </a:r>
          </a:p>
          <a:p>
            <a:r>
              <a:rPr lang="cs-CZ" b="1" dirty="0"/>
              <a:t>Ochrana zaměstnanců: </a:t>
            </a:r>
            <a:r>
              <a:rPr lang="cs-CZ" dirty="0"/>
              <a:t>Zvýšený důraz na vymáhání hygienických standardů v provozech, kde pracují lidé se středními příjmy, protože data ukazují silnou korelaci mezi tímto socioekonomickým segmentem a úmrtností.</a:t>
            </a:r>
          </a:p>
        </p:txBody>
      </p:sp>
    </p:spTree>
    <p:extLst>
      <p:ext uri="{BB962C8B-B14F-4D97-AF65-F5344CB8AC3E}">
        <p14:creationId xmlns:p14="http://schemas.microsoft.com/office/powerpoint/2010/main" val="2102711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931B0-940A-BA32-20C7-1E11BDEE865E}"/>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885B35A6-E42C-7584-9B4B-C99F72D45CC6}"/>
              </a:ext>
            </a:extLst>
          </p:cNvPr>
          <p:cNvSpPr>
            <a:spLocks noGrp="1"/>
          </p:cNvSpPr>
          <p:nvPr>
            <p:ph type="title"/>
          </p:nvPr>
        </p:nvSpPr>
        <p:spPr/>
        <p:txBody>
          <a:bodyPr>
            <a:normAutofit fontScale="90000"/>
          </a:bodyPr>
          <a:lstStyle/>
          <a:p>
            <a:r>
              <a:rPr lang="cs-CZ" dirty="0"/>
              <a:t>Analytická otázka č. 2: Vliv rasy na dopady pandemie – 4ftMiner</a:t>
            </a:r>
          </a:p>
        </p:txBody>
      </p:sp>
      <p:sp>
        <p:nvSpPr>
          <p:cNvPr id="3" name="Zástupný obsah 2">
            <a:extLst>
              <a:ext uri="{FF2B5EF4-FFF2-40B4-BE49-F238E27FC236}">
                <a16:creationId xmlns:a16="http://schemas.microsoft.com/office/drawing/2014/main" id="{FB69EC6E-32A7-3066-19E4-5403C51A7148}"/>
              </a:ext>
            </a:extLst>
          </p:cNvPr>
          <p:cNvSpPr>
            <a:spLocks noGrp="1"/>
          </p:cNvSpPr>
          <p:nvPr>
            <p:ph sz="half" idx="1"/>
          </p:nvPr>
        </p:nvSpPr>
        <p:spPr>
          <a:xfrm>
            <a:off x="628650" y="2024743"/>
            <a:ext cx="7779544" cy="4331612"/>
          </a:xfrm>
        </p:spPr>
        <p:txBody>
          <a:bodyPr/>
          <a:lstStyle/>
          <a:p>
            <a:r>
              <a:rPr lang="cs-CZ" b="1" dirty="0"/>
              <a:t>Business popis (cíl analýzy)</a:t>
            </a:r>
          </a:p>
          <a:p>
            <a:r>
              <a:rPr lang="cs-CZ" dirty="0"/>
              <a:t>Cílem této analýzy bylo kvantifikovat, zda existují strukturální nerovnosti v dopadech pandemie COVID-19 na afroamerickou komunitu. Vycházeli jsme z předpokladu (hypotézy o sociálních determinantech zdraví), že okresy s vyšším podílem černošského obyvatelstva budou vykazovat horší pandemické ukazatele, a to nezávisle na příjmové hladině. Analýza se zaměřila na dvě metriky: </a:t>
            </a:r>
            <a:r>
              <a:rPr lang="cs-CZ" b="1" dirty="0"/>
              <a:t>CFR</a:t>
            </a:r>
            <a:r>
              <a:rPr lang="cs-CZ" dirty="0"/>
              <a:t> (pravděpodobnost úmrtí po nákaze) a </a:t>
            </a:r>
            <a:r>
              <a:rPr lang="cs-CZ" b="1" dirty="0" err="1"/>
              <a:t>Deaths</a:t>
            </a:r>
            <a:r>
              <a:rPr lang="cs-CZ" b="1" dirty="0"/>
              <a:t> per 100k</a:t>
            </a:r>
            <a:r>
              <a:rPr lang="cs-CZ" dirty="0"/>
              <a:t> (celková zátěž na populaci).</a:t>
            </a:r>
          </a:p>
        </p:txBody>
      </p:sp>
    </p:spTree>
    <p:extLst>
      <p:ext uri="{BB962C8B-B14F-4D97-AF65-F5344CB8AC3E}">
        <p14:creationId xmlns:p14="http://schemas.microsoft.com/office/powerpoint/2010/main" val="1670347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8714F-5165-C2CA-81A9-F2C0D0978054}"/>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4DCB94FF-6532-4AA5-6026-1D123E93E99D}"/>
              </a:ext>
            </a:extLst>
          </p:cNvPr>
          <p:cNvSpPr>
            <a:spLocks noGrp="1"/>
          </p:cNvSpPr>
          <p:nvPr>
            <p:ph type="title"/>
          </p:nvPr>
        </p:nvSpPr>
        <p:spPr/>
        <p:txBody>
          <a:bodyPr>
            <a:normAutofit fontScale="90000"/>
          </a:bodyPr>
          <a:lstStyle/>
          <a:p>
            <a:r>
              <a:rPr lang="cs-CZ" dirty="0"/>
              <a:t>Analytická otázka č. 2: Vliv rasy na dopady pandemie – 4ftMiner</a:t>
            </a:r>
          </a:p>
        </p:txBody>
      </p:sp>
      <p:sp>
        <p:nvSpPr>
          <p:cNvPr id="3" name="Zástupný obsah 2">
            <a:extLst>
              <a:ext uri="{FF2B5EF4-FFF2-40B4-BE49-F238E27FC236}">
                <a16:creationId xmlns:a16="http://schemas.microsoft.com/office/drawing/2014/main" id="{53E8250A-2294-D21B-28B0-FE1D5FE98A2E}"/>
              </a:ext>
            </a:extLst>
          </p:cNvPr>
          <p:cNvSpPr>
            <a:spLocks noGrp="1"/>
          </p:cNvSpPr>
          <p:nvPr>
            <p:ph sz="half" idx="1"/>
          </p:nvPr>
        </p:nvSpPr>
        <p:spPr>
          <a:xfrm>
            <a:off x="628650" y="2052735"/>
            <a:ext cx="7779544" cy="4331612"/>
          </a:xfrm>
        </p:spPr>
        <p:txBody>
          <a:bodyPr/>
          <a:lstStyle/>
          <a:p>
            <a:r>
              <a:rPr lang="cs-CZ" b="1" dirty="0"/>
              <a:t>Technické řešení</a:t>
            </a:r>
          </a:p>
          <a:p>
            <a:r>
              <a:rPr lang="cs-CZ" dirty="0"/>
              <a:t>Segmentace: Data o rasovém složení byla rozdělena na </a:t>
            </a:r>
            <a:r>
              <a:rPr lang="cs-CZ" dirty="0" err="1"/>
              <a:t>tercily</a:t>
            </a:r>
            <a:r>
              <a:rPr lang="cs-CZ" dirty="0"/>
              <a:t> (</a:t>
            </a:r>
            <a:r>
              <a:rPr lang="cs-CZ" dirty="0" err="1"/>
              <a:t>Low</a:t>
            </a:r>
            <a:r>
              <a:rPr lang="cs-CZ" dirty="0"/>
              <a:t>, Medium, </a:t>
            </a:r>
            <a:r>
              <a:rPr lang="cs-CZ" dirty="0" err="1"/>
              <a:t>High</a:t>
            </a:r>
            <a:r>
              <a:rPr lang="cs-CZ" dirty="0"/>
              <a:t> Black </a:t>
            </a:r>
            <a:r>
              <a:rPr lang="cs-CZ" dirty="0" err="1"/>
              <a:t>Population</a:t>
            </a:r>
            <a:r>
              <a:rPr lang="cs-CZ" dirty="0"/>
              <a:t>), což umožnilo porovnat "nejbělejší" okresy s těmi, kde je podíl menšin nejvyšší.</a:t>
            </a:r>
          </a:p>
          <a:p>
            <a:r>
              <a:rPr lang="cs-CZ" dirty="0"/>
              <a:t>Dualita metrik: Kromě CFR byla paralelně analyzována i hrubá úmrtnost na 100 000 obyvatel.</a:t>
            </a:r>
          </a:p>
          <a:p>
            <a:endParaRPr lang="cs-CZ" dirty="0"/>
          </a:p>
        </p:txBody>
      </p:sp>
    </p:spTree>
    <p:extLst>
      <p:ext uri="{BB962C8B-B14F-4D97-AF65-F5344CB8AC3E}">
        <p14:creationId xmlns:p14="http://schemas.microsoft.com/office/powerpoint/2010/main" val="3314046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C1E0E-026F-7A31-C404-9558A0635B93}"/>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FF4EDD8-0657-5D8D-0D62-505DABE5DEBA}"/>
              </a:ext>
            </a:extLst>
          </p:cNvPr>
          <p:cNvSpPr>
            <a:spLocks noGrp="1"/>
          </p:cNvSpPr>
          <p:nvPr>
            <p:ph type="title"/>
          </p:nvPr>
        </p:nvSpPr>
        <p:spPr/>
        <p:txBody>
          <a:bodyPr>
            <a:normAutofit fontScale="90000"/>
          </a:bodyPr>
          <a:lstStyle/>
          <a:p>
            <a:r>
              <a:rPr lang="cs-CZ" dirty="0"/>
              <a:t>Analytická otázka č. 2: Vliv rasy na dopady pandemie – 4ftMiner</a:t>
            </a:r>
          </a:p>
        </p:txBody>
      </p:sp>
      <p:sp>
        <p:nvSpPr>
          <p:cNvPr id="3" name="Zástupný obsah 2">
            <a:extLst>
              <a:ext uri="{FF2B5EF4-FFF2-40B4-BE49-F238E27FC236}">
                <a16:creationId xmlns:a16="http://schemas.microsoft.com/office/drawing/2014/main" id="{6E02F821-948C-7237-65A9-E5759FB114F2}"/>
              </a:ext>
            </a:extLst>
          </p:cNvPr>
          <p:cNvSpPr>
            <a:spLocks noGrp="1"/>
          </p:cNvSpPr>
          <p:nvPr>
            <p:ph sz="half" idx="1"/>
          </p:nvPr>
        </p:nvSpPr>
        <p:spPr>
          <a:xfrm>
            <a:off x="628650" y="2052735"/>
            <a:ext cx="7779544" cy="4331612"/>
          </a:xfrm>
        </p:spPr>
        <p:txBody>
          <a:bodyPr/>
          <a:lstStyle/>
          <a:p>
            <a:r>
              <a:rPr lang="cs-CZ" b="1" dirty="0"/>
              <a:t>Technické řešení</a:t>
            </a:r>
          </a:p>
          <a:p>
            <a:endParaRPr lang="cs-CZ" dirty="0"/>
          </a:p>
        </p:txBody>
      </p:sp>
      <p:pic>
        <p:nvPicPr>
          <p:cNvPr id="4" name="Obrázek 3">
            <a:extLst>
              <a:ext uri="{FF2B5EF4-FFF2-40B4-BE49-F238E27FC236}">
                <a16:creationId xmlns:a16="http://schemas.microsoft.com/office/drawing/2014/main" id="{F99AD3DA-6524-01E7-817C-7C77435501D2}"/>
              </a:ext>
            </a:extLst>
          </p:cNvPr>
          <p:cNvPicPr>
            <a:picLocks noChangeAspect="1"/>
          </p:cNvPicPr>
          <p:nvPr/>
        </p:nvPicPr>
        <p:blipFill>
          <a:blip r:embed="rId2"/>
          <a:stretch>
            <a:fillRect/>
          </a:stretch>
        </p:blipFill>
        <p:spPr>
          <a:xfrm>
            <a:off x="990165" y="2677334"/>
            <a:ext cx="6642276" cy="3614777"/>
          </a:xfrm>
          <a:prstGeom prst="rect">
            <a:avLst/>
          </a:prstGeom>
        </p:spPr>
      </p:pic>
    </p:spTree>
    <p:extLst>
      <p:ext uri="{BB962C8B-B14F-4D97-AF65-F5344CB8AC3E}">
        <p14:creationId xmlns:p14="http://schemas.microsoft.com/office/powerpoint/2010/main" val="2142085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7B12B-82D4-33E9-73AD-529E3E6128BC}"/>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B589F18D-D45C-C5A8-26C4-D1F4AF6027D2}"/>
              </a:ext>
            </a:extLst>
          </p:cNvPr>
          <p:cNvSpPr>
            <a:spLocks noGrp="1"/>
          </p:cNvSpPr>
          <p:nvPr>
            <p:ph type="title"/>
          </p:nvPr>
        </p:nvSpPr>
        <p:spPr/>
        <p:txBody>
          <a:bodyPr>
            <a:normAutofit fontScale="90000"/>
          </a:bodyPr>
          <a:lstStyle/>
          <a:p>
            <a:r>
              <a:rPr lang="cs-CZ" dirty="0"/>
              <a:t>Analytická otázka č. 2: Vliv rasy na dopady pandemie – 4ftMiner</a:t>
            </a:r>
          </a:p>
        </p:txBody>
      </p:sp>
      <p:sp>
        <p:nvSpPr>
          <p:cNvPr id="3" name="Zástupný obsah 2">
            <a:extLst>
              <a:ext uri="{FF2B5EF4-FFF2-40B4-BE49-F238E27FC236}">
                <a16:creationId xmlns:a16="http://schemas.microsoft.com/office/drawing/2014/main" id="{317DA07E-8B04-EC4D-6BB3-18AC7DCE7D7B}"/>
              </a:ext>
            </a:extLst>
          </p:cNvPr>
          <p:cNvSpPr>
            <a:spLocks noGrp="1"/>
          </p:cNvSpPr>
          <p:nvPr>
            <p:ph sz="half" idx="1"/>
          </p:nvPr>
        </p:nvSpPr>
        <p:spPr>
          <a:xfrm>
            <a:off x="628650" y="2052735"/>
            <a:ext cx="7779544" cy="4331612"/>
          </a:xfrm>
        </p:spPr>
        <p:txBody>
          <a:bodyPr/>
          <a:lstStyle/>
          <a:p>
            <a:r>
              <a:rPr lang="cs-CZ" b="1" dirty="0"/>
              <a:t>Technické řešení</a:t>
            </a:r>
          </a:p>
          <a:p>
            <a:endParaRPr lang="cs-CZ" dirty="0"/>
          </a:p>
        </p:txBody>
      </p:sp>
      <p:pic>
        <p:nvPicPr>
          <p:cNvPr id="5" name="Obrázek 4">
            <a:extLst>
              <a:ext uri="{FF2B5EF4-FFF2-40B4-BE49-F238E27FC236}">
                <a16:creationId xmlns:a16="http://schemas.microsoft.com/office/drawing/2014/main" id="{BB9D952E-CDA5-FEDB-86EF-6916888B697C}"/>
              </a:ext>
            </a:extLst>
          </p:cNvPr>
          <p:cNvPicPr>
            <a:picLocks noChangeAspect="1"/>
          </p:cNvPicPr>
          <p:nvPr/>
        </p:nvPicPr>
        <p:blipFill>
          <a:blip r:embed="rId2"/>
          <a:stretch>
            <a:fillRect/>
          </a:stretch>
        </p:blipFill>
        <p:spPr>
          <a:xfrm>
            <a:off x="1007706" y="2606484"/>
            <a:ext cx="6811348" cy="4040630"/>
          </a:xfrm>
          <a:prstGeom prst="rect">
            <a:avLst/>
          </a:prstGeom>
        </p:spPr>
      </p:pic>
    </p:spTree>
    <p:extLst>
      <p:ext uri="{BB962C8B-B14F-4D97-AF65-F5344CB8AC3E}">
        <p14:creationId xmlns:p14="http://schemas.microsoft.com/office/powerpoint/2010/main" val="1814695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D7C49-90D9-A99B-177F-161A1E08FBB6}"/>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C37FDC9-33D8-A7F3-D116-0366DC4A78DE}"/>
              </a:ext>
            </a:extLst>
          </p:cNvPr>
          <p:cNvSpPr>
            <a:spLocks noGrp="1"/>
          </p:cNvSpPr>
          <p:nvPr>
            <p:ph type="title"/>
          </p:nvPr>
        </p:nvSpPr>
        <p:spPr/>
        <p:txBody>
          <a:bodyPr>
            <a:normAutofit fontScale="90000"/>
          </a:bodyPr>
          <a:lstStyle/>
          <a:p>
            <a:r>
              <a:rPr lang="cs-CZ" dirty="0"/>
              <a:t>Analytická otázka č. 2: Vliv rasy na dopady pandemie – 4ftMiner</a:t>
            </a:r>
          </a:p>
        </p:txBody>
      </p:sp>
      <p:sp>
        <p:nvSpPr>
          <p:cNvPr id="3" name="Zástupný obsah 2">
            <a:extLst>
              <a:ext uri="{FF2B5EF4-FFF2-40B4-BE49-F238E27FC236}">
                <a16:creationId xmlns:a16="http://schemas.microsoft.com/office/drawing/2014/main" id="{73785AD9-A5EA-D5BF-3DED-59C2794EE00B}"/>
              </a:ext>
            </a:extLst>
          </p:cNvPr>
          <p:cNvSpPr>
            <a:spLocks noGrp="1"/>
          </p:cNvSpPr>
          <p:nvPr>
            <p:ph sz="half" idx="1"/>
          </p:nvPr>
        </p:nvSpPr>
        <p:spPr>
          <a:xfrm>
            <a:off x="628650" y="2024743"/>
            <a:ext cx="7779544" cy="4331612"/>
          </a:xfrm>
        </p:spPr>
        <p:txBody>
          <a:bodyPr>
            <a:normAutofit/>
          </a:bodyPr>
          <a:lstStyle/>
          <a:p>
            <a:r>
              <a:rPr lang="cs-CZ" b="1" dirty="0"/>
              <a:t>Výstup</a:t>
            </a:r>
          </a:p>
          <a:p>
            <a:r>
              <a:rPr lang="cs-CZ" b="1" dirty="0"/>
              <a:t>Nalezeno 17 pravidel (uvedeny nejzajímavější):</a:t>
            </a:r>
          </a:p>
          <a:p>
            <a:r>
              <a:rPr lang="cs-CZ" b="1" dirty="0"/>
              <a:t>Pravidlo (CFR): </a:t>
            </a:r>
            <a:r>
              <a:rPr lang="cs-CZ" dirty="0" err="1"/>
              <a:t>black_category</a:t>
            </a:r>
            <a:r>
              <a:rPr lang="cs-CZ" dirty="0"/>
              <a:t>(</a:t>
            </a:r>
            <a:r>
              <a:rPr lang="cs-CZ" dirty="0" err="1"/>
              <a:t>High</a:t>
            </a:r>
            <a:r>
              <a:rPr lang="cs-CZ" dirty="0"/>
              <a:t> Black </a:t>
            </a:r>
            <a:r>
              <a:rPr lang="cs-CZ" dirty="0" err="1"/>
              <a:t>Population</a:t>
            </a:r>
            <a:r>
              <a:rPr lang="cs-CZ" dirty="0"/>
              <a:t>) </a:t>
            </a:r>
            <a:r>
              <a:rPr lang="cs-CZ" dirty="0">
                <a:sym typeface="Wingdings" panose="05000000000000000000" pitchFamily="2" charset="2"/>
              </a:rPr>
              <a:t></a:t>
            </a:r>
            <a:r>
              <a:rPr lang="cs-CZ" dirty="0" err="1"/>
              <a:t>CFR_Category</a:t>
            </a:r>
            <a:r>
              <a:rPr lang="cs-CZ" dirty="0"/>
              <a:t>(</a:t>
            </a:r>
            <a:r>
              <a:rPr lang="cs-CZ" dirty="0" err="1"/>
              <a:t>High</a:t>
            </a:r>
            <a:r>
              <a:rPr lang="cs-CZ" dirty="0"/>
              <a:t> CFR)</a:t>
            </a:r>
          </a:p>
          <a:p>
            <a:r>
              <a:rPr lang="cs-CZ" dirty="0"/>
              <a:t>Spolehlivost (</a:t>
            </a:r>
            <a:r>
              <a:rPr lang="cs-CZ" dirty="0" err="1"/>
              <a:t>Confidence</a:t>
            </a:r>
            <a:r>
              <a:rPr lang="cs-CZ" dirty="0"/>
              <a:t>): 62,3 %</a:t>
            </a:r>
          </a:p>
          <a:p>
            <a:r>
              <a:rPr lang="cs-CZ" dirty="0"/>
              <a:t>Interpretace: V okresech s vysokým podílem černošské populace byla v 62 % případů zaznamenána vysoká smrtnost. To je o 25 % častěji než ve zbytku USA (AAD +0.246).</a:t>
            </a:r>
          </a:p>
        </p:txBody>
      </p:sp>
    </p:spTree>
    <p:extLst>
      <p:ext uri="{BB962C8B-B14F-4D97-AF65-F5344CB8AC3E}">
        <p14:creationId xmlns:p14="http://schemas.microsoft.com/office/powerpoint/2010/main" val="286826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227A4-8D4D-6B2A-5606-4C48BF756F49}"/>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638631EA-9824-0CAD-EA5E-50D12FF37D2E}"/>
              </a:ext>
            </a:extLst>
          </p:cNvPr>
          <p:cNvSpPr>
            <a:spLocks noGrp="1"/>
          </p:cNvSpPr>
          <p:nvPr>
            <p:ph type="title"/>
          </p:nvPr>
        </p:nvSpPr>
        <p:spPr/>
        <p:txBody>
          <a:bodyPr>
            <a:normAutofit fontScale="90000"/>
          </a:bodyPr>
          <a:lstStyle/>
          <a:p>
            <a:r>
              <a:rPr lang="cs-CZ" dirty="0"/>
              <a:t>Analytická otázka č. 2: Vliv rasy na dopady pandemie – 4ftMiner</a:t>
            </a:r>
          </a:p>
        </p:txBody>
      </p:sp>
      <p:sp>
        <p:nvSpPr>
          <p:cNvPr id="3" name="Zástupný obsah 2">
            <a:extLst>
              <a:ext uri="{FF2B5EF4-FFF2-40B4-BE49-F238E27FC236}">
                <a16:creationId xmlns:a16="http://schemas.microsoft.com/office/drawing/2014/main" id="{F54E9CFE-5B64-B9C6-2E26-4F9854890393}"/>
              </a:ext>
            </a:extLst>
          </p:cNvPr>
          <p:cNvSpPr>
            <a:spLocks noGrp="1"/>
          </p:cNvSpPr>
          <p:nvPr>
            <p:ph sz="half" idx="1"/>
          </p:nvPr>
        </p:nvSpPr>
        <p:spPr>
          <a:xfrm>
            <a:off x="628650" y="2024743"/>
            <a:ext cx="7779544" cy="4331612"/>
          </a:xfrm>
        </p:spPr>
        <p:txBody>
          <a:bodyPr>
            <a:normAutofit/>
          </a:bodyPr>
          <a:lstStyle/>
          <a:p>
            <a:r>
              <a:rPr lang="cs-CZ" b="1" dirty="0"/>
              <a:t>Výstup</a:t>
            </a:r>
          </a:p>
          <a:p>
            <a:r>
              <a:rPr lang="cs-CZ" b="1" dirty="0"/>
              <a:t>Nalezeno 17 pravidel (uvedeny nejzajímavější):</a:t>
            </a:r>
          </a:p>
          <a:p>
            <a:r>
              <a:rPr lang="cs-CZ" b="1" dirty="0"/>
              <a:t>Pravidlo (CFR): </a:t>
            </a:r>
            <a:r>
              <a:rPr lang="cs-CZ" dirty="0"/>
              <a:t>Pravidlo (</a:t>
            </a:r>
            <a:r>
              <a:rPr lang="cs-CZ" dirty="0" err="1"/>
              <a:t>Deaths</a:t>
            </a:r>
            <a:r>
              <a:rPr lang="cs-CZ" dirty="0"/>
              <a:t> per 100k): </a:t>
            </a:r>
            <a:r>
              <a:rPr lang="cs-CZ" dirty="0" err="1"/>
              <a:t>black_category</a:t>
            </a:r>
            <a:r>
              <a:rPr lang="cs-CZ" dirty="0"/>
              <a:t>(</a:t>
            </a:r>
            <a:r>
              <a:rPr lang="cs-CZ" dirty="0" err="1"/>
              <a:t>High</a:t>
            </a:r>
            <a:r>
              <a:rPr lang="cs-CZ" dirty="0"/>
              <a:t> Black </a:t>
            </a:r>
            <a:r>
              <a:rPr lang="cs-CZ" dirty="0" err="1"/>
              <a:t>Population</a:t>
            </a:r>
            <a:r>
              <a:rPr lang="cs-CZ" dirty="0"/>
              <a:t>) </a:t>
            </a:r>
            <a:r>
              <a:rPr lang="cs-CZ" dirty="0">
                <a:sym typeface="Wingdings" panose="05000000000000000000" pitchFamily="2" charset="2"/>
              </a:rPr>
              <a:t> </a:t>
            </a:r>
            <a:r>
              <a:rPr lang="cs-CZ" dirty="0" err="1"/>
              <a:t>deaths_category</a:t>
            </a:r>
            <a:r>
              <a:rPr lang="cs-CZ" dirty="0"/>
              <a:t>(</a:t>
            </a:r>
            <a:r>
              <a:rPr lang="cs-CZ" dirty="0" err="1"/>
              <a:t>High</a:t>
            </a:r>
            <a:r>
              <a:rPr lang="cs-CZ" dirty="0"/>
              <a:t> </a:t>
            </a:r>
            <a:r>
              <a:rPr lang="cs-CZ" dirty="0" err="1"/>
              <a:t>Deaths</a:t>
            </a:r>
            <a:r>
              <a:rPr lang="cs-CZ" dirty="0"/>
              <a:t>)</a:t>
            </a:r>
          </a:p>
          <a:p>
            <a:r>
              <a:rPr lang="cs-CZ" dirty="0"/>
              <a:t>Spolehlivost (</a:t>
            </a:r>
            <a:r>
              <a:rPr lang="cs-CZ" dirty="0" err="1"/>
              <a:t>Confidence</a:t>
            </a:r>
            <a:r>
              <a:rPr lang="cs-CZ" dirty="0"/>
              <a:t>): 59,7 %</a:t>
            </a:r>
          </a:p>
          <a:p>
            <a:r>
              <a:rPr lang="cs-CZ" dirty="0"/>
              <a:t>Interpretace: Podobně silná korelace se ukázala i u celkové úmrtnosti na 100 tisíc obyvatel. </a:t>
            </a:r>
          </a:p>
        </p:txBody>
      </p:sp>
    </p:spTree>
    <p:extLst>
      <p:ext uri="{BB962C8B-B14F-4D97-AF65-F5344CB8AC3E}">
        <p14:creationId xmlns:p14="http://schemas.microsoft.com/office/powerpoint/2010/main" val="389551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2881D-7523-F679-3C7C-B6ECC23115B6}"/>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C9C35217-C8CF-F67A-E9B9-977F0B186410}"/>
              </a:ext>
            </a:extLst>
          </p:cNvPr>
          <p:cNvSpPr>
            <a:spLocks noGrp="1"/>
          </p:cNvSpPr>
          <p:nvPr>
            <p:ph type="title"/>
          </p:nvPr>
        </p:nvSpPr>
        <p:spPr/>
        <p:txBody>
          <a:bodyPr>
            <a:normAutofit fontScale="90000"/>
          </a:bodyPr>
          <a:lstStyle/>
          <a:p>
            <a:r>
              <a:rPr lang="cs-CZ" dirty="0"/>
              <a:t>Analytická otázka č. 2: Vliv rasy na dopady pandemie – 4ftMiner</a:t>
            </a:r>
          </a:p>
        </p:txBody>
      </p:sp>
      <p:sp>
        <p:nvSpPr>
          <p:cNvPr id="3" name="Zástupný obsah 2">
            <a:extLst>
              <a:ext uri="{FF2B5EF4-FFF2-40B4-BE49-F238E27FC236}">
                <a16:creationId xmlns:a16="http://schemas.microsoft.com/office/drawing/2014/main" id="{A61FF38C-95D5-7329-85AA-2020BE7EB533}"/>
              </a:ext>
            </a:extLst>
          </p:cNvPr>
          <p:cNvSpPr>
            <a:spLocks noGrp="1"/>
          </p:cNvSpPr>
          <p:nvPr>
            <p:ph sz="half" idx="1"/>
          </p:nvPr>
        </p:nvSpPr>
        <p:spPr>
          <a:xfrm>
            <a:off x="628650" y="2024743"/>
            <a:ext cx="7779544" cy="4331612"/>
          </a:xfrm>
        </p:spPr>
        <p:txBody>
          <a:bodyPr>
            <a:normAutofit/>
          </a:bodyPr>
          <a:lstStyle/>
          <a:p>
            <a:r>
              <a:rPr lang="cs-CZ" b="1" dirty="0"/>
              <a:t>Výstup - Business interpretace a doporučené akce</a:t>
            </a:r>
          </a:p>
          <a:p>
            <a:r>
              <a:rPr lang="cs-CZ" b="1" dirty="0"/>
              <a:t>Prioritní alokace zdrojů: </a:t>
            </a:r>
            <a:r>
              <a:rPr lang="cs-CZ" dirty="0"/>
              <a:t>Při budoucích krizích musí být okresy s atributem </a:t>
            </a:r>
            <a:r>
              <a:rPr lang="cs-CZ" dirty="0" err="1"/>
              <a:t>High</a:t>
            </a:r>
            <a:r>
              <a:rPr lang="cs-CZ" dirty="0"/>
              <a:t> Black </a:t>
            </a:r>
            <a:r>
              <a:rPr lang="cs-CZ" dirty="0" err="1"/>
              <a:t>Population</a:t>
            </a:r>
            <a:r>
              <a:rPr lang="cs-CZ" dirty="0"/>
              <a:t> automaticky zařazeny do nejvyšší priority pro distribuci ochranných pomůcek a vakcín, bez ohledu na jejich nominální bohatství.</a:t>
            </a:r>
          </a:p>
          <a:p>
            <a:r>
              <a:rPr lang="cs-CZ" b="1" dirty="0"/>
              <a:t>Cílená zdravotní prevence: </a:t>
            </a:r>
            <a:r>
              <a:rPr lang="cs-CZ" dirty="0"/>
              <a:t>Zaměřit se na léčbu komorbidit (cukrovka, hypertenze) v těchto komunitách před příchodem pandemie, protože právě ty zvyšují CFR.</a:t>
            </a:r>
          </a:p>
          <a:p>
            <a:r>
              <a:rPr lang="cs-CZ" b="1" dirty="0"/>
              <a:t>Podpora "Front-line" pracovníků: </a:t>
            </a:r>
            <a:r>
              <a:rPr lang="cs-CZ" dirty="0"/>
              <a:t>Zavést přísnější hygienické normy a placenou nemocenskou pro profese typické pro Medium </a:t>
            </a:r>
            <a:r>
              <a:rPr lang="cs-CZ" dirty="0" err="1"/>
              <a:t>Income</a:t>
            </a:r>
            <a:r>
              <a:rPr lang="cs-CZ" dirty="0"/>
              <a:t> skupiny, aby lidé nechodili do práce nemocní.</a:t>
            </a:r>
          </a:p>
        </p:txBody>
      </p:sp>
    </p:spTree>
    <p:extLst>
      <p:ext uri="{BB962C8B-B14F-4D97-AF65-F5344CB8AC3E}">
        <p14:creationId xmlns:p14="http://schemas.microsoft.com/office/powerpoint/2010/main" val="425426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95093-9411-8A1A-820F-597A04FBC34B}"/>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FDAC38ED-8CE7-05D5-898A-CD328C0454AB}"/>
              </a:ext>
            </a:extLst>
          </p:cNvPr>
          <p:cNvSpPr>
            <a:spLocks noGrp="1"/>
          </p:cNvSpPr>
          <p:nvPr>
            <p:ph type="title"/>
          </p:nvPr>
        </p:nvSpPr>
        <p:spPr/>
        <p:txBody>
          <a:bodyPr>
            <a:normAutofit fontScale="90000"/>
          </a:bodyPr>
          <a:lstStyle/>
          <a:p>
            <a:r>
              <a:rPr lang="cs-CZ" dirty="0"/>
              <a:t>Analytická otázka č. 3: Ochranné faktory úmrtnosti – </a:t>
            </a:r>
            <a:r>
              <a:rPr lang="cs-CZ" dirty="0" err="1"/>
              <a:t>CFMiner</a:t>
            </a:r>
            <a:endParaRPr lang="cs-CZ" dirty="0"/>
          </a:p>
        </p:txBody>
      </p:sp>
      <p:sp>
        <p:nvSpPr>
          <p:cNvPr id="3" name="Zástupný obsah 2">
            <a:extLst>
              <a:ext uri="{FF2B5EF4-FFF2-40B4-BE49-F238E27FC236}">
                <a16:creationId xmlns:a16="http://schemas.microsoft.com/office/drawing/2014/main" id="{9E61DF4A-8956-B32B-4D7F-CC075919B653}"/>
              </a:ext>
            </a:extLst>
          </p:cNvPr>
          <p:cNvSpPr>
            <a:spLocks noGrp="1"/>
          </p:cNvSpPr>
          <p:nvPr>
            <p:ph sz="half" idx="1"/>
          </p:nvPr>
        </p:nvSpPr>
        <p:spPr>
          <a:xfrm>
            <a:off x="628650" y="2024743"/>
            <a:ext cx="7779544" cy="4331612"/>
          </a:xfrm>
        </p:spPr>
        <p:txBody>
          <a:bodyPr>
            <a:normAutofit/>
          </a:bodyPr>
          <a:lstStyle/>
          <a:p>
            <a:r>
              <a:rPr lang="cs-CZ" b="1" dirty="0"/>
              <a:t>Business popis (Cíl analýzy):</a:t>
            </a:r>
          </a:p>
          <a:p>
            <a:r>
              <a:rPr lang="cs-CZ" dirty="0"/>
              <a:t>Zatímco předchozí analýzy se zaměřovaly na rizikové faktory (co úmrtnost zvyšuje), cílem této části bylo identifikovat tzv. ochranné faktory (</a:t>
            </a:r>
            <a:r>
              <a:rPr lang="cs-CZ" dirty="0" err="1"/>
              <a:t>Protective</a:t>
            </a:r>
            <a:r>
              <a:rPr lang="cs-CZ" dirty="0"/>
              <a:t> </a:t>
            </a:r>
            <a:r>
              <a:rPr lang="cs-CZ" dirty="0" err="1"/>
              <a:t>Factors</a:t>
            </a:r>
            <a:r>
              <a:rPr lang="cs-CZ" dirty="0"/>
              <a:t>). Hledaly se specifické kombinace podmínek (socioekonomické, demografické), které jsou statisticky spojeny s klesajícím trendem úmrtnosti (Shift to </a:t>
            </a:r>
            <a:r>
              <a:rPr lang="cs-CZ" dirty="0" err="1"/>
              <a:t>Low</a:t>
            </a:r>
            <a:r>
              <a:rPr lang="cs-CZ" dirty="0"/>
              <a:t> Mortality). </a:t>
            </a:r>
          </a:p>
          <a:p>
            <a:r>
              <a:rPr lang="cs-CZ" dirty="0"/>
              <a:t>Zkoumali jsme konkrétně </a:t>
            </a:r>
            <a:r>
              <a:rPr lang="cs-CZ" dirty="0" err="1"/>
              <a:t>income</a:t>
            </a:r>
            <a:r>
              <a:rPr lang="cs-CZ" dirty="0"/>
              <a:t> a </a:t>
            </a:r>
            <a:r>
              <a:rPr lang="cs-CZ" dirty="0" err="1"/>
              <a:t>poverty</a:t>
            </a:r>
            <a:r>
              <a:rPr lang="cs-CZ" dirty="0"/>
              <a:t> </a:t>
            </a:r>
            <a:r>
              <a:rPr lang="cs-CZ" dirty="0" err="1"/>
              <a:t>category</a:t>
            </a:r>
            <a:r>
              <a:rPr lang="cs-CZ" dirty="0"/>
              <a:t>, dále </a:t>
            </a:r>
            <a:r>
              <a:rPr lang="cs-CZ" dirty="0" err="1"/>
              <a:t>county</a:t>
            </a:r>
            <a:r>
              <a:rPr lang="cs-CZ" dirty="0"/>
              <a:t> </a:t>
            </a:r>
            <a:r>
              <a:rPr lang="cs-CZ" dirty="0" err="1"/>
              <a:t>size</a:t>
            </a:r>
            <a:r>
              <a:rPr lang="cs-CZ" dirty="0"/>
              <a:t> a gender </a:t>
            </a:r>
            <a:r>
              <a:rPr lang="cs-CZ" dirty="0" err="1"/>
              <a:t>category</a:t>
            </a:r>
            <a:r>
              <a:rPr lang="cs-CZ" dirty="0"/>
              <a:t>.</a:t>
            </a:r>
          </a:p>
        </p:txBody>
      </p:sp>
    </p:spTree>
    <p:extLst>
      <p:ext uri="{BB962C8B-B14F-4D97-AF65-F5344CB8AC3E}">
        <p14:creationId xmlns:p14="http://schemas.microsoft.com/office/powerpoint/2010/main" val="563576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C53AF-761E-52CF-A68D-55B841E7A3F5}"/>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EF39D613-025B-657D-C652-20D61327F3D7}"/>
              </a:ext>
            </a:extLst>
          </p:cNvPr>
          <p:cNvSpPr>
            <a:spLocks noGrp="1"/>
          </p:cNvSpPr>
          <p:nvPr>
            <p:ph type="title"/>
          </p:nvPr>
        </p:nvSpPr>
        <p:spPr/>
        <p:txBody>
          <a:bodyPr>
            <a:normAutofit fontScale="90000"/>
          </a:bodyPr>
          <a:lstStyle/>
          <a:p>
            <a:r>
              <a:rPr lang="cs-CZ" dirty="0"/>
              <a:t>Analytická otázka č. 3: Ochranné faktory úmrtnosti – </a:t>
            </a:r>
            <a:r>
              <a:rPr lang="cs-CZ" dirty="0" err="1"/>
              <a:t>CFMiner</a:t>
            </a:r>
            <a:endParaRPr lang="cs-CZ" dirty="0"/>
          </a:p>
        </p:txBody>
      </p:sp>
      <p:sp>
        <p:nvSpPr>
          <p:cNvPr id="3" name="Zástupný obsah 2">
            <a:extLst>
              <a:ext uri="{FF2B5EF4-FFF2-40B4-BE49-F238E27FC236}">
                <a16:creationId xmlns:a16="http://schemas.microsoft.com/office/drawing/2014/main" id="{0D5B4C5B-C1D7-11BD-077D-C7B5C9E47AEB}"/>
              </a:ext>
            </a:extLst>
          </p:cNvPr>
          <p:cNvSpPr>
            <a:spLocks noGrp="1"/>
          </p:cNvSpPr>
          <p:nvPr>
            <p:ph sz="half" idx="1"/>
          </p:nvPr>
        </p:nvSpPr>
        <p:spPr>
          <a:xfrm>
            <a:off x="628650" y="2024743"/>
            <a:ext cx="7779544" cy="4331612"/>
          </a:xfrm>
        </p:spPr>
        <p:txBody>
          <a:bodyPr>
            <a:normAutofit/>
          </a:bodyPr>
          <a:lstStyle/>
          <a:p>
            <a:r>
              <a:rPr lang="cs-CZ" b="1" dirty="0"/>
              <a:t>Technické řešení:</a:t>
            </a:r>
          </a:p>
        </p:txBody>
      </p:sp>
      <p:pic>
        <p:nvPicPr>
          <p:cNvPr id="4" name="Obrázek 3">
            <a:extLst>
              <a:ext uri="{FF2B5EF4-FFF2-40B4-BE49-F238E27FC236}">
                <a16:creationId xmlns:a16="http://schemas.microsoft.com/office/drawing/2014/main" id="{0F29C996-38BF-881F-054F-09B30B691F14}"/>
              </a:ext>
            </a:extLst>
          </p:cNvPr>
          <p:cNvPicPr>
            <a:picLocks noChangeAspect="1"/>
          </p:cNvPicPr>
          <p:nvPr/>
        </p:nvPicPr>
        <p:blipFill>
          <a:blip r:embed="rId2"/>
          <a:stretch>
            <a:fillRect/>
          </a:stretch>
        </p:blipFill>
        <p:spPr>
          <a:xfrm>
            <a:off x="1250767" y="2673210"/>
            <a:ext cx="6584693" cy="3683145"/>
          </a:xfrm>
          <a:prstGeom prst="rect">
            <a:avLst/>
          </a:prstGeom>
        </p:spPr>
      </p:pic>
    </p:spTree>
    <p:extLst>
      <p:ext uri="{BB962C8B-B14F-4D97-AF65-F5344CB8AC3E}">
        <p14:creationId xmlns:p14="http://schemas.microsoft.com/office/powerpoint/2010/main" val="2518886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1B811-24BC-BE81-2E30-319CCCBCD53A}"/>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4B863D31-67B8-0C35-9222-063AD9D533E8}"/>
              </a:ext>
            </a:extLst>
          </p:cNvPr>
          <p:cNvSpPr>
            <a:spLocks noGrp="1"/>
          </p:cNvSpPr>
          <p:nvPr>
            <p:ph type="title"/>
          </p:nvPr>
        </p:nvSpPr>
        <p:spPr/>
        <p:txBody>
          <a:bodyPr>
            <a:normAutofit fontScale="90000"/>
          </a:bodyPr>
          <a:lstStyle/>
          <a:p>
            <a:r>
              <a:rPr lang="cs-CZ" dirty="0"/>
              <a:t>Analytická otázka č. 3: Ochranné faktory úmrtnosti – </a:t>
            </a:r>
            <a:r>
              <a:rPr lang="cs-CZ" dirty="0" err="1"/>
              <a:t>CFMiner</a:t>
            </a:r>
            <a:endParaRPr lang="cs-CZ" dirty="0"/>
          </a:p>
        </p:txBody>
      </p:sp>
      <p:sp>
        <p:nvSpPr>
          <p:cNvPr id="3" name="Zástupný obsah 2">
            <a:extLst>
              <a:ext uri="{FF2B5EF4-FFF2-40B4-BE49-F238E27FC236}">
                <a16:creationId xmlns:a16="http://schemas.microsoft.com/office/drawing/2014/main" id="{176339FB-C3F4-8BF7-4970-77D98BA9F021}"/>
              </a:ext>
            </a:extLst>
          </p:cNvPr>
          <p:cNvSpPr>
            <a:spLocks noGrp="1"/>
          </p:cNvSpPr>
          <p:nvPr>
            <p:ph sz="half" idx="1"/>
          </p:nvPr>
        </p:nvSpPr>
        <p:spPr>
          <a:xfrm>
            <a:off x="628650" y="2024743"/>
            <a:ext cx="7779544" cy="4331612"/>
          </a:xfrm>
        </p:spPr>
        <p:txBody>
          <a:bodyPr>
            <a:normAutofit/>
          </a:bodyPr>
          <a:lstStyle/>
          <a:p>
            <a:r>
              <a:rPr lang="cs-CZ" sz="1800" b="1" dirty="0"/>
              <a:t>Výstup:</a:t>
            </a:r>
          </a:p>
          <a:p>
            <a:r>
              <a:rPr lang="cs-CZ" sz="1800" b="1" dirty="0"/>
              <a:t>Nalezeno 54 pravidel, nejzajímavější:</a:t>
            </a:r>
          </a:p>
          <a:p>
            <a:r>
              <a:rPr lang="en-US" sz="1800" b="1" dirty="0" err="1"/>
              <a:t>Pravidlo</a:t>
            </a:r>
            <a:r>
              <a:rPr lang="en-US" sz="1800" b="1" dirty="0"/>
              <a:t> č. 1: </a:t>
            </a:r>
            <a:r>
              <a:rPr lang="en-US" sz="1800" b="1" dirty="0" err="1"/>
              <a:t>income_category</a:t>
            </a:r>
            <a:r>
              <a:rPr lang="en-US" sz="1800" b="1" dirty="0"/>
              <a:t>(High 60-80k) </a:t>
            </a:r>
            <a:r>
              <a:rPr lang="cs-CZ" sz="1800" b="1" dirty="0">
                <a:sym typeface="Wingdings" panose="05000000000000000000" pitchFamily="2" charset="2"/>
              </a:rPr>
              <a:t></a:t>
            </a:r>
            <a:r>
              <a:rPr lang="en-US" sz="1800" b="1" dirty="0"/>
              <a:t> S_DOWN = 4</a:t>
            </a:r>
            <a:endParaRPr lang="cs-CZ" sz="1800" b="1" dirty="0"/>
          </a:p>
          <a:p>
            <a:pPr lvl="1"/>
            <a:r>
              <a:rPr lang="cs-CZ" b="1" dirty="0"/>
              <a:t>Base: 874</a:t>
            </a:r>
          </a:p>
          <a:p>
            <a:pPr lvl="1"/>
            <a:r>
              <a:rPr lang="cs-CZ" b="1" dirty="0"/>
              <a:t>Interpretace:</a:t>
            </a:r>
            <a:r>
              <a:rPr lang="cs-CZ" dirty="0"/>
              <a:t> V bohatších okresech je trend úmrtnosti strmě klesající.</a:t>
            </a:r>
          </a:p>
          <a:p>
            <a:r>
              <a:rPr lang="cs-CZ" sz="1800" b="1" dirty="0"/>
              <a:t>Pravidlo č. 30 </a:t>
            </a:r>
            <a:r>
              <a:rPr lang="en-US" sz="1800" b="1" dirty="0" err="1"/>
              <a:t>poverty_category</a:t>
            </a:r>
            <a:r>
              <a:rPr lang="en-US" sz="1800" b="1" dirty="0"/>
              <a:t>(Low &lt;10%) </a:t>
            </a:r>
            <a:r>
              <a:rPr lang="cs-CZ" sz="1800" b="1" dirty="0">
                <a:sym typeface="Wingdings" panose="05000000000000000000" pitchFamily="2" charset="2"/>
              </a:rPr>
              <a:t></a:t>
            </a:r>
            <a:r>
              <a:rPr lang="en-US" sz="1800" b="1" dirty="0"/>
              <a:t> S_DOWN = 4</a:t>
            </a:r>
            <a:endParaRPr lang="cs-CZ" sz="1800" b="1" dirty="0"/>
          </a:p>
          <a:p>
            <a:pPr lvl="1"/>
            <a:r>
              <a:rPr lang="cs-CZ" b="1" dirty="0"/>
              <a:t>Base: 808</a:t>
            </a:r>
          </a:p>
          <a:p>
            <a:pPr lvl="1"/>
            <a:r>
              <a:rPr lang="cs-CZ" b="1" dirty="0"/>
              <a:t>Interpretace</a:t>
            </a:r>
            <a:r>
              <a:rPr lang="cs-CZ" dirty="0"/>
              <a:t>: Nízká míra chudoby znamená výrazný pokles úmrtnosti</a:t>
            </a:r>
          </a:p>
          <a:p>
            <a:r>
              <a:rPr lang="cs-CZ" sz="1800" b="1" dirty="0"/>
              <a:t>Pravidlo č. 54 </a:t>
            </a:r>
            <a:r>
              <a:rPr lang="en-US" sz="1800" b="1" dirty="0" err="1"/>
              <a:t>gender_category</a:t>
            </a:r>
            <a:r>
              <a:rPr lang="en-US" sz="1800" b="1" dirty="0"/>
              <a:t>(Lower Female</a:t>
            </a:r>
            <a:r>
              <a:rPr lang="cs-CZ" sz="1800" b="1" dirty="0"/>
              <a:t>)</a:t>
            </a:r>
            <a:r>
              <a:rPr lang="en-US" sz="1800" b="1" dirty="0"/>
              <a:t> </a:t>
            </a:r>
            <a:r>
              <a:rPr lang="cs-CZ" sz="1800" b="1" dirty="0">
                <a:sym typeface="Wingdings" panose="05000000000000000000" pitchFamily="2" charset="2"/>
              </a:rPr>
              <a:t> </a:t>
            </a:r>
            <a:r>
              <a:rPr lang="en-US" sz="1800" b="1" dirty="0"/>
              <a:t>S_DOWN = 3</a:t>
            </a:r>
            <a:endParaRPr lang="cs-CZ" sz="1800" b="1" dirty="0"/>
          </a:p>
          <a:p>
            <a:pPr lvl="1"/>
            <a:r>
              <a:rPr lang="cs-CZ" b="1" dirty="0"/>
              <a:t>Base: 1570	</a:t>
            </a:r>
          </a:p>
          <a:p>
            <a:pPr lvl="1"/>
            <a:r>
              <a:rPr lang="cs-CZ" b="1" dirty="0"/>
              <a:t>Interpretace: </a:t>
            </a:r>
            <a:r>
              <a:rPr lang="cs-CZ" dirty="0"/>
              <a:t>Okresy s nižším podílem žen (a tedy vyšším podílem mužů) vykazují nižší úmrtnost.</a:t>
            </a:r>
            <a:endParaRPr lang="cs-CZ" b="1" dirty="0"/>
          </a:p>
        </p:txBody>
      </p:sp>
    </p:spTree>
    <p:extLst>
      <p:ext uri="{BB962C8B-B14F-4D97-AF65-F5344CB8AC3E}">
        <p14:creationId xmlns:p14="http://schemas.microsoft.com/office/powerpoint/2010/main" val="2213511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AE748-A35F-DA2B-F8F8-73071357C18F}"/>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7BAD3F9-1F38-B0CC-33AC-A7EE5EF431EF}"/>
              </a:ext>
            </a:extLst>
          </p:cNvPr>
          <p:cNvSpPr>
            <a:spLocks noGrp="1"/>
          </p:cNvSpPr>
          <p:nvPr>
            <p:ph type="title"/>
          </p:nvPr>
        </p:nvSpPr>
        <p:spPr/>
        <p:txBody>
          <a:bodyPr>
            <a:normAutofit fontScale="90000"/>
          </a:bodyPr>
          <a:lstStyle/>
          <a:p>
            <a:r>
              <a:rPr lang="cs-CZ" dirty="0"/>
              <a:t>Analytická otázka č. 3: Ochranné faktory úmrtnosti – </a:t>
            </a:r>
            <a:r>
              <a:rPr lang="cs-CZ" dirty="0" err="1"/>
              <a:t>CFMiner</a:t>
            </a:r>
            <a:endParaRPr lang="cs-CZ" dirty="0"/>
          </a:p>
        </p:txBody>
      </p:sp>
      <p:sp>
        <p:nvSpPr>
          <p:cNvPr id="3" name="Zástupný obsah 2">
            <a:extLst>
              <a:ext uri="{FF2B5EF4-FFF2-40B4-BE49-F238E27FC236}">
                <a16:creationId xmlns:a16="http://schemas.microsoft.com/office/drawing/2014/main" id="{00A56220-0731-D1AD-B11A-F1A2B67DB23D}"/>
              </a:ext>
            </a:extLst>
          </p:cNvPr>
          <p:cNvSpPr>
            <a:spLocks noGrp="1"/>
          </p:cNvSpPr>
          <p:nvPr>
            <p:ph sz="half" idx="1"/>
          </p:nvPr>
        </p:nvSpPr>
        <p:spPr>
          <a:xfrm>
            <a:off x="628650" y="2024743"/>
            <a:ext cx="7779544" cy="4331612"/>
          </a:xfrm>
        </p:spPr>
        <p:txBody>
          <a:bodyPr>
            <a:normAutofit/>
          </a:bodyPr>
          <a:lstStyle/>
          <a:p>
            <a:r>
              <a:rPr lang="cs-CZ" sz="1800" b="1" dirty="0"/>
              <a:t>Výstup - Business interpretace a doporučené akce:</a:t>
            </a:r>
          </a:p>
          <a:p>
            <a:r>
              <a:rPr lang="cs-CZ" sz="1800" dirty="0"/>
              <a:t>Výsledky CF-</a:t>
            </a:r>
            <a:r>
              <a:rPr lang="cs-CZ" sz="1800" dirty="0" err="1"/>
              <a:t>Mineru</a:t>
            </a:r>
            <a:r>
              <a:rPr lang="cs-CZ" sz="1800" dirty="0"/>
              <a:t> ukazují, že nejlepší prevencí proti vysoké úmrtnosti je ekonomická stabilita.</a:t>
            </a:r>
          </a:p>
          <a:p>
            <a:r>
              <a:rPr lang="cs-CZ" sz="1800" b="1" dirty="0"/>
              <a:t>Doporučené akce:</a:t>
            </a:r>
            <a:endParaRPr lang="cs-CZ" sz="1800" dirty="0"/>
          </a:p>
          <a:p>
            <a:r>
              <a:rPr lang="cs-CZ" sz="1800" b="1" dirty="0"/>
              <a:t>Investice do zdravotní infrastruktury na venkově:</a:t>
            </a:r>
            <a:r>
              <a:rPr lang="cs-CZ" sz="1800" dirty="0"/>
              <a:t> Malé okresy (</a:t>
            </a:r>
            <a:r>
              <a:rPr lang="cs-CZ" sz="1800" dirty="0" err="1"/>
              <a:t>Small</a:t>
            </a:r>
            <a:r>
              <a:rPr lang="cs-CZ" sz="1800" dirty="0"/>
              <a:t> </a:t>
            </a:r>
            <a:r>
              <a:rPr lang="cs-CZ" sz="1800" dirty="0" err="1"/>
              <a:t>County</a:t>
            </a:r>
            <a:r>
              <a:rPr lang="cs-CZ" sz="1800" dirty="0"/>
              <a:t>) se v seznamu "Top ochranných faktorů" vyskytují méně často než ty střední. Je třeba posílit jejich kapacity.</a:t>
            </a:r>
          </a:p>
          <a:p>
            <a:r>
              <a:rPr lang="cs-CZ" sz="1800" b="1" dirty="0"/>
              <a:t>Ochrana domovů seniorů:</a:t>
            </a:r>
            <a:r>
              <a:rPr lang="cs-CZ" sz="1800" dirty="0"/>
              <a:t> Pokud hypotéza o "vyšším podílu žen" koreluje s věkem populace, je nutné v těchto regionech (často s pečovatelskými domy) zavést trvalá preventivní opatření, nejen v době pandemie.</a:t>
            </a:r>
          </a:p>
          <a:p>
            <a:endParaRPr lang="cs-CZ" sz="1800" dirty="0"/>
          </a:p>
        </p:txBody>
      </p:sp>
    </p:spTree>
    <p:extLst>
      <p:ext uri="{BB962C8B-B14F-4D97-AF65-F5344CB8AC3E}">
        <p14:creationId xmlns:p14="http://schemas.microsoft.com/office/powerpoint/2010/main" val="830809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496AB-2A9B-C7F7-A626-E3800E94DFA2}"/>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B7A776AD-4158-1562-0F5E-946C7ED3C5F5}"/>
              </a:ext>
            </a:extLst>
          </p:cNvPr>
          <p:cNvSpPr>
            <a:spLocks noGrp="1"/>
          </p:cNvSpPr>
          <p:nvPr>
            <p:ph type="title"/>
          </p:nvPr>
        </p:nvSpPr>
        <p:spPr/>
        <p:txBody>
          <a:bodyPr>
            <a:normAutofit fontScale="90000"/>
          </a:bodyPr>
          <a:lstStyle/>
          <a:p>
            <a:r>
              <a:rPr lang="cs-CZ" dirty="0"/>
              <a:t>Analytická otázka č. 4: Kde se úmrtnost mezi vlnami zhoršila nejvíce? – </a:t>
            </a:r>
            <a:r>
              <a:rPr lang="cs-CZ" dirty="0" err="1"/>
              <a:t>CFMiner</a:t>
            </a:r>
            <a:endParaRPr lang="cs-CZ" dirty="0"/>
          </a:p>
        </p:txBody>
      </p:sp>
      <p:sp>
        <p:nvSpPr>
          <p:cNvPr id="3" name="Zástupný obsah 2">
            <a:extLst>
              <a:ext uri="{FF2B5EF4-FFF2-40B4-BE49-F238E27FC236}">
                <a16:creationId xmlns:a16="http://schemas.microsoft.com/office/drawing/2014/main" id="{0149D1AB-E352-A98F-982A-E10AC358DB99}"/>
              </a:ext>
            </a:extLst>
          </p:cNvPr>
          <p:cNvSpPr>
            <a:spLocks noGrp="1"/>
          </p:cNvSpPr>
          <p:nvPr>
            <p:ph sz="half" idx="1"/>
          </p:nvPr>
        </p:nvSpPr>
        <p:spPr>
          <a:xfrm>
            <a:off x="628650" y="2024743"/>
            <a:ext cx="7779544" cy="4331612"/>
          </a:xfrm>
        </p:spPr>
        <p:txBody>
          <a:bodyPr>
            <a:normAutofit/>
          </a:bodyPr>
          <a:lstStyle/>
          <a:p>
            <a:r>
              <a:rPr lang="cs-CZ" sz="1800" b="1" dirty="0"/>
              <a:t>Business popis (Cíl analýzy)</a:t>
            </a:r>
          </a:p>
          <a:p>
            <a:r>
              <a:rPr lang="cs-CZ" sz="1800" dirty="0"/>
              <a:t>Cílem této analýzy bylo identifikovat regiony, které zaznamenaly nejprudší nárůst úmrtnosti (největší zhoršení) mezi jednotlivými fázemi pandemie. Cílem bylo zjistit, zda existují specifické socioekonomické charakteristiky okresů, které "neudržely" původně příznivý stav a staly se novými ohnisky nákazy.</a:t>
            </a:r>
            <a:endParaRPr lang="cs-CZ" sz="1800" b="1" dirty="0"/>
          </a:p>
          <a:p>
            <a:endParaRPr lang="cs-CZ" sz="1800" dirty="0"/>
          </a:p>
        </p:txBody>
      </p:sp>
    </p:spTree>
    <p:extLst>
      <p:ext uri="{BB962C8B-B14F-4D97-AF65-F5344CB8AC3E}">
        <p14:creationId xmlns:p14="http://schemas.microsoft.com/office/powerpoint/2010/main" val="570907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2CF7A-DE2C-7103-02F3-384478D237AB}"/>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3CD41CD6-CCDF-22F6-9A21-B4CC10563C8A}"/>
              </a:ext>
            </a:extLst>
          </p:cNvPr>
          <p:cNvSpPr>
            <a:spLocks noGrp="1"/>
          </p:cNvSpPr>
          <p:nvPr>
            <p:ph type="title"/>
          </p:nvPr>
        </p:nvSpPr>
        <p:spPr/>
        <p:txBody>
          <a:bodyPr>
            <a:normAutofit fontScale="90000"/>
          </a:bodyPr>
          <a:lstStyle/>
          <a:p>
            <a:r>
              <a:rPr lang="cs-CZ" dirty="0"/>
              <a:t>Analytická otázka č. 4: Kde se úmrtnost mezi vlnami zhoršila nejvíce? – </a:t>
            </a:r>
            <a:r>
              <a:rPr lang="cs-CZ" dirty="0" err="1"/>
              <a:t>CFMiner</a:t>
            </a:r>
            <a:endParaRPr lang="cs-CZ" dirty="0"/>
          </a:p>
        </p:txBody>
      </p:sp>
      <p:sp>
        <p:nvSpPr>
          <p:cNvPr id="3" name="Zástupný obsah 2">
            <a:extLst>
              <a:ext uri="{FF2B5EF4-FFF2-40B4-BE49-F238E27FC236}">
                <a16:creationId xmlns:a16="http://schemas.microsoft.com/office/drawing/2014/main" id="{DF263927-7406-D9B3-1EA6-582CC9058CCE}"/>
              </a:ext>
            </a:extLst>
          </p:cNvPr>
          <p:cNvSpPr>
            <a:spLocks noGrp="1"/>
          </p:cNvSpPr>
          <p:nvPr>
            <p:ph sz="half" idx="1"/>
          </p:nvPr>
        </p:nvSpPr>
        <p:spPr>
          <a:xfrm>
            <a:off x="628650" y="2024743"/>
            <a:ext cx="7779544" cy="4331612"/>
          </a:xfrm>
        </p:spPr>
        <p:txBody>
          <a:bodyPr>
            <a:normAutofit/>
          </a:bodyPr>
          <a:lstStyle/>
          <a:p>
            <a:r>
              <a:rPr lang="cs-CZ" sz="1800" b="1" dirty="0"/>
              <a:t>Technické řešení:</a:t>
            </a:r>
          </a:p>
          <a:p>
            <a:endParaRPr lang="cs-CZ" sz="1800" dirty="0"/>
          </a:p>
        </p:txBody>
      </p:sp>
      <p:pic>
        <p:nvPicPr>
          <p:cNvPr id="4" name="Obrázek 3">
            <a:extLst>
              <a:ext uri="{FF2B5EF4-FFF2-40B4-BE49-F238E27FC236}">
                <a16:creationId xmlns:a16="http://schemas.microsoft.com/office/drawing/2014/main" id="{554068F8-916C-AC29-5BB6-C80D9BD6C754}"/>
              </a:ext>
            </a:extLst>
          </p:cNvPr>
          <p:cNvPicPr>
            <a:picLocks noChangeAspect="1"/>
          </p:cNvPicPr>
          <p:nvPr/>
        </p:nvPicPr>
        <p:blipFill>
          <a:blip r:embed="rId2"/>
          <a:stretch>
            <a:fillRect/>
          </a:stretch>
        </p:blipFill>
        <p:spPr>
          <a:xfrm>
            <a:off x="1076246" y="2550351"/>
            <a:ext cx="6884352" cy="3687637"/>
          </a:xfrm>
          <a:prstGeom prst="rect">
            <a:avLst/>
          </a:prstGeom>
        </p:spPr>
      </p:pic>
    </p:spTree>
    <p:extLst>
      <p:ext uri="{BB962C8B-B14F-4D97-AF65-F5344CB8AC3E}">
        <p14:creationId xmlns:p14="http://schemas.microsoft.com/office/powerpoint/2010/main" val="3830157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59A7B-66F1-ABC2-3A55-3A73D505192E}"/>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0CED0615-2359-5B8D-60F5-D4CA7C09B4C6}"/>
              </a:ext>
            </a:extLst>
          </p:cNvPr>
          <p:cNvSpPr>
            <a:spLocks noGrp="1"/>
          </p:cNvSpPr>
          <p:nvPr>
            <p:ph type="title"/>
          </p:nvPr>
        </p:nvSpPr>
        <p:spPr/>
        <p:txBody>
          <a:bodyPr>
            <a:normAutofit fontScale="90000"/>
          </a:bodyPr>
          <a:lstStyle/>
          <a:p>
            <a:r>
              <a:rPr lang="cs-CZ" dirty="0"/>
              <a:t>Analytická otázka č. 4: Kde se úmrtnost mezi vlnami zhoršila nejvíce? – </a:t>
            </a:r>
            <a:r>
              <a:rPr lang="cs-CZ" dirty="0" err="1"/>
              <a:t>CFMiner</a:t>
            </a:r>
            <a:endParaRPr lang="cs-CZ" dirty="0"/>
          </a:p>
        </p:txBody>
      </p:sp>
      <p:sp>
        <p:nvSpPr>
          <p:cNvPr id="3" name="Zástupný obsah 2">
            <a:extLst>
              <a:ext uri="{FF2B5EF4-FFF2-40B4-BE49-F238E27FC236}">
                <a16:creationId xmlns:a16="http://schemas.microsoft.com/office/drawing/2014/main" id="{764175E0-1562-F461-515C-BD7BC0157D10}"/>
              </a:ext>
            </a:extLst>
          </p:cNvPr>
          <p:cNvSpPr>
            <a:spLocks noGrp="1"/>
          </p:cNvSpPr>
          <p:nvPr>
            <p:ph sz="half" idx="1"/>
          </p:nvPr>
        </p:nvSpPr>
        <p:spPr>
          <a:xfrm>
            <a:off x="628650" y="2024743"/>
            <a:ext cx="7779544" cy="4331612"/>
          </a:xfrm>
        </p:spPr>
        <p:txBody>
          <a:bodyPr>
            <a:normAutofit/>
          </a:bodyPr>
          <a:lstStyle/>
          <a:p>
            <a:r>
              <a:rPr lang="cs-CZ" sz="1800" b="1" dirty="0"/>
              <a:t>Výstup:</a:t>
            </a:r>
          </a:p>
          <a:p>
            <a:r>
              <a:rPr lang="cs-CZ" sz="1800" dirty="0"/>
              <a:t>Celkem nalezeno 7 pravidel, nejzajímavější:</a:t>
            </a:r>
          </a:p>
          <a:p>
            <a:r>
              <a:rPr lang="cs-CZ" sz="1800" b="1" dirty="0"/>
              <a:t>Pravidlo č. 2: </a:t>
            </a:r>
            <a:r>
              <a:rPr lang="en-US" sz="1800" dirty="0" err="1"/>
              <a:t>income_category</a:t>
            </a:r>
            <a:r>
              <a:rPr lang="en-US" sz="1800" dirty="0"/>
              <a:t>(Medium 40-60k) </a:t>
            </a:r>
            <a:r>
              <a:rPr lang="cs-CZ" sz="1800" dirty="0">
                <a:sym typeface="Wingdings" panose="05000000000000000000" pitchFamily="2" charset="2"/>
              </a:rPr>
              <a:t> </a:t>
            </a:r>
            <a:r>
              <a:rPr lang="en-US" sz="1800" dirty="0"/>
              <a:t>S_UP = 4</a:t>
            </a:r>
            <a:endParaRPr lang="cs-CZ" sz="1800" dirty="0"/>
          </a:p>
          <a:p>
            <a:r>
              <a:rPr lang="cs-CZ" sz="1800" b="1" dirty="0"/>
              <a:t>Interpretace: </a:t>
            </a:r>
            <a:r>
              <a:rPr lang="cs-CZ" sz="1800" dirty="0"/>
              <a:t>V okresech se středními příjmy došlo k absolutně nejhoršímu vývoji. Histogram se zde posunul o 4 kategorie směrem nahoru. To znamená, že zatímco na jaře mohly být tyto oblasti relativně bezpečné, na konci roku patřily k nejpostiženějším.</a:t>
            </a:r>
          </a:p>
          <a:p>
            <a:r>
              <a:rPr lang="en-US" sz="1800" b="1" dirty="0" err="1"/>
              <a:t>Pravidlo</a:t>
            </a:r>
            <a:r>
              <a:rPr lang="en-US" sz="1800" b="1" dirty="0"/>
              <a:t> č. 4</a:t>
            </a:r>
            <a:r>
              <a:rPr lang="en-US" sz="1800" dirty="0"/>
              <a:t>: </a:t>
            </a:r>
            <a:r>
              <a:rPr lang="en-US" sz="1800" dirty="0" err="1"/>
              <a:t>income_category</a:t>
            </a:r>
            <a:r>
              <a:rPr lang="en-US" sz="1800" dirty="0"/>
              <a:t>(Medium) &amp; </a:t>
            </a:r>
            <a:r>
              <a:rPr lang="en-US" sz="1800" dirty="0" err="1"/>
              <a:t>county_size</a:t>
            </a:r>
            <a:r>
              <a:rPr lang="en-US" sz="1800" dirty="0"/>
              <a:t>(Small County) </a:t>
            </a:r>
            <a:r>
              <a:rPr lang="cs-CZ" sz="1800" dirty="0">
                <a:sym typeface="Wingdings" panose="05000000000000000000" pitchFamily="2" charset="2"/>
              </a:rPr>
              <a:t> </a:t>
            </a:r>
            <a:r>
              <a:rPr lang="en-US" sz="1800" dirty="0"/>
              <a:t>S_UP = 4</a:t>
            </a:r>
            <a:endParaRPr lang="cs-CZ" sz="1800" dirty="0"/>
          </a:p>
          <a:p>
            <a:r>
              <a:rPr lang="cs-CZ" sz="1800" b="1" dirty="0"/>
              <a:t>Intepretace</a:t>
            </a:r>
            <a:r>
              <a:rPr lang="cs-CZ" sz="1800" dirty="0"/>
              <a:t>: Zde se nejspíše spojila horší dostupnost péče (venkov=</a:t>
            </a:r>
            <a:r>
              <a:rPr lang="cs-CZ" sz="1800" dirty="0" err="1"/>
              <a:t>small</a:t>
            </a:r>
            <a:r>
              <a:rPr lang="cs-CZ" sz="1800" dirty="0"/>
              <a:t> </a:t>
            </a:r>
            <a:r>
              <a:rPr lang="cs-CZ" sz="1800" dirty="0" err="1"/>
              <a:t>county</a:t>
            </a:r>
            <a:r>
              <a:rPr lang="cs-CZ" sz="1800" dirty="0"/>
              <a:t>) s nutností chodit do práce (střední příjmy)</a:t>
            </a:r>
          </a:p>
          <a:p>
            <a:endParaRPr lang="cs-CZ" sz="1800" b="1" dirty="0"/>
          </a:p>
          <a:p>
            <a:endParaRPr lang="cs-CZ" sz="1800" dirty="0"/>
          </a:p>
        </p:txBody>
      </p:sp>
    </p:spTree>
    <p:extLst>
      <p:ext uri="{BB962C8B-B14F-4D97-AF65-F5344CB8AC3E}">
        <p14:creationId xmlns:p14="http://schemas.microsoft.com/office/powerpoint/2010/main" val="3665668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B39B5-8837-7B6B-31D9-2AA0183C6F24}"/>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4BFBCBEA-456C-104D-35EB-774A03CFF486}"/>
              </a:ext>
            </a:extLst>
          </p:cNvPr>
          <p:cNvSpPr>
            <a:spLocks noGrp="1"/>
          </p:cNvSpPr>
          <p:nvPr>
            <p:ph type="title"/>
          </p:nvPr>
        </p:nvSpPr>
        <p:spPr/>
        <p:txBody>
          <a:bodyPr>
            <a:normAutofit fontScale="90000"/>
          </a:bodyPr>
          <a:lstStyle/>
          <a:p>
            <a:r>
              <a:rPr lang="cs-CZ" dirty="0"/>
              <a:t>Analytická otázka č. 4: Kde se úmrtnost mezi vlnami zhoršila nejvíce? – </a:t>
            </a:r>
            <a:r>
              <a:rPr lang="cs-CZ" dirty="0" err="1"/>
              <a:t>CFMiner</a:t>
            </a:r>
            <a:endParaRPr lang="cs-CZ" dirty="0"/>
          </a:p>
        </p:txBody>
      </p:sp>
      <p:sp>
        <p:nvSpPr>
          <p:cNvPr id="3" name="Zástupný obsah 2">
            <a:extLst>
              <a:ext uri="{FF2B5EF4-FFF2-40B4-BE49-F238E27FC236}">
                <a16:creationId xmlns:a16="http://schemas.microsoft.com/office/drawing/2014/main" id="{2E66D712-76EE-70DD-17F9-CD03FC97F222}"/>
              </a:ext>
            </a:extLst>
          </p:cNvPr>
          <p:cNvSpPr>
            <a:spLocks noGrp="1"/>
          </p:cNvSpPr>
          <p:nvPr>
            <p:ph sz="half" idx="1"/>
          </p:nvPr>
        </p:nvSpPr>
        <p:spPr>
          <a:xfrm>
            <a:off x="628650" y="2024743"/>
            <a:ext cx="7779544" cy="4331612"/>
          </a:xfrm>
        </p:spPr>
        <p:txBody>
          <a:bodyPr>
            <a:normAutofit/>
          </a:bodyPr>
          <a:lstStyle/>
          <a:p>
            <a:r>
              <a:rPr lang="cs-CZ" sz="2000" b="1" dirty="0"/>
              <a:t>Business interpretace a doporučené akce:</a:t>
            </a:r>
          </a:p>
          <a:p>
            <a:r>
              <a:rPr lang="cs-CZ" sz="2000" dirty="0"/>
              <a:t>Výsledky CF-</a:t>
            </a:r>
            <a:r>
              <a:rPr lang="cs-CZ" sz="2000" dirty="0" err="1"/>
              <a:t>Mineru</a:t>
            </a:r>
            <a:r>
              <a:rPr lang="cs-CZ" sz="2000" dirty="0"/>
              <a:t> jasně ukazují dynamiku pandemie: Virus se projevil nakonec na chudším venkově a v průmyslových oblastech</a:t>
            </a:r>
            <a:r>
              <a:rPr lang="cs-CZ" sz="2000" b="1" dirty="0"/>
              <a:t>.</a:t>
            </a:r>
          </a:p>
          <a:p>
            <a:r>
              <a:rPr lang="cs-CZ" sz="2000" b="1" dirty="0"/>
              <a:t>Doporučené akce pro budoucí krize:</a:t>
            </a:r>
          </a:p>
          <a:p>
            <a:pPr lvl="1"/>
            <a:r>
              <a:rPr lang="cs-CZ" sz="2000" dirty="0"/>
              <a:t>Ekonomická podpora pro venkov: Střední třída na venkově nemohla přestat pracovat. Finanční kompenzace musí cílit sem, aby tito lidé mohli zůstat doma a zpomalit šíření.</a:t>
            </a:r>
          </a:p>
          <a:p>
            <a:endParaRPr lang="cs-CZ" sz="1800" dirty="0"/>
          </a:p>
        </p:txBody>
      </p:sp>
    </p:spTree>
    <p:extLst>
      <p:ext uri="{BB962C8B-B14F-4D97-AF65-F5344CB8AC3E}">
        <p14:creationId xmlns:p14="http://schemas.microsoft.com/office/powerpoint/2010/main" val="739733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E6A1F9C-65DC-3F18-0EE5-23C1CBAF8B37}"/>
              </a:ext>
            </a:extLst>
          </p:cNvPr>
          <p:cNvSpPr>
            <a:spLocks noGrp="1"/>
          </p:cNvSpPr>
          <p:nvPr>
            <p:ph type="title"/>
          </p:nvPr>
        </p:nvSpPr>
        <p:spPr/>
        <p:txBody>
          <a:bodyPr>
            <a:normAutofit fontScale="90000"/>
          </a:bodyPr>
          <a:lstStyle/>
          <a:p>
            <a:r>
              <a:rPr lang="cs-CZ" dirty="0"/>
              <a:t>Analytická otázka č. 5: Působí rizikové faktory na všechny stejně? – SD4ft-Miner</a:t>
            </a:r>
          </a:p>
        </p:txBody>
      </p:sp>
      <p:sp>
        <p:nvSpPr>
          <p:cNvPr id="3" name="Zástupný obsah 2">
            <a:extLst>
              <a:ext uri="{FF2B5EF4-FFF2-40B4-BE49-F238E27FC236}">
                <a16:creationId xmlns:a16="http://schemas.microsoft.com/office/drawing/2014/main" id="{034AFD4B-A469-07DD-5640-001965D41743}"/>
              </a:ext>
            </a:extLst>
          </p:cNvPr>
          <p:cNvSpPr>
            <a:spLocks noGrp="1"/>
          </p:cNvSpPr>
          <p:nvPr>
            <p:ph sz="half" idx="1"/>
          </p:nvPr>
        </p:nvSpPr>
        <p:spPr>
          <a:xfrm>
            <a:off x="498021" y="2012237"/>
            <a:ext cx="8142126" cy="4530730"/>
          </a:xfrm>
        </p:spPr>
        <p:txBody>
          <a:bodyPr/>
          <a:lstStyle/>
          <a:p>
            <a:r>
              <a:rPr lang="cs-CZ" b="1" dirty="0"/>
              <a:t>Business popis (Cíl analýzy)</a:t>
            </a:r>
          </a:p>
          <a:p>
            <a:r>
              <a:rPr lang="cs-CZ" dirty="0"/>
              <a:t>Cílem této srovnávací analýzy bylo zjistit, zda rizikové faktory prostředí (např. velikost okresu) působí stejně na demograficky odlišné skupiny. Konkrétně: "Je život na malém okrese stejně rizikový pro komunity s převahou žen (starší populace) jako pro komunity s převahou mužů (pracovní síla)?"</a:t>
            </a:r>
          </a:p>
        </p:txBody>
      </p:sp>
    </p:spTree>
    <p:extLst>
      <p:ext uri="{BB962C8B-B14F-4D97-AF65-F5344CB8AC3E}">
        <p14:creationId xmlns:p14="http://schemas.microsoft.com/office/powerpoint/2010/main" val="458744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6E4E5-37D7-2694-A9B0-1460CEE4F676}"/>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650BB50A-E84F-F1E5-6013-B956F5EF0E28}"/>
              </a:ext>
            </a:extLst>
          </p:cNvPr>
          <p:cNvSpPr>
            <a:spLocks noGrp="1"/>
          </p:cNvSpPr>
          <p:nvPr>
            <p:ph type="title"/>
          </p:nvPr>
        </p:nvSpPr>
        <p:spPr>
          <a:xfrm>
            <a:off x="414046" y="820097"/>
            <a:ext cx="3162508" cy="689952"/>
          </a:xfrm>
        </p:spPr>
        <p:txBody>
          <a:bodyPr>
            <a:normAutofit fontScale="90000"/>
          </a:bodyPr>
          <a:lstStyle/>
          <a:p>
            <a:r>
              <a:rPr lang="cs-CZ" dirty="0"/>
              <a:t>Analytická otázka č. 5: Působí rizikové faktory na všechny stejně? – SD4ft-Miner</a:t>
            </a:r>
          </a:p>
        </p:txBody>
      </p:sp>
      <p:sp>
        <p:nvSpPr>
          <p:cNvPr id="3" name="Zástupný obsah 2">
            <a:extLst>
              <a:ext uri="{FF2B5EF4-FFF2-40B4-BE49-F238E27FC236}">
                <a16:creationId xmlns:a16="http://schemas.microsoft.com/office/drawing/2014/main" id="{C49F06F3-E1EE-6C13-DE66-5D7D680ACA52}"/>
              </a:ext>
            </a:extLst>
          </p:cNvPr>
          <p:cNvSpPr>
            <a:spLocks noGrp="1"/>
          </p:cNvSpPr>
          <p:nvPr>
            <p:ph sz="half" idx="1"/>
          </p:nvPr>
        </p:nvSpPr>
        <p:spPr>
          <a:xfrm>
            <a:off x="259318" y="2824000"/>
            <a:ext cx="3471963" cy="4530730"/>
          </a:xfrm>
        </p:spPr>
        <p:txBody>
          <a:bodyPr>
            <a:normAutofit/>
          </a:bodyPr>
          <a:lstStyle/>
          <a:p>
            <a:r>
              <a:rPr lang="cs-CZ" sz="1400" b="1" dirty="0"/>
              <a:t>Technické řešení:</a:t>
            </a:r>
          </a:p>
          <a:p>
            <a:r>
              <a:rPr lang="cs-CZ" sz="1400" b="1" dirty="0"/>
              <a:t>Porovnávané skupiny:</a:t>
            </a:r>
          </a:p>
          <a:p>
            <a:r>
              <a:rPr lang="cs-CZ" sz="1400" dirty="0"/>
              <a:t>Skupina 1 (FRST): Okresy s nadprůměrným zastoupením žen (</a:t>
            </a:r>
            <a:r>
              <a:rPr lang="cs-CZ" sz="1400" dirty="0" err="1"/>
              <a:t>Higher</a:t>
            </a:r>
            <a:r>
              <a:rPr lang="cs-CZ" sz="1400" dirty="0"/>
              <a:t> </a:t>
            </a:r>
            <a:r>
              <a:rPr lang="cs-CZ" sz="1400" dirty="0" err="1"/>
              <a:t>Female</a:t>
            </a:r>
            <a:r>
              <a:rPr lang="cs-CZ" sz="1400" dirty="0"/>
              <a:t> %).</a:t>
            </a:r>
          </a:p>
          <a:p>
            <a:r>
              <a:rPr lang="cs-CZ" sz="1400" dirty="0"/>
              <a:t>Skupina 2 (SCND): Okresy s podprůměrným zastoupením žen (</a:t>
            </a:r>
            <a:r>
              <a:rPr lang="cs-CZ" sz="1400" dirty="0" err="1"/>
              <a:t>Lower</a:t>
            </a:r>
            <a:r>
              <a:rPr lang="cs-CZ" sz="1400" dirty="0"/>
              <a:t> </a:t>
            </a:r>
            <a:r>
              <a:rPr lang="cs-CZ" sz="1400" dirty="0" err="1"/>
              <a:t>Female</a:t>
            </a:r>
            <a:r>
              <a:rPr lang="cs-CZ" sz="1400" dirty="0"/>
              <a:t> %).</a:t>
            </a:r>
          </a:p>
          <a:p>
            <a:r>
              <a:rPr lang="cs-CZ" sz="1400" dirty="0"/>
              <a:t>Hledaný vztah: Vliv velikosti okresu na úmrtnost: Velikost okresu </a:t>
            </a:r>
            <a:r>
              <a:rPr lang="cs-CZ" sz="1400" dirty="0">
                <a:sym typeface="Wingdings" panose="05000000000000000000" pitchFamily="2" charset="2"/>
              </a:rPr>
              <a:t> </a:t>
            </a:r>
            <a:r>
              <a:rPr lang="cs-CZ" sz="1400" dirty="0" err="1"/>
              <a:t>High</a:t>
            </a:r>
            <a:r>
              <a:rPr lang="cs-CZ" sz="1400" dirty="0"/>
              <a:t> CFR.</a:t>
            </a:r>
          </a:p>
          <a:p>
            <a:r>
              <a:rPr lang="cs-CZ" sz="1400" dirty="0"/>
              <a:t>Kvantifikátor: Algoritmus hledal situace, kdy je pravidlo v jedné skupině minimálně o 20 % silnější než ve druhé (</a:t>
            </a:r>
            <a:r>
              <a:rPr lang="cs-CZ" sz="1400" dirty="0" err="1"/>
              <a:t>RatioConf</a:t>
            </a:r>
            <a:r>
              <a:rPr lang="cs-CZ" sz="1400" dirty="0"/>
              <a:t> &gt; 1.2)</a:t>
            </a:r>
          </a:p>
        </p:txBody>
      </p:sp>
      <p:pic>
        <p:nvPicPr>
          <p:cNvPr id="4" name="Obrázek 3">
            <a:extLst>
              <a:ext uri="{FF2B5EF4-FFF2-40B4-BE49-F238E27FC236}">
                <a16:creationId xmlns:a16="http://schemas.microsoft.com/office/drawing/2014/main" id="{0016E12A-54BB-2264-0E80-06EC533D415D}"/>
              </a:ext>
            </a:extLst>
          </p:cNvPr>
          <p:cNvPicPr>
            <a:picLocks noChangeAspect="1"/>
          </p:cNvPicPr>
          <p:nvPr/>
        </p:nvPicPr>
        <p:blipFill>
          <a:blip r:embed="rId2"/>
          <a:stretch>
            <a:fillRect/>
          </a:stretch>
        </p:blipFill>
        <p:spPr>
          <a:xfrm>
            <a:off x="3886009" y="150787"/>
            <a:ext cx="4670163" cy="6556426"/>
          </a:xfrm>
          <a:prstGeom prst="rect">
            <a:avLst/>
          </a:prstGeom>
        </p:spPr>
      </p:pic>
    </p:spTree>
    <p:extLst>
      <p:ext uri="{BB962C8B-B14F-4D97-AF65-F5344CB8AC3E}">
        <p14:creationId xmlns:p14="http://schemas.microsoft.com/office/powerpoint/2010/main" val="3081617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8B6E5-4E3A-68FD-00B4-BB171574D22C}"/>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8B6CB1D8-621F-85A1-E2A9-F30DF71A9C3D}"/>
              </a:ext>
            </a:extLst>
          </p:cNvPr>
          <p:cNvSpPr>
            <a:spLocks noGrp="1"/>
          </p:cNvSpPr>
          <p:nvPr>
            <p:ph type="title"/>
          </p:nvPr>
        </p:nvSpPr>
        <p:spPr/>
        <p:txBody>
          <a:bodyPr>
            <a:normAutofit fontScale="90000"/>
          </a:bodyPr>
          <a:lstStyle/>
          <a:p>
            <a:r>
              <a:rPr lang="cs-CZ" dirty="0"/>
              <a:t>Analytická otázka č. 5: Působí rizikové faktory na všechny stejně? – SD4ft-Miner</a:t>
            </a:r>
          </a:p>
        </p:txBody>
      </p:sp>
      <p:sp>
        <p:nvSpPr>
          <p:cNvPr id="3" name="Zástupný obsah 2">
            <a:extLst>
              <a:ext uri="{FF2B5EF4-FFF2-40B4-BE49-F238E27FC236}">
                <a16:creationId xmlns:a16="http://schemas.microsoft.com/office/drawing/2014/main" id="{4E19B80B-4720-9346-85E4-BB78A46F6EB9}"/>
              </a:ext>
            </a:extLst>
          </p:cNvPr>
          <p:cNvSpPr>
            <a:spLocks noGrp="1"/>
          </p:cNvSpPr>
          <p:nvPr>
            <p:ph sz="half" idx="1"/>
          </p:nvPr>
        </p:nvSpPr>
        <p:spPr>
          <a:xfrm>
            <a:off x="498021" y="2012237"/>
            <a:ext cx="8142126" cy="4530730"/>
          </a:xfrm>
        </p:spPr>
        <p:txBody>
          <a:bodyPr>
            <a:normAutofit fontScale="77500" lnSpcReduction="20000"/>
          </a:bodyPr>
          <a:lstStyle/>
          <a:p>
            <a:r>
              <a:rPr lang="cs-CZ" b="1" dirty="0"/>
              <a:t>Výstup:</a:t>
            </a:r>
          </a:p>
          <a:p>
            <a:r>
              <a:rPr lang="cs-CZ" b="1" dirty="0"/>
              <a:t>Nalezena 2 pravidla:</a:t>
            </a:r>
          </a:p>
          <a:p>
            <a:r>
              <a:rPr lang="cs-CZ" b="1" dirty="0"/>
              <a:t>Pravidlo č. 1: </a:t>
            </a:r>
            <a:r>
              <a:rPr lang="en-US" b="1" dirty="0" err="1"/>
              <a:t>county_size</a:t>
            </a:r>
            <a:r>
              <a:rPr lang="en-US" b="1" dirty="0"/>
              <a:t>(Large) </a:t>
            </a:r>
            <a:r>
              <a:rPr lang="cs-CZ" b="1" dirty="0">
                <a:sym typeface="Wingdings" panose="05000000000000000000" pitchFamily="2" charset="2"/>
              </a:rPr>
              <a:t> </a:t>
            </a:r>
            <a:r>
              <a:rPr lang="en-US" b="1" dirty="0" err="1"/>
              <a:t>CFR_level</a:t>
            </a:r>
            <a:r>
              <a:rPr lang="en-US" b="1" dirty="0"/>
              <a:t>(High CFR)</a:t>
            </a:r>
            <a:endParaRPr lang="cs-CZ" b="1" dirty="0"/>
          </a:p>
          <a:p>
            <a:r>
              <a:rPr lang="cs-CZ" dirty="0"/>
              <a:t>Rozdíl mezi skupinami:</a:t>
            </a:r>
          </a:p>
          <a:p>
            <a:r>
              <a:rPr lang="cs-CZ" dirty="0"/>
              <a:t>Ve skupině "</a:t>
            </a:r>
            <a:r>
              <a:rPr lang="cs-CZ" dirty="0" err="1"/>
              <a:t>Higher</a:t>
            </a:r>
            <a:r>
              <a:rPr lang="cs-CZ" dirty="0"/>
              <a:t> </a:t>
            </a:r>
            <a:r>
              <a:rPr lang="cs-CZ" dirty="0" err="1"/>
              <a:t>Female</a:t>
            </a:r>
            <a:r>
              <a:rPr lang="cs-CZ" dirty="0"/>
              <a:t> %": Spolehlivost 50,5 %.</a:t>
            </a:r>
          </a:p>
          <a:p>
            <a:r>
              <a:rPr lang="cs-CZ" dirty="0"/>
              <a:t>Ve skupině "</a:t>
            </a:r>
            <a:r>
              <a:rPr lang="cs-CZ" dirty="0" err="1"/>
              <a:t>Lower</a:t>
            </a:r>
            <a:r>
              <a:rPr lang="cs-CZ" dirty="0"/>
              <a:t> </a:t>
            </a:r>
            <a:r>
              <a:rPr lang="cs-CZ" dirty="0" err="1"/>
              <a:t>Female</a:t>
            </a:r>
            <a:r>
              <a:rPr lang="cs-CZ" dirty="0"/>
              <a:t> %": Spolehlivost 37,6 %.</a:t>
            </a:r>
          </a:p>
          <a:p>
            <a:r>
              <a:rPr lang="cs-CZ" dirty="0"/>
              <a:t>Interpretace: I ve velkých okresech (kde je lepší zdravotnictví) platí, že pokud má populace vyšší podíl žen (a tedy pravděpodobně vyšší průměrný věk), riziko vysoké úmrtnosti výrazně stoupá.</a:t>
            </a:r>
          </a:p>
          <a:p>
            <a:r>
              <a:rPr lang="cs-CZ" b="1" dirty="0"/>
              <a:t>Pravidlo č. 2: </a:t>
            </a:r>
            <a:r>
              <a:rPr lang="en-US" b="1" dirty="0" err="1"/>
              <a:t>Pravidlo</a:t>
            </a:r>
            <a:r>
              <a:rPr lang="en-US" b="1" dirty="0"/>
              <a:t>: </a:t>
            </a:r>
            <a:r>
              <a:rPr lang="en-US" b="1" dirty="0" err="1"/>
              <a:t>county_size</a:t>
            </a:r>
            <a:r>
              <a:rPr lang="en-US" b="1" dirty="0"/>
              <a:t>(Small) </a:t>
            </a:r>
            <a:r>
              <a:rPr lang="cs-CZ" b="1" dirty="0">
                <a:sym typeface="Wingdings" panose="05000000000000000000" pitchFamily="2" charset="2"/>
              </a:rPr>
              <a:t> </a:t>
            </a:r>
            <a:r>
              <a:rPr lang="en-US" b="1" dirty="0" err="1"/>
              <a:t>CFR_level</a:t>
            </a:r>
            <a:r>
              <a:rPr lang="en-US" b="1" dirty="0"/>
              <a:t>(High CFR)</a:t>
            </a:r>
            <a:endParaRPr lang="cs-CZ" b="1" dirty="0"/>
          </a:p>
          <a:p>
            <a:r>
              <a:rPr lang="cs-CZ" dirty="0"/>
              <a:t>Rozdíl mezi skupinami:</a:t>
            </a:r>
          </a:p>
          <a:p>
            <a:r>
              <a:rPr lang="cs-CZ" dirty="0"/>
              <a:t>Ve skupině "</a:t>
            </a:r>
            <a:r>
              <a:rPr lang="cs-CZ" dirty="0" err="1"/>
              <a:t>Higher</a:t>
            </a:r>
            <a:r>
              <a:rPr lang="cs-CZ" dirty="0"/>
              <a:t> </a:t>
            </a:r>
            <a:r>
              <a:rPr lang="cs-CZ" dirty="0" err="1"/>
              <a:t>Female</a:t>
            </a:r>
            <a:r>
              <a:rPr lang="cs-CZ" dirty="0"/>
              <a:t> %": Spolehlivost 63,9 %.</a:t>
            </a:r>
          </a:p>
          <a:p>
            <a:r>
              <a:rPr lang="cs-CZ" dirty="0"/>
              <a:t>Ve skupině "</a:t>
            </a:r>
            <a:r>
              <a:rPr lang="cs-CZ" dirty="0" err="1"/>
              <a:t>Lower</a:t>
            </a:r>
            <a:r>
              <a:rPr lang="cs-CZ" dirty="0"/>
              <a:t> </a:t>
            </a:r>
            <a:r>
              <a:rPr lang="cs-CZ" dirty="0" err="1"/>
              <a:t>Female</a:t>
            </a:r>
            <a:r>
              <a:rPr lang="cs-CZ" dirty="0"/>
              <a:t> %": Spolehlivost 47,5 %.</a:t>
            </a:r>
          </a:p>
          <a:p>
            <a:r>
              <a:rPr lang="cs-CZ" dirty="0"/>
              <a:t>Interpretace: Pokud žijete v malém okrese s převahou žen, riziko vysoké úmrtnosti je o 34 % vyšší (Ratio 1.344), než pokud žijete v malém okrese s převahou mužů.</a:t>
            </a:r>
          </a:p>
          <a:p>
            <a:endParaRPr lang="cs-CZ" dirty="0"/>
          </a:p>
        </p:txBody>
      </p:sp>
    </p:spTree>
    <p:extLst>
      <p:ext uri="{BB962C8B-B14F-4D97-AF65-F5344CB8AC3E}">
        <p14:creationId xmlns:p14="http://schemas.microsoft.com/office/powerpoint/2010/main" val="2825966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0B1BD-0BEA-2E8A-0E8B-A14561482D04}"/>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7F9EE0E-E669-D00A-AD2A-7E2059A309B9}"/>
              </a:ext>
            </a:extLst>
          </p:cNvPr>
          <p:cNvSpPr>
            <a:spLocks noGrp="1"/>
          </p:cNvSpPr>
          <p:nvPr>
            <p:ph type="title"/>
          </p:nvPr>
        </p:nvSpPr>
        <p:spPr/>
        <p:txBody>
          <a:bodyPr>
            <a:normAutofit fontScale="90000"/>
          </a:bodyPr>
          <a:lstStyle/>
          <a:p>
            <a:r>
              <a:rPr lang="cs-CZ" dirty="0"/>
              <a:t>Analytická otázka č. 5: Působí rizikové faktory na všechny stejně? – SD4ft-Miner</a:t>
            </a:r>
          </a:p>
        </p:txBody>
      </p:sp>
      <p:sp>
        <p:nvSpPr>
          <p:cNvPr id="3" name="Zástupný obsah 2">
            <a:extLst>
              <a:ext uri="{FF2B5EF4-FFF2-40B4-BE49-F238E27FC236}">
                <a16:creationId xmlns:a16="http://schemas.microsoft.com/office/drawing/2014/main" id="{CEBCA12C-CA48-5253-D936-D714E71996CF}"/>
              </a:ext>
            </a:extLst>
          </p:cNvPr>
          <p:cNvSpPr>
            <a:spLocks noGrp="1"/>
          </p:cNvSpPr>
          <p:nvPr>
            <p:ph sz="half" idx="1"/>
          </p:nvPr>
        </p:nvSpPr>
        <p:spPr>
          <a:xfrm>
            <a:off x="498021" y="2012237"/>
            <a:ext cx="8142126" cy="4530730"/>
          </a:xfrm>
        </p:spPr>
        <p:txBody>
          <a:bodyPr/>
          <a:lstStyle/>
          <a:p>
            <a:r>
              <a:rPr lang="cs-CZ" b="1" dirty="0"/>
              <a:t>Business interpretace a doporučené akce:</a:t>
            </a:r>
          </a:p>
          <a:p>
            <a:r>
              <a:rPr lang="cs-CZ" dirty="0"/>
              <a:t>Dalo by se říct, že kombinace Malý okres (daleko do nemocnice) + vyšší ženská populace vytváří smrtící mix (64 % šance na vysokou úmrtnost). Naopak "mužské" malé okresy jsou často oblasti s těžbou, zemědělstvím nebo průmyslem, kde je populace mladší a odolnější.</a:t>
            </a:r>
          </a:p>
          <a:p>
            <a:r>
              <a:rPr lang="cs-CZ" b="1" dirty="0"/>
              <a:t>Doporučené akce:</a:t>
            </a:r>
          </a:p>
          <a:p>
            <a:r>
              <a:rPr lang="cs-CZ" b="1" dirty="0"/>
              <a:t>Prevence v sociálních službách:</a:t>
            </a:r>
            <a:r>
              <a:rPr lang="cs-CZ" dirty="0"/>
              <a:t> Vysoká mortalita v této skupině ukazuje na nedostatečnou ochranu v domovech pro seniory na venkově. Je nutné zde zavést přísnější standardy než v průmyslových okresech.</a:t>
            </a:r>
          </a:p>
        </p:txBody>
      </p:sp>
    </p:spTree>
    <p:extLst>
      <p:ext uri="{BB962C8B-B14F-4D97-AF65-F5344CB8AC3E}">
        <p14:creationId xmlns:p14="http://schemas.microsoft.com/office/powerpoint/2010/main" val="2912544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BD454-3292-F2CD-F218-65BEF4437966}"/>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AA55EF1F-C334-5E19-26DE-39440F69FCD5}"/>
              </a:ext>
            </a:extLst>
          </p:cNvPr>
          <p:cNvSpPr>
            <a:spLocks noGrp="1"/>
          </p:cNvSpPr>
          <p:nvPr>
            <p:ph type="title"/>
          </p:nvPr>
        </p:nvSpPr>
        <p:spPr/>
        <p:txBody>
          <a:bodyPr>
            <a:normAutofit fontScale="90000"/>
          </a:bodyPr>
          <a:lstStyle/>
          <a:p>
            <a:r>
              <a:rPr lang="cs-CZ" dirty="0"/>
              <a:t>Analytická otázka č. 6: Porovnání ras v souvislosti se socioekonomickými faktory – SD4ft-Miner</a:t>
            </a:r>
          </a:p>
        </p:txBody>
      </p:sp>
      <p:sp>
        <p:nvSpPr>
          <p:cNvPr id="3" name="Zástupný obsah 2">
            <a:extLst>
              <a:ext uri="{FF2B5EF4-FFF2-40B4-BE49-F238E27FC236}">
                <a16:creationId xmlns:a16="http://schemas.microsoft.com/office/drawing/2014/main" id="{49CB9908-5BBE-62C3-EF8A-A107881B0C6F}"/>
              </a:ext>
            </a:extLst>
          </p:cNvPr>
          <p:cNvSpPr>
            <a:spLocks noGrp="1"/>
          </p:cNvSpPr>
          <p:nvPr>
            <p:ph sz="half" idx="1"/>
          </p:nvPr>
        </p:nvSpPr>
        <p:spPr>
          <a:xfrm>
            <a:off x="498021" y="2012237"/>
            <a:ext cx="8142126" cy="4530730"/>
          </a:xfrm>
        </p:spPr>
        <p:txBody>
          <a:bodyPr/>
          <a:lstStyle/>
          <a:p>
            <a:r>
              <a:rPr lang="cs-CZ" b="1" dirty="0"/>
              <a:t>Business popis (Cíl analýzy)</a:t>
            </a:r>
          </a:p>
          <a:p>
            <a:r>
              <a:rPr lang="cs-CZ" dirty="0"/>
              <a:t>Cílem této analýzy bylo pomocí metody SD4ft </a:t>
            </a:r>
            <a:r>
              <a:rPr lang="cs-CZ" dirty="0" err="1"/>
              <a:t>Miner</a:t>
            </a:r>
            <a:r>
              <a:rPr lang="cs-CZ" dirty="0"/>
              <a:t> ověřit, zda existuje systémová nerovnost, kdy stejná ekonomická úroveň nezaručuje stejné zdravotní výsledky pro menšiny.</a:t>
            </a:r>
            <a:endParaRPr lang="cs-CZ" b="1" dirty="0"/>
          </a:p>
        </p:txBody>
      </p:sp>
    </p:spTree>
    <p:extLst>
      <p:ext uri="{BB962C8B-B14F-4D97-AF65-F5344CB8AC3E}">
        <p14:creationId xmlns:p14="http://schemas.microsoft.com/office/powerpoint/2010/main" val="4224591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EBFA1-DDF4-6FAD-C6E6-E2ACA990AEDB}"/>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8F04A10F-5505-55EA-E01A-D2B5C84FAD4A}"/>
              </a:ext>
            </a:extLst>
          </p:cNvPr>
          <p:cNvSpPr>
            <a:spLocks noGrp="1"/>
          </p:cNvSpPr>
          <p:nvPr>
            <p:ph type="title"/>
          </p:nvPr>
        </p:nvSpPr>
        <p:spPr>
          <a:xfrm>
            <a:off x="134128" y="1047516"/>
            <a:ext cx="3486150" cy="689952"/>
          </a:xfrm>
        </p:spPr>
        <p:txBody>
          <a:bodyPr>
            <a:normAutofit fontScale="90000"/>
          </a:bodyPr>
          <a:lstStyle/>
          <a:p>
            <a:r>
              <a:rPr lang="cs-CZ" dirty="0"/>
              <a:t>Analytická otázka č. 6: Porovnání ras v souvislosti se socioekonomickými faktory – SD4ft-Miner</a:t>
            </a:r>
          </a:p>
        </p:txBody>
      </p:sp>
      <p:sp>
        <p:nvSpPr>
          <p:cNvPr id="3" name="Zástupný obsah 2">
            <a:extLst>
              <a:ext uri="{FF2B5EF4-FFF2-40B4-BE49-F238E27FC236}">
                <a16:creationId xmlns:a16="http://schemas.microsoft.com/office/drawing/2014/main" id="{4AAE9AFB-BF16-F46B-ED91-C249BEDA52B2}"/>
              </a:ext>
            </a:extLst>
          </p:cNvPr>
          <p:cNvSpPr>
            <a:spLocks noGrp="1"/>
          </p:cNvSpPr>
          <p:nvPr>
            <p:ph sz="half" idx="1"/>
          </p:nvPr>
        </p:nvSpPr>
        <p:spPr>
          <a:xfrm>
            <a:off x="134128" y="2954628"/>
            <a:ext cx="3824343" cy="4530730"/>
          </a:xfrm>
        </p:spPr>
        <p:txBody>
          <a:bodyPr>
            <a:normAutofit/>
          </a:bodyPr>
          <a:lstStyle/>
          <a:p>
            <a:r>
              <a:rPr lang="cs-CZ" sz="2400" b="1" dirty="0"/>
              <a:t>Technické řešení:</a:t>
            </a:r>
          </a:p>
          <a:p>
            <a:r>
              <a:rPr lang="cs-CZ" sz="1600" dirty="0"/>
              <a:t>Skupina 1 (Black </a:t>
            </a:r>
            <a:r>
              <a:rPr lang="cs-CZ" sz="1600" dirty="0" err="1"/>
              <a:t>Significant</a:t>
            </a:r>
            <a:r>
              <a:rPr lang="cs-CZ" sz="1600" dirty="0"/>
              <a:t>): Okresy s podílem afroamerické populace &gt; 20 % (významná menšina či většina).</a:t>
            </a:r>
          </a:p>
          <a:p>
            <a:r>
              <a:rPr lang="cs-CZ" sz="1600" dirty="0"/>
              <a:t>Skupina 2 (</a:t>
            </a:r>
            <a:r>
              <a:rPr lang="cs-CZ" sz="1600" dirty="0" err="1"/>
              <a:t>White</a:t>
            </a:r>
            <a:r>
              <a:rPr lang="cs-CZ" sz="1600" dirty="0"/>
              <a:t> Dominant): Okresy s podílem bílé populace &gt; 85 % (homogenní bělošské oblasti).</a:t>
            </a:r>
          </a:p>
          <a:p>
            <a:r>
              <a:rPr lang="cs-CZ" sz="1600" dirty="0"/>
              <a:t>Zkoumaný vztah: Sledovali jsme, jak silně implikují ekonomické ukazatele (Příjem, Chudoba) vysokou úmrtnost (</a:t>
            </a:r>
            <a:r>
              <a:rPr lang="cs-CZ" sz="1600" dirty="0" err="1"/>
              <a:t>High</a:t>
            </a:r>
            <a:r>
              <a:rPr lang="cs-CZ" sz="1600" dirty="0"/>
              <a:t> CFR) v těchto dvou odlišných světech.</a:t>
            </a:r>
          </a:p>
        </p:txBody>
      </p:sp>
      <p:pic>
        <p:nvPicPr>
          <p:cNvPr id="4" name="Obrázek 3">
            <a:extLst>
              <a:ext uri="{FF2B5EF4-FFF2-40B4-BE49-F238E27FC236}">
                <a16:creationId xmlns:a16="http://schemas.microsoft.com/office/drawing/2014/main" id="{9846EAE8-A0C8-B694-4BC5-A3BB9DDA66F9}"/>
              </a:ext>
            </a:extLst>
          </p:cNvPr>
          <p:cNvPicPr>
            <a:picLocks noChangeAspect="1"/>
          </p:cNvPicPr>
          <p:nvPr/>
        </p:nvPicPr>
        <p:blipFill>
          <a:blip r:embed="rId2"/>
          <a:stretch>
            <a:fillRect/>
          </a:stretch>
        </p:blipFill>
        <p:spPr>
          <a:xfrm>
            <a:off x="3958471" y="142416"/>
            <a:ext cx="4772691" cy="6573167"/>
          </a:xfrm>
          <a:prstGeom prst="rect">
            <a:avLst/>
          </a:prstGeom>
        </p:spPr>
      </p:pic>
    </p:spTree>
    <p:extLst>
      <p:ext uri="{BB962C8B-B14F-4D97-AF65-F5344CB8AC3E}">
        <p14:creationId xmlns:p14="http://schemas.microsoft.com/office/powerpoint/2010/main" val="624456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E33A9-3976-BDAD-4D38-BC135E0F173E}"/>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D5016DD9-BE4F-6C7E-088F-55AED2CDF8ED}"/>
              </a:ext>
            </a:extLst>
          </p:cNvPr>
          <p:cNvSpPr>
            <a:spLocks noGrp="1"/>
          </p:cNvSpPr>
          <p:nvPr>
            <p:ph type="title"/>
          </p:nvPr>
        </p:nvSpPr>
        <p:spPr/>
        <p:txBody>
          <a:bodyPr>
            <a:normAutofit fontScale="90000"/>
          </a:bodyPr>
          <a:lstStyle/>
          <a:p>
            <a:r>
              <a:rPr lang="cs-CZ" dirty="0"/>
              <a:t>Analytická otázka č. 6: Porovnání ras v souvislosti se socioekonomickými faktory – SD4ft-Miner</a:t>
            </a:r>
          </a:p>
        </p:txBody>
      </p:sp>
      <p:sp>
        <p:nvSpPr>
          <p:cNvPr id="3" name="Zástupný obsah 2">
            <a:extLst>
              <a:ext uri="{FF2B5EF4-FFF2-40B4-BE49-F238E27FC236}">
                <a16:creationId xmlns:a16="http://schemas.microsoft.com/office/drawing/2014/main" id="{651397B8-7137-91B1-BB57-16662E939600}"/>
              </a:ext>
            </a:extLst>
          </p:cNvPr>
          <p:cNvSpPr>
            <a:spLocks noGrp="1"/>
          </p:cNvSpPr>
          <p:nvPr>
            <p:ph sz="half" idx="1"/>
          </p:nvPr>
        </p:nvSpPr>
        <p:spPr>
          <a:xfrm>
            <a:off x="498021" y="2012237"/>
            <a:ext cx="8142126" cy="4530730"/>
          </a:xfrm>
        </p:spPr>
        <p:txBody>
          <a:bodyPr>
            <a:normAutofit fontScale="92500"/>
          </a:bodyPr>
          <a:lstStyle/>
          <a:p>
            <a:r>
              <a:rPr lang="cs-CZ" b="1" dirty="0"/>
              <a:t>Výstup – 2 pravidla:</a:t>
            </a:r>
          </a:p>
          <a:p>
            <a:r>
              <a:rPr lang="cs-CZ" dirty="0"/>
              <a:t>Analýza odhalila dramatické rozdíly v účinnosti. Stejný ekonomický status znamená pro afroamerické komunity výrazně vyšší riziko smrti.</a:t>
            </a:r>
          </a:p>
          <a:p>
            <a:r>
              <a:rPr lang="cs-CZ" dirty="0"/>
              <a:t>Pravidlo č. 1:</a:t>
            </a:r>
          </a:p>
          <a:p>
            <a:r>
              <a:rPr lang="cs-CZ" dirty="0" err="1"/>
              <a:t>poverty_category</a:t>
            </a:r>
            <a:r>
              <a:rPr lang="cs-CZ" dirty="0"/>
              <a:t>(</a:t>
            </a:r>
            <a:r>
              <a:rPr lang="cs-CZ" dirty="0" err="1"/>
              <a:t>High</a:t>
            </a:r>
            <a:r>
              <a:rPr lang="cs-CZ" dirty="0"/>
              <a:t> 15-20%) </a:t>
            </a:r>
            <a:r>
              <a:rPr lang="cs-CZ" dirty="0">
                <a:sym typeface="Wingdings" panose="05000000000000000000" pitchFamily="2" charset="2"/>
              </a:rPr>
              <a:t></a:t>
            </a:r>
            <a:r>
              <a:rPr lang="cs-CZ" dirty="0" err="1"/>
              <a:t>CFR_level</a:t>
            </a:r>
            <a:r>
              <a:rPr lang="cs-CZ" dirty="0"/>
              <a:t>(</a:t>
            </a:r>
            <a:r>
              <a:rPr lang="cs-CZ" dirty="0" err="1"/>
              <a:t>High</a:t>
            </a:r>
            <a:r>
              <a:rPr lang="cs-CZ" dirty="0"/>
              <a:t> CFR)</a:t>
            </a:r>
          </a:p>
          <a:p>
            <a:r>
              <a:rPr lang="cs-CZ" dirty="0"/>
              <a:t>Interpretace: V černošských okresech vede tato úroveň chudoby k vysoké úmrtnosti v 75 % případů, zatímco v bělošských jen v 58 %. I chudoba je tedy pro menšiny smrtelnější.</a:t>
            </a:r>
          </a:p>
          <a:p>
            <a:r>
              <a:rPr lang="cs-CZ" dirty="0"/>
              <a:t>Pravidlo č. 2: </a:t>
            </a:r>
          </a:p>
          <a:p>
            <a:r>
              <a:rPr lang="en-US" dirty="0" err="1"/>
              <a:t>income_category</a:t>
            </a:r>
            <a:r>
              <a:rPr lang="en-US" dirty="0"/>
              <a:t>(Medium 40-60k) </a:t>
            </a:r>
            <a:r>
              <a:rPr lang="cs-CZ" dirty="0">
                <a:sym typeface="Wingdings" panose="05000000000000000000" pitchFamily="2" charset="2"/>
              </a:rPr>
              <a:t></a:t>
            </a:r>
            <a:r>
              <a:rPr lang="en-US" dirty="0" err="1"/>
              <a:t>CFR_level</a:t>
            </a:r>
            <a:r>
              <a:rPr lang="en-US" dirty="0"/>
              <a:t>(High CFR)</a:t>
            </a:r>
            <a:endParaRPr lang="cs-CZ" dirty="0"/>
          </a:p>
          <a:p>
            <a:r>
              <a:rPr lang="cs-CZ" dirty="0"/>
              <a:t>Interpretace: Ekonomická stabilita (střední příjem) "nechrání" černošské komunity tak efektivně jako ty bělošské.</a:t>
            </a:r>
          </a:p>
        </p:txBody>
      </p:sp>
    </p:spTree>
    <p:extLst>
      <p:ext uri="{BB962C8B-B14F-4D97-AF65-F5344CB8AC3E}">
        <p14:creationId xmlns:p14="http://schemas.microsoft.com/office/powerpoint/2010/main" val="2184639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F4410-2CAA-5F13-4CA2-44E51E71421B}"/>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B8D5950E-DE4B-EF55-C62A-A5C224ACCC67}"/>
              </a:ext>
            </a:extLst>
          </p:cNvPr>
          <p:cNvSpPr>
            <a:spLocks noGrp="1"/>
          </p:cNvSpPr>
          <p:nvPr>
            <p:ph type="title"/>
          </p:nvPr>
        </p:nvSpPr>
        <p:spPr/>
        <p:txBody>
          <a:bodyPr>
            <a:normAutofit fontScale="90000"/>
          </a:bodyPr>
          <a:lstStyle/>
          <a:p>
            <a:r>
              <a:rPr lang="cs-CZ" dirty="0"/>
              <a:t>Analytická otázka č. 6: Porovnání ras v souvislosti se socioekonomickými faktory – SD4ft-Miner</a:t>
            </a:r>
          </a:p>
        </p:txBody>
      </p:sp>
      <p:sp>
        <p:nvSpPr>
          <p:cNvPr id="3" name="Zástupný obsah 2">
            <a:extLst>
              <a:ext uri="{FF2B5EF4-FFF2-40B4-BE49-F238E27FC236}">
                <a16:creationId xmlns:a16="http://schemas.microsoft.com/office/drawing/2014/main" id="{069B6F81-264E-E168-2AA4-AE190825600F}"/>
              </a:ext>
            </a:extLst>
          </p:cNvPr>
          <p:cNvSpPr>
            <a:spLocks noGrp="1"/>
          </p:cNvSpPr>
          <p:nvPr>
            <p:ph sz="half" idx="1"/>
          </p:nvPr>
        </p:nvSpPr>
        <p:spPr>
          <a:xfrm>
            <a:off x="498021" y="2012237"/>
            <a:ext cx="8142126" cy="4530730"/>
          </a:xfrm>
        </p:spPr>
        <p:txBody>
          <a:bodyPr>
            <a:normAutofit/>
          </a:bodyPr>
          <a:lstStyle/>
          <a:p>
            <a:r>
              <a:rPr lang="cs-CZ" sz="2000" b="1" dirty="0"/>
              <a:t>Business interpretace a doporučené akce:</a:t>
            </a:r>
          </a:p>
          <a:p>
            <a:r>
              <a:rPr lang="cs-CZ" sz="2000" dirty="0"/>
              <a:t>Výsledky SD4ft </a:t>
            </a:r>
            <a:r>
              <a:rPr lang="cs-CZ" sz="2000" dirty="0" err="1"/>
              <a:t>Mineru</a:t>
            </a:r>
            <a:r>
              <a:rPr lang="cs-CZ" sz="2000" dirty="0"/>
              <a:t> poskytují statistický důkaz o strukturálním znevýhodnění. Disparita 26 % u střední třídy ukazuje, že problém není jen v penězích, ale dost možná i v kvalitě nemocnic v těchto oblastech, typu zaměstnání, důvěry v systém.</a:t>
            </a:r>
          </a:p>
          <a:p>
            <a:r>
              <a:rPr lang="cs-CZ" sz="2000" b="1" dirty="0"/>
              <a:t>Doporučené akce:</a:t>
            </a:r>
            <a:endParaRPr lang="cs-CZ" sz="2000" dirty="0"/>
          </a:p>
          <a:p>
            <a:r>
              <a:rPr lang="cs-CZ" sz="2000" b="1" dirty="0"/>
              <a:t>Cílená podpora infrastruktury:</a:t>
            </a:r>
            <a:r>
              <a:rPr lang="cs-CZ" sz="2000" dirty="0"/>
              <a:t> Investice nesmí jít jen podle příjmových tabulek. Okresy typu </a:t>
            </a:r>
            <a:r>
              <a:rPr lang="cs-CZ" sz="2000" dirty="0" err="1"/>
              <a:t>Black_Significant</a:t>
            </a:r>
            <a:r>
              <a:rPr lang="cs-CZ" sz="2000" dirty="0"/>
              <a:t> + Medium </a:t>
            </a:r>
            <a:r>
              <a:rPr lang="cs-CZ" sz="2000" dirty="0" err="1"/>
              <a:t>Income</a:t>
            </a:r>
            <a:r>
              <a:rPr lang="cs-CZ" sz="2000" dirty="0"/>
              <a:t> potřebují extra podporu zdravotnictví, protože jejich "střední příjem" se nepropisuje do kvality života/zdraví.</a:t>
            </a:r>
          </a:p>
          <a:p>
            <a:endParaRPr lang="cs-CZ" dirty="0"/>
          </a:p>
        </p:txBody>
      </p:sp>
    </p:spTree>
    <p:extLst>
      <p:ext uri="{BB962C8B-B14F-4D97-AF65-F5344CB8AC3E}">
        <p14:creationId xmlns:p14="http://schemas.microsoft.com/office/powerpoint/2010/main" val="289636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F868C-A72F-D86D-9531-D866167D09AB}"/>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DC6C95A7-0C29-A9F9-A800-88A54185735F}"/>
              </a:ext>
            </a:extLst>
          </p:cNvPr>
          <p:cNvSpPr>
            <a:spLocks noGrp="1"/>
          </p:cNvSpPr>
          <p:nvPr>
            <p:ph type="title"/>
          </p:nvPr>
        </p:nvSpPr>
        <p:spPr/>
        <p:txBody>
          <a:bodyPr>
            <a:normAutofit/>
          </a:bodyPr>
          <a:lstStyle/>
          <a:p>
            <a:r>
              <a:rPr lang="cs-CZ" dirty="0"/>
              <a:t>Analytická otázka č. 7: </a:t>
            </a:r>
            <a:r>
              <a:rPr lang="cs-CZ" dirty="0" err="1"/>
              <a:t>Decision</a:t>
            </a:r>
            <a:r>
              <a:rPr lang="cs-CZ" dirty="0"/>
              <a:t> </a:t>
            </a:r>
            <a:r>
              <a:rPr lang="cs-CZ" dirty="0" err="1"/>
              <a:t>tree</a:t>
            </a:r>
            <a:endParaRPr lang="cs-CZ" dirty="0"/>
          </a:p>
        </p:txBody>
      </p:sp>
      <p:sp>
        <p:nvSpPr>
          <p:cNvPr id="3" name="Zástupný obsah 2">
            <a:extLst>
              <a:ext uri="{FF2B5EF4-FFF2-40B4-BE49-F238E27FC236}">
                <a16:creationId xmlns:a16="http://schemas.microsoft.com/office/drawing/2014/main" id="{71B9BFF8-1F2F-6EB7-8039-D30FE50306CD}"/>
              </a:ext>
            </a:extLst>
          </p:cNvPr>
          <p:cNvSpPr>
            <a:spLocks noGrp="1"/>
          </p:cNvSpPr>
          <p:nvPr>
            <p:ph sz="half" idx="1"/>
          </p:nvPr>
        </p:nvSpPr>
        <p:spPr>
          <a:xfrm>
            <a:off x="498021" y="2012237"/>
            <a:ext cx="8142126" cy="4530730"/>
          </a:xfrm>
        </p:spPr>
        <p:txBody>
          <a:bodyPr>
            <a:normAutofit/>
          </a:bodyPr>
          <a:lstStyle/>
          <a:p>
            <a:r>
              <a:rPr lang="cs-CZ" sz="2000" b="1" dirty="0"/>
              <a:t>Business popis (Cíl analýzy):</a:t>
            </a:r>
          </a:p>
          <a:p>
            <a:r>
              <a:rPr lang="cs-CZ" sz="2000" dirty="0"/>
              <a:t>Cílem bylo určit hierarchii faktorů – tedy zjistit, který ukazatel je tím absolutně nejdůležitějším rozcestníkem (</a:t>
            </a:r>
            <a:r>
              <a:rPr lang="cs-CZ" sz="2000" dirty="0" err="1"/>
              <a:t>Root</a:t>
            </a:r>
            <a:r>
              <a:rPr lang="cs-CZ" sz="2000" dirty="0"/>
              <a:t> Node), který nejlépe dělí okresy na "bezpečné" a "rizikové". </a:t>
            </a:r>
          </a:p>
          <a:p>
            <a:endParaRPr lang="cs-CZ" dirty="0"/>
          </a:p>
        </p:txBody>
      </p:sp>
    </p:spTree>
    <p:extLst>
      <p:ext uri="{BB962C8B-B14F-4D97-AF65-F5344CB8AC3E}">
        <p14:creationId xmlns:p14="http://schemas.microsoft.com/office/powerpoint/2010/main" val="2466254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D29BC-4BA5-EFB0-B143-4116BD483E26}"/>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83601629-D270-D78F-088D-8C16C4D94CAA}"/>
              </a:ext>
            </a:extLst>
          </p:cNvPr>
          <p:cNvSpPr>
            <a:spLocks noGrp="1"/>
          </p:cNvSpPr>
          <p:nvPr>
            <p:ph type="title"/>
          </p:nvPr>
        </p:nvSpPr>
        <p:spPr/>
        <p:txBody>
          <a:bodyPr>
            <a:normAutofit/>
          </a:bodyPr>
          <a:lstStyle/>
          <a:p>
            <a:r>
              <a:rPr lang="cs-CZ" dirty="0"/>
              <a:t>Analytická otázka č. 7: </a:t>
            </a:r>
            <a:r>
              <a:rPr lang="cs-CZ" dirty="0" err="1"/>
              <a:t>Decision</a:t>
            </a:r>
            <a:r>
              <a:rPr lang="cs-CZ" dirty="0"/>
              <a:t> </a:t>
            </a:r>
            <a:r>
              <a:rPr lang="cs-CZ" dirty="0" err="1"/>
              <a:t>tree</a:t>
            </a:r>
            <a:endParaRPr lang="cs-CZ" dirty="0"/>
          </a:p>
        </p:txBody>
      </p:sp>
      <p:sp>
        <p:nvSpPr>
          <p:cNvPr id="3" name="Zástupný obsah 2">
            <a:extLst>
              <a:ext uri="{FF2B5EF4-FFF2-40B4-BE49-F238E27FC236}">
                <a16:creationId xmlns:a16="http://schemas.microsoft.com/office/drawing/2014/main" id="{7AF3B995-2F5B-2519-761D-23FAF258FBA2}"/>
              </a:ext>
            </a:extLst>
          </p:cNvPr>
          <p:cNvSpPr>
            <a:spLocks noGrp="1"/>
          </p:cNvSpPr>
          <p:nvPr>
            <p:ph sz="half" idx="1"/>
          </p:nvPr>
        </p:nvSpPr>
        <p:spPr>
          <a:xfrm>
            <a:off x="498021" y="2012237"/>
            <a:ext cx="8142126" cy="4530730"/>
          </a:xfrm>
        </p:spPr>
        <p:txBody>
          <a:bodyPr>
            <a:normAutofit/>
          </a:bodyPr>
          <a:lstStyle/>
          <a:p>
            <a:r>
              <a:rPr lang="cs-CZ" sz="2000" b="1" dirty="0"/>
              <a:t>Technické řešení:</a:t>
            </a:r>
          </a:p>
          <a:p>
            <a:r>
              <a:rPr lang="cs-CZ" sz="2000" dirty="0"/>
              <a:t>Byl využit algoritmus CART (</a:t>
            </a:r>
            <a:r>
              <a:rPr lang="cs-CZ" sz="2000" dirty="0" err="1"/>
              <a:t>Classification</a:t>
            </a:r>
            <a:r>
              <a:rPr lang="cs-CZ" sz="2000" dirty="0"/>
              <a:t> and </a:t>
            </a:r>
            <a:r>
              <a:rPr lang="cs-CZ" sz="2000" dirty="0" err="1"/>
              <a:t>Regression</a:t>
            </a:r>
            <a:r>
              <a:rPr lang="cs-CZ" sz="2000" dirty="0"/>
              <a:t> </a:t>
            </a:r>
            <a:r>
              <a:rPr lang="cs-CZ" sz="2000" dirty="0" err="1"/>
              <a:t>Trees</a:t>
            </a:r>
            <a:r>
              <a:rPr lang="cs-CZ" sz="2000" dirty="0"/>
              <a:t>) z knihovny </a:t>
            </a:r>
            <a:r>
              <a:rPr lang="cs-CZ" sz="2000" dirty="0" err="1"/>
              <a:t>Scikit-Learn</a:t>
            </a:r>
            <a:r>
              <a:rPr lang="cs-CZ" sz="2000" dirty="0"/>
              <a:t>.</a:t>
            </a:r>
          </a:p>
          <a:p>
            <a:r>
              <a:rPr lang="cs-CZ" sz="2000" dirty="0"/>
              <a:t>Cíl (Target): Klasifikace okresu do kategorie Nízká úmrtnost (0) nebo Vysoká úmrtnost (1) na základě mediánu CFR.</a:t>
            </a:r>
            <a:br>
              <a:rPr lang="cs-CZ" sz="2000" dirty="0"/>
            </a:br>
            <a:r>
              <a:rPr lang="cs-CZ" sz="2000" dirty="0"/>
              <a:t>Vstupy (</a:t>
            </a:r>
            <a:r>
              <a:rPr lang="cs-CZ" sz="2000" dirty="0" err="1"/>
              <a:t>Features</a:t>
            </a:r>
            <a:r>
              <a:rPr lang="cs-CZ" sz="2000" dirty="0"/>
              <a:t>): Příjem, chudoba, velikost populace a rasové složení (podíl bělochů, černochů, </a:t>
            </a:r>
            <a:r>
              <a:rPr lang="cs-CZ" sz="2000" dirty="0" err="1"/>
              <a:t>hispánců</a:t>
            </a:r>
            <a:r>
              <a:rPr lang="cs-CZ" sz="2000" dirty="0"/>
              <a:t>).</a:t>
            </a:r>
            <a:br>
              <a:rPr lang="cs-CZ" sz="2000" dirty="0"/>
            </a:br>
            <a:r>
              <a:rPr lang="cs-CZ" sz="2000" dirty="0"/>
              <a:t>Nastavení: Strom byl omezen na hloubku (</a:t>
            </a:r>
            <a:r>
              <a:rPr lang="cs-CZ" sz="2000" dirty="0" err="1"/>
              <a:t>max_depth</a:t>
            </a:r>
            <a:r>
              <a:rPr lang="cs-CZ" sz="2000" dirty="0"/>
              <a:t>=3), aby byl výsledek dobře </a:t>
            </a:r>
            <a:r>
              <a:rPr lang="cs-CZ" sz="2000" dirty="0" err="1"/>
              <a:t>vizualizovatelný</a:t>
            </a:r>
            <a:r>
              <a:rPr lang="cs-CZ" sz="2000" dirty="0"/>
              <a:t> a interpretovatelný.</a:t>
            </a:r>
          </a:p>
          <a:p>
            <a:r>
              <a:rPr lang="cs-CZ" sz="2000" dirty="0"/>
              <a:t>Kód je přiložen v příloze jako decision_tree.py</a:t>
            </a:r>
          </a:p>
          <a:p>
            <a:endParaRPr lang="cs-CZ" dirty="0"/>
          </a:p>
        </p:txBody>
      </p:sp>
    </p:spTree>
    <p:extLst>
      <p:ext uri="{BB962C8B-B14F-4D97-AF65-F5344CB8AC3E}">
        <p14:creationId xmlns:p14="http://schemas.microsoft.com/office/powerpoint/2010/main" val="1840390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ECF6A-2BF5-0527-93DF-35F2016D3DEF}"/>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A2EFFBD0-D72D-9577-C637-BA65C6443891}"/>
              </a:ext>
            </a:extLst>
          </p:cNvPr>
          <p:cNvSpPr>
            <a:spLocks noGrp="1"/>
          </p:cNvSpPr>
          <p:nvPr>
            <p:ph type="title"/>
          </p:nvPr>
        </p:nvSpPr>
        <p:spPr/>
        <p:txBody>
          <a:bodyPr>
            <a:normAutofit/>
          </a:bodyPr>
          <a:lstStyle/>
          <a:p>
            <a:r>
              <a:rPr lang="cs-CZ" dirty="0"/>
              <a:t>Analytická otázka č. 7: </a:t>
            </a:r>
            <a:r>
              <a:rPr lang="cs-CZ" dirty="0" err="1"/>
              <a:t>Decision</a:t>
            </a:r>
            <a:r>
              <a:rPr lang="cs-CZ" dirty="0"/>
              <a:t> </a:t>
            </a:r>
            <a:r>
              <a:rPr lang="cs-CZ" dirty="0" err="1"/>
              <a:t>tree</a:t>
            </a:r>
            <a:endParaRPr lang="cs-CZ" dirty="0"/>
          </a:p>
        </p:txBody>
      </p:sp>
      <p:sp>
        <p:nvSpPr>
          <p:cNvPr id="3" name="Zástupný obsah 2">
            <a:extLst>
              <a:ext uri="{FF2B5EF4-FFF2-40B4-BE49-F238E27FC236}">
                <a16:creationId xmlns:a16="http://schemas.microsoft.com/office/drawing/2014/main" id="{589FB264-096B-A3C5-F779-7502017071DB}"/>
              </a:ext>
            </a:extLst>
          </p:cNvPr>
          <p:cNvSpPr>
            <a:spLocks noGrp="1"/>
          </p:cNvSpPr>
          <p:nvPr>
            <p:ph sz="half" idx="1"/>
          </p:nvPr>
        </p:nvSpPr>
        <p:spPr>
          <a:xfrm>
            <a:off x="447359" y="1685666"/>
            <a:ext cx="8142126" cy="4530730"/>
          </a:xfrm>
        </p:spPr>
        <p:txBody>
          <a:bodyPr>
            <a:normAutofit/>
          </a:bodyPr>
          <a:lstStyle/>
          <a:p>
            <a:r>
              <a:rPr lang="cs-CZ" sz="2000" b="1" dirty="0"/>
              <a:t>Výstup:</a:t>
            </a:r>
          </a:p>
          <a:p>
            <a:endParaRPr lang="cs-CZ" dirty="0"/>
          </a:p>
        </p:txBody>
      </p:sp>
      <p:sp>
        <p:nvSpPr>
          <p:cNvPr id="4" name="AutoShape 2">
            <a:extLst>
              <a:ext uri="{FF2B5EF4-FFF2-40B4-BE49-F238E27FC236}">
                <a16:creationId xmlns:a16="http://schemas.microsoft.com/office/drawing/2014/main" id="{76F3C84C-C209-F2A6-50F7-97E162F2C925}"/>
              </a:ext>
            </a:extLst>
          </p:cNvPr>
          <p:cNvSpPr>
            <a:spLocks noChangeAspect="1" noChangeArrowheads="1"/>
          </p:cNvSpPr>
          <p:nvPr/>
        </p:nvSpPr>
        <p:spPr bwMode="auto">
          <a:xfrm>
            <a:off x="4422516" y="326727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cs-CZ"/>
          </a:p>
        </p:txBody>
      </p:sp>
      <p:pic>
        <p:nvPicPr>
          <p:cNvPr id="5" name="Obrázek 4">
            <a:extLst>
              <a:ext uri="{FF2B5EF4-FFF2-40B4-BE49-F238E27FC236}">
                <a16:creationId xmlns:a16="http://schemas.microsoft.com/office/drawing/2014/main" id="{3602D9A5-ED91-C417-5E70-0763F949E6F4}"/>
              </a:ext>
            </a:extLst>
          </p:cNvPr>
          <p:cNvPicPr>
            <a:picLocks noChangeAspect="1"/>
          </p:cNvPicPr>
          <p:nvPr/>
        </p:nvPicPr>
        <p:blipFill>
          <a:blip r:embed="rId2"/>
          <a:stretch>
            <a:fillRect/>
          </a:stretch>
        </p:blipFill>
        <p:spPr>
          <a:xfrm>
            <a:off x="-22528" y="2274736"/>
            <a:ext cx="9166528" cy="4583264"/>
          </a:xfrm>
          <a:prstGeom prst="rect">
            <a:avLst/>
          </a:prstGeom>
        </p:spPr>
      </p:pic>
    </p:spTree>
    <p:extLst>
      <p:ext uri="{BB962C8B-B14F-4D97-AF65-F5344CB8AC3E}">
        <p14:creationId xmlns:p14="http://schemas.microsoft.com/office/powerpoint/2010/main" val="571263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4E363-089D-583C-BC16-290ED24EDD6E}"/>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6C6AF256-4F77-A6D1-DD4C-70D488875C7D}"/>
              </a:ext>
            </a:extLst>
          </p:cNvPr>
          <p:cNvSpPr>
            <a:spLocks noGrp="1"/>
          </p:cNvSpPr>
          <p:nvPr>
            <p:ph type="title"/>
          </p:nvPr>
        </p:nvSpPr>
        <p:spPr/>
        <p:txBody>
          <a:bodyPr>
            <a:normAutofit/>
          </a:bodyPr>
          <a:lstStyle/>
          <a:p>
            <a:r>
              <a:rPr lang="cs-CZ" dirty="0"/>
              <a:t>Analytická otázka č. 7: </a:t>
            </a:r>
            <a:r>
              <a:rPr lang="cs-CZ" dirty="0" err="1"/>
              <a:t>Decision</a:t>
            </a:r>
            <a:r>
              <a:rPr lang="cs-CZ" dirty="0"/>
              <a:t> </a:t>
            </a:r>
            <a:r>
              <a:rPr lang="cs-CZ" dirty="0" err="1"/>
              <a:t>tree</a:t>
            </a:r>
            <a:endParaRPr lang="cs-CZ" dirty="0"/>
          </a:p>
        </p:txBody>
      </p:sp>
      <p:sp>
        <p:nvSpPr>
          <p:cNvPr id="3" name="Zástupný obsah 2">
            <a:extLst>
              <a:ext uri="{FF2B5EF4-FFF2-40B4-BE49-F238E27FC236}">
                <a16:creationId xmlns:a16="http://schemas.microsoft.com/office/drawing/2014/main" id="{5D8C8D83-0D55-5D86-965C-DA00DCA6BBD0}"/>
              </a:ext>
            </a:extLst>
          </p:cNvPr>
          <p:cNvSpPr>
            <a:spLocks noGrp="1"/>
          </p:cNvSpPr>
          <p:nvPr>
            <p:ph sz="half" idx="1"/>
          </p:nvPr>
        </p:nvSpPr>
        <p:spPr>
          <a:xfrm>
            <a:off x="447359" y="1685666"/>
            <a:ext cx="8142126" cy="4530730"/>
          </a:xfrm>
        </p:spPr>
        <p:txBody>
          <a:bodyPr>
            <a:normAutofit/>
          </a:bodyPr>
          <a:lstStyle/>
          <a:p>
            <a:r>
              <a:rPr lang="cs-CZ" sz="2000" b="1" dirty="0"/>
              <a:t>Interpretace:</a:t>
            </a:r>
          </a:p>
          <a:p>
            <a:r>
              <a:rPr lang="cs-CZ" sz="2000" b="1" dirty="0"/>
              <a:t>Přežití pandemie v roce 2020 bylo silně závislé na penězích/příjmech a demografii.</a:t>
            </a:r>
            <a:endParaRPr lang="cs-CZ" sz="2000" dirty="0"/>
          </a:p>
          <a:p>
            <a:r>
              <a:rPr lang="cs-CZ" sz="2000" b="1" dirty="0"/>
              <a:t>Nerovnost:</a:t>
            </a:r>
            <a:r>
              <a:rPr lang="cs-CZ" sz="2000" dirty="0"/>
              <a:t> COVID-19 zasáhl disproporčně regiony s vyšším podílem menšin a chudší oblasti.</a:t>
            </a:r>
          </a:p>
          <a:p>
            <a:r>
              <a:rPr lang="cs-CZ" sz="2000" b="1" dirty="0"/>
              <a:t>Peníze jako ochrana:</a:t>
            </a:r>
            <a:r>
              <a:rPr lang="cs-CZ" sz="2000" dirty="0"/>
              <a:t> V oblastech s nižším podílem menšin fungoval vysoký příjem (nad cca 60 000 USD) jako efektivní ochrana proti vysoké úmrtnosti.</a:t>
            </a:r>
          </a:p>
          <a:p>
            <a:r>
              <a:rPr lang="cs-CZ" sz="2000" b="1" dirty="0"/>
              <a:t>Rizikový profil:</a:t>
            </a:r>
            <a:r>
              <a:rPr lang="cs-CZ" sz="2000" dirty="0"/>
              <a:t> Nejohroženější je chudý region s vyšším podílem afroamerického nebo hispánského obyvatelstva.</a:t>
            </a:r>
          </a:p>
          <a:p>
            <a:r>
              <a:rPr lang="cs-CZ" sz="2000" dirty="0"/>
              <a:t>Tyto závěry podporují výstupy pravidel z </a:t>
            </a:r>
            <a:r>
              <a:rPr lang="cs-CZ" sz="2000" dirty="0" err="1"/>
              <a:t>CleverMineru</a:t>
            </a:r>
            <a:r>
              <a:rPr lang="cs-CZ" sz="2000" dirty="0"/>
              <a:t>.</a:t>
            </a:r>
          </a:p>
          <a:p>
            <a:endParaRPr lang="cs-CZ" dirty="0"/>
          </a:p>
        </p:txBody>
      </p:sp>
      <p:sp>
        <p:nvSpPr>
          <p:cNvPr id="4" name="AutoShape 2">
            <a:extLst>
              <a:ext uri="{FF2B5EF4-FFF2-40B4-BE49-F238E27FC236}">
                <a16:creationId xmlns:a16="http://schemas.microsoft.com/office/drawing/2014/main" id="{5E532339-5832-9984-1C49-8BB8B5311D8A}"/>
              </a:ext>
            </a:extLst>
          </p:cNvPr>
          <p:cNvSpPr>
            <a:spLocks noChangeAspect="1" noChangeArrowheads="1"/>
          </p:cNvSpPr>
          <p:nvPr/>
        </p:nvSpPr>
        <p:spPr bwMode="auto">
          <a:xfrm>
            <a:off x="4422516" y="326727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cs-CZ"/>
          </a:p>
        </p:txBody>
      </p:sp>
    </p:spTree>
    <p:extLst>
      <p:ext uri="{BB962C8B-B14F-4D97-AF65-F5344CB8AC3E}">
        <p14:creationId xmlns:p14="http://schemas.microsoft.com/office/powerpoint/2010/main" val="227905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Úvodní sníme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S_CZ_4_3.potx" id="{83264117-D02B-4AB3-9535-F55BD4626F0A}" vid="{EFCF83D5-7C28-494A-9D09-A3FDE4EA5435}"/>
    </a:ext>
  </a:extLst>
</a:theme>
</file>

<file path=ppt/theme/theme2.xml><?xml version="1.0" encoding="utf-8"?>
<a:theme xmlns:a="http://schemas.openxmlformats.org/drawingml/2006/main" name="Mezititulek / Závě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S_CZ_4_3.potx" id="{83264117-D02B-4AB3-9535-F55BD4626F0A}" vid="{0719A898-E866-4DE1-A0C7-6673E2DE6ACC}"/>
    </a:ext>
  </a:extLst>
</a:theme>
</file>

<file path=ppt/theme/theme3.xml><?xml version="1.0" encoding="utf-8"?>
<a:theme xmlns:a="http://schemas.openxmlformats.org/drawingml/2006/main" name="Běžné stránky">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S_CZ_4_3.potx" id="{83264117-D02B-4AB3-9535-F55BD4626F0A}" vid="{5F4265E7-B574-4FDE-A297-F5250285698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5EAD61CDED85140BF5B934B48DD3484" ma:contentTypeVersion="15" ma:contentTypeDescription="Vytvoří nový dokument" ma:contentTypeScope="" ma:versionID="57c7acc678d4da0b8ba39acd8e916ed2">
  <xsd:schema xmlns:xsd="http://www.w3.org/2001/XMLSchema" xmlns:xs="http://www.w3.org/2001/XMLSchema" xmlns:p="http://schemas.microsoft.com/office/2006/metadata/properties" xmlns:ns2="7fe71cfb-81ed-4b9d-9a1f-cae1a72b62ba" xmlns:ns3="184be059-f9c1-47a1-baeb-6b78fb5c2cd7" targetNamespace="http://schemas.microsoft.com/office/2006/metadata/properties" ma:root="true" ma:fieldsID="00b82b4a7cf6d93894e416bb4502bf8f" ns2:_="" ns3:_="">
    <xsd:import namespace="7fe71cfb-81ed-4b9d-9a1f-cae1a72b62ba"/>
    <xsd:import namespace="184be059-f9c1-47a1-baeb-6b78fb5c2cd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e71cfb-81ed-4b9d-9a1f-cae1a72b62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Length (seconds)"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Značky obrázků" ma:readOnly="false" ma:fieldId="{5cf76f15-5ced-4ddc-b409-7134ff3c332f}" ma:taxonomyMulti="true" ma:sspId="babb5542-b20f-476f-b885-dfe2db7716bd" ma:termSetId="09814cd3-568e-fe90-9814-8d621ff8fb84" ma:anchorId="fba54fb3-c3e1-fe81-a776-ca4b69148c4d" ma:open="true" ma:isKeyword="false">
      <xsd:complexType>
        <xsd:sequence>
          <xsd:element ref="pc:Terms" minOccurs="0" maxOccurs="1"/>
        </xsd:sequence>
      </xsd:complex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84be059-f9c1-47a1-baeb-6b78fb5c2cd7" elementFormDefault="qualified">
    <xsd:import namespace="http://schemas.microsoft.com/office/2006/documentManagement/types"/>
    <xsd:import namespace="http://schemas.microsoft.com/office/infopath/2007/PartnerControls"/>
    <xsd:element name="SharedWithUsers" ma:index="10" nillable="true" ma:displayName="Sdílí se s"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dílené s podrobnostmi" ma:internalName="SharedWithDetails" ma:readOnly="true">
      <xsd:simpleType>
        <xsd:restriction base="dms:Note">
          <xsd:maxLength value="255"/>
        </xsd:restriction>
      </xsd:simpleType>
    </xsd:element>
    <xsd:element name="TaxCatchAll" ma:index="19" nillable="true" ma:displayName="Taxonomy Catch All Column" ma:hidden="true" ma:list="{5e9b24e3-0751-412a-b275-2d618e008197}" ma:internalName="TaxCatchAll" ma:showField="CatchAllData" ma:web="184be059-f9c1-47a1-baeb-6b78fb5c2cd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fe71cfb-81ed-4b9d-9a1f-cae1a72b62ba">
      <Terms xmlns="http://schemas.microsoft.com/office/infopath/2007/PartnerControls"/>
    </lcf76f155ced4ddcb4097134ff3c332f>
    <TaxCatchAll xmlns="184be059-f9c1-47a1-baeb-6b78fb5c2cd7" xsi:nil="true"/>
  </documentManagement>
</p:properties>
</file>

<file path=customXml/itemProps1.xml><?xml version="1.0" encoding="utf-8"?>
<ds:datastoreItem xmlns:ds="http://schemas.openxmlformats.org/officeDocument/2006/customXml" ds:itemID="{F8CD9D9D-7B9F-4443-A564-98662DD489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fe71cfb-81ed-4b9d-9a1f-cae1a72b62ba"/>
    <ds:schemaRef ds:uri="184be059-f9c1-47a1-baeb-6b78fb5c2c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32259C9-B307-4FF4-B7D2-DAD5D3FFF000}">
  <ds:schemaRefs>
    <ds:schemaRef ds:uri="http://schemas.microsoft.com/sharepoint/v3/contenttype/forms"/>
  </ds:schemaRefs>
</ds:datastoreItem>
</file>

<file path=customXml/itemProps3.xml><?xml version="1.0" encoding="utf-8"?>
<ds:datastoreItem xmlns:ds="http://schemas.openxmlformats.org/officeDocument/2006/customXml" ds:itemID="{F0DE5107-EA5C-49BC-849B-82F30D30C53B}">
  <ds:schemaRefs>
    <ds:schemaRef ds:uri="http://schemas.openxmlformats.org/package/2006/metadata/core-properties"/>
    <ds:schemaRef ds:uri="http://purl.org/dc/elements/1.1/"/>
    <ds:schemaRef ds:uri="http://purl.org/dc/terms/"/>
    <ds:schemaRef ds:uri="http://schemas.microsoft.com/office/2006/metadata/properties"/>
    <ds:schemaRef ds:uri="http://schemas.microsoft.com/office/2006/documentManagement/types"/>
    <ds:schemaRef ds:uri="http://purl.org/dc/dcmitype/"/>
    <ds:schemaRef ds:uri="http://www.w3.org/XML/1998/namespace"/>
    <ds:schemaRef ds:uri="http://schemas.microsoft.com/office/infopath/2007/PartnerControls"/>
    <ds:schemaRef ds:uri="184be059-f9c1-47a1-baeb-6b78fb5c2cd7"/>
    <ds:schemaRef ds:uri="7fe71cfb-81ed-4b9d-9a1f-cae1a72b62ba"/>
  </ds:schemaRefs>
</ds:datastoreItem>
</file>

<file path=docProps/app.xml><?xml version="1.0" encoding="utf-8"?>
<Properties xmlns="http://schemas.openxmlformats.org/officeDocument/2006/extended-properties" xmlns:vt="http://schemas.openxmlformats.org/officeDocument/2006/docPropsVTypes">
  <Template>AI a IMES_obhajoba_new</Template>
  <TotalTime>1094</TotalTime>
  <Words>5501</Words>
  <Application>Microsoft Macintosh PowerPoint</Application>
  <PresentationFormat>On-screen Show (4:3)</PresentationFormat>
  <Paragraphs>615</Paragraphs>
  <Slides>68</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68</vt:i4>
      </vt:variant>
    </vt:vector>
  </HeadingPairs>
  <TitlesOfParts>
    <vt:vector size="78" baseType="lpstr">
      <vt:lpstr>Arial</vt:lpstr>
      <vt:lpstr>Calibri</vt:lpstr>
      <vt:lpstr>Consolas</vt:lpstr>
      <vt:lpstr>Courier New</vt:lpstr>
      <vt:lpstr>Courier New,monospace</vt:lpstr>
      <vt:lpstr>Verdana</vt:lpstr>
      <vt:lpstr>Wingdings</vt:lpstr>
      <vt:lpstr>Úvodní snímek</vt:lpstr>
      <vt:lpstr>Mezititulek / Závěr</vt:lpstr>
      <vt:lpstr>Běžné stránky</vt:lpstr>
      <vt:lpstr>Analýza vztahu mezi populací USA a COVID-19 případů​</vt:lpstr>
      <vt:lpstr>Popis řešené oblasti</vt:lpstr>
      <vt:lpstr>Popis dat</vt:lpstr>
      <vt:lpstr>Cíle analýzy</vt:lpstr>
      <vt:lpstr>Způsob řešení otázek pro data science</vt:lpstr>
      <vt:lpstr>Rámcové profily dat</vt:lpstr>
      <vt:lpstr>PowerPoint Presentation</vt:lpstr>
      <vt:lpstr>PowerPoint Presentation</vt:lpstr>
      <vt:lpstr>PowerPoint Presentation</vt:lpstr>
      <vt:lpstr>PowerPoint Presentation</vt:lpstr>
      <vt:lpstr>PowerPoint Presentation</vt:lpstr>
      <vt:lpstr>PowerBI část</vt:lpstr>
      <vt:lpstr>Datový model – vlastní diagram</vt:lpstr>
      <vt:lpstr>Návrh datového modelu v PowerBI - Entity Relationship Diagram (ERD)</vt:lpstr>
      <vt:lpstr>Návrh datového modelu v PowerBI – Relationship details</vt:lpstr>
      <vt:lpstr>Architektura řešení</vt:lpstr>
      <vt:lpstr>PowerPoint Presentation</vt:lpstr>
      <vt:lpstr>Popis vrstev architektury – 1/2</vt:lpstr>
      <vt:lpstr>Popis vrstev architektury – 2/2</vt:lpstr>
      <vt:lpstr>Workflow zpracování dat - ETL Pipeline (detailní kroky)</vt:lpstr>
      <vt:lpstr>Workflow zpracování dat - ETL Pipeline (detailní kroky)</vt:lpstr>
      <vt:lpstr>Workflow zpracování dat - ETL Pipeline </vt:lpstr>
      <vt:lpstr>Workflow zpracování dat - ETL Pipeline </vt:lpstr>
      <vt:lpstr>Workflow zpracování dat - ETL Pipeline (detailní kroky)</vt:lpstr>
      <vt:lpstr>Souhrn SQL transformací v BigQuery</vt:lpstr>
      <vt:lpstr>Grafický návrh PowerBI reportu</vt:lpstr>
      <vt:lpstr>Analytické otázky</vt:lpstr>
      <vt:lpstr>Výsledný report - Demographics</vt:lpstr>
      <vt:lpstr>Interpretace výsledků - Demographics</vt:lpstr>
      <vt:lpstr>Výsledný report – Poverty and income</vt:lpstr>
      <vt:lpstr>Interpretace výsledků – Poverty and income</vt:lpstr>
      <vt:lpstr>Výsledný report – deaths and cases</vt:lpstr>
      <vt:lpstr>Interpretace výsledků Deaths and cases</vt:lpstr>
      <vt:lpstr>Problémy při návrhu procesu zpracování dat 1/2</vt:lpstr>
      <vt:lpstr>Problémy při návrhu procesu zpracování dat 2/2</vt:lpstr>
      <vt:lpstr>CleverMiner část</vt:lpstr>
      <vt:lpstr>Seznam analytických otázek v CleverMiner</vt:lpstr>
      <vt:lpstr>Analytická otázka č. 1: Vliv socioekonomických faktorů na úmrtnost – 4ftMiner</vt:lpstr>
      <vt:lpstr>Analytická otázka č. 1: Vliv socioekonomických faktorů na úmrtnost – 4ftMiner</vt:lpstr>
      <vt:lpstr>Analytická otázka č. 1: Vliv socioekonomických faktorů na úmrtnost</vt:lpstr>
      <vt:lpstr>Analytická otázka č. 1: Vliv socioekonomických faktorů na úmrtnost</vt:lpstr>
      <vt:lpstr>Analytická otázka č. 2: Vliv rasy na dopady pandemie – 4ftMiner</vt:lpstr>
      <vt:lpstr>Analytická otázka č. 2: Vliv rasy na dopady pandemie – 4ftMiner</vt:lpstr>
      <vt:lpstr>Analytická otázka č. 2: Vliv rasy na dopady pandemie – 4ftMiner</vt:lpstr>
      <vt:lpstr>Analytická otázka č. 2: Vliv rasy na dopady pandemie – 4ftMiner</vt:lpstr>
      <vt:lpstr>Analytická otázka č. 2: Vliv rasy na dopady pandemie – 4ftMiner</vt:lpstr>
      <vt:lpstr>Analytická otázka č. 2: Vliv rasy na dopady pandemie – 4ftMiner</vt:lpstr>
      <vt:lpstr>Analytická otázka č. 2: Vliv rasy na dopady pandemie – 4ftMiner</vt:lpstr>
      <vt:lpstr>Analytická otázka č. 3: Ochranné faktory úmrtnosti – CFMiner</vt:lpstr>
      <vt:lpstr>Analytická otázka č. 3: Ochranné faktory úmrtnosti – CFMiner</vt:lpstr>
      <vt:lpstr>Analytická otázka č. 3: Ochranné faktory úmrtnosti – CFMiner</vt:lpstr>
      <vt:lpstr>Analytická otázka č. 3: Ochranné faktory úmrtnosti – CFMiner</vt:lpstr>
      <vt:lpstr>Analytická otázka č. 4: Kde se úmrtnost mezi vlnami zhoršila nejvíce? – CFMiner</vt:lpstr>
      <vt:lpstr>Analytická otázka č. 4: Kde se úmrtnost mezi vlnami zhoršila nejvíce? – CFMiner</vt:lpstr>
      <vt:lpstr>Analytická otázka č. 4: Kde se úmrtnost mezi vlnami zhoršila nejvíce? – CFMiner</vt:lpstr>
      <vt:lpstr>Analytická otázka č. 4: Kde se úmrtnost mezi vlnami zhoršila nejvíce? – CFMiner</vt:lpstr>
      <vt:lpstr>Analytická otázka č. 5: Působí rizikové faktory na všechny stejně? – SD4ft-Miner</vt:lpstr>
      <vt:lpstr>Analytická otázka č. 5: Působí rizikové faktory na všechny stejně? – SD4ft-Miner</vt:lpstr>
      <vt:lpstr>Analytická otázka č. 5: Působí rizikové faktory na všechny stejně? – SD4ft-Miner</vt:lpstr>
      <vt:lpstr>Analytická otázka č. 5: Působí rizikové faktory na všechny stejně? – SD4ft-Miner</vt:lpstr>
      <vt:lpstr>Analytická otázka č. 6: Porovnání ras v souvislosti se socioekonomickými faktory – SD4ft-Miner</vt:lpstr>
      <vt:lpstr>Analytická otázka č. 6: Porovnání ras v souvislosti se socioekonomickými faktory – SD4ft-Miner</vt:lpstr>
      <vt:lpstr>Analytická otázka č. 6: Porovnání ras v souvislosti se socioekonomickými faktory – SD4ft-Miner</vt:lpstr>
      <vt:lpstr>Analytická otázka č. 6: Porovnání ras v souvislosti se socioekonomickými faktory – SD4ft-Miner</vt:lpstr>
      <vt:lpstr>Analytická otázka č. 7: Decision tree</vt:lpstr>
      <vt:lpstr>Analytická otázka č. 7: Decision tree</vt:lpstr>
      <vt:lpstr>Analytická otázka č. 7: Decision tree</vt:lpstr>
      <vt:lpstr>Analytická otázka č. 7: Decision tree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 dolor sit amet, consectetuer adipiscing elit. Etiam commodo dui eget wisi.</dc:title>
  <dc:creator>Martina Jandová</dc:creator>
  <cp:lastModifiedBy>Hana Žahourová</cp:lastModifiedBy>
  <cp:revision>1471</cp:revision>
  <dcterms:created xsi:type="dcterms:W3CDTF">2021-03-30T17:50:31Z</dcterms:created>
  <dcterms:modified xsi:type="dcterms:W3CDTF">2026-01-23T16:17:36Z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0x010100A5EAD61CDED85140BF5B934B48DD3484</vt:lpwstr>
  </property>
</Properties>
</file>